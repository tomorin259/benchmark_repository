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0" userDrawn="1">
          <p15:clr>
            <a:srgbClr val="A4A3A4"/>
          </p15:clr>
        </p15:guide>
        <p15:guide id="2" pos="21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CBCB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090"/>
        <p:guide pos="211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6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7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8.xml"/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9.xml"/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0.xml"/><Relationship Id="rId1" Type="http://schemas.openxmlformats.org/officeDocument/2006/relationships/package" Target="../embeddings/Workbook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6350" cmpd="sng">
              <a:solidFill>
                <a:schemeClr val="tx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F77B4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"/>
            <c:invertIfNegative val="0"/>
            <c:bubble3D val="0"/>
            <c:spPr>
              <a:solidFill>
                <a:srgbClr val="FF7F0E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3"/>
            <c:invertIfNegative val="0"/>
            <c:bubble3D val="0"/>
            <c:spPr>
              <a:solidFill>
                <a:srgbClr val="8C564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4"/>
            <c:invertIfNegative val="0"/>
            <c:bubble3D val="0"/>
            <c:spPr>
              <a:solidFill>
                <a:srgbClr val="E377C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5"/>
            <c:invertIfNegative val="0"/>
            <c:bubble3D val="0"/>
            <c:spPr>
              <a:solidFill>
                <a:srgbClr val="7F7F7F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rgbClr val="2CA02C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7"/>
            <c:invertIfNegative val="0"/>
            <c:bubble3D val="0"/>
            <c:spPr>
              <a:solidFill>
                <a:srgbClr val="D16FA3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8"/>
            <c:invertIfNegative val="0"/>
            <c:bubble3D val="0"/>
            <c:spPr>
              <a:solidFill>
                <a:srgbClr val="17BECF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9"/>
            <c:invertIfNegative val="0"/>
            <c:bubble3D val="0"/>
            <c:spPr>
              <a:solidFill>
                <a:srgbClr val="806BA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0"/>
            <c:invertIfNegative val="0"/>
            <c:bubble3D val="0"/>
            <c:spPr>
              <a:solidFill>
                <a:srgbClr val="D6272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1"/>
            <c:invertIfNegative val="0"/>
            <c:bubble3D val="0"/>
            <c:spPr>
              <a:solidFill>
                <a:srgbClr val="BCBD2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2"/>
            <c:invertIfNegative val="0"/>
            <c:bubble3D val="0"/>
            <c:spPr>
              <a:solidFill>
                <a:srgbClr val="FA8F1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3"/>
            <c:invertIfNegative val="0"/>
            <c:bubble3D val="0"/>
            <c:spPr>
              <a:solidFill>
                <a:srgbClr val="A05D56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4"/>
            <c:invertIfNegative val="0"/>
            <c:bubble3D val="0"/>
            <c:spPr>
              <a:solidFill>
                <a:srgbClr val="5BA65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5"/>
            <c:invertIfNegative val="0"/>
            <c:bubble3D val="0"/>
            <c:spPr>
              <a:solidFill>
                <a:srgbClr val="C9383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6"/>
            <c:invertIfNegative val="0"/>
            <c:bubble3D val="0"/>
            <c:spPr>
              <a:solidFill>
                <a:srgbClr val="0B559F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7"/>
            <c:invertIfNegative val="0"/>
            <c:bubble3D val="0"/>
            <c:spPr>
              <a:solidFill>
                <a:srgbClr val="5F6B6D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8"/>
            <c:invertIfNegative val="0"/>
            <c:bubble3D val="0"/>
            <c:spPr>
              <a:solidFill>
                <a:srgbClr val="B5BD61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9"/>
            <c:invertIfNegative val="0"/>
            <c:bubble3D val="0"/>
            <c:spPr>
              <a:solidFill>
                <a:srgbClr val="2E91E5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Lbls>
            <c:delete val="1"/>
          </c:dLbls>
          <c:errBars>
            <c:errBarType val="both"/>
            <c:errValType val="cust"/>
            <c:noEndCap val="0"/>
            <c:plus>
              <c:numRef>
                <c:f>Sheet1!$C$25:$C$44</c:f>
                <c:numCache>
                  <c:formatCode>General</c:formatCode>
                  <c:ptCount val="20"/>
                  <c:pt idx="0">
                    <c:v>0.0477427982209253</c:v>
                  </c:pt>
                  <c:pt idx="1">
                    <c:v>0.0427470687487292</c:v>
                  </c:pt>
                  <c:pt idx="2">
                    <c:v>0.0917510573054259</c:v>
                  </c:pt>
                  <c:pt idx="3">
                    <c:v>0.04315741996504089</c:v>
                  </c:pt>
                  <c:pt idx="4">
                    <c:v>0.0350603195543328</c:v>
                  </c:pt>
                  <c:pt idx="5">
                    <c:v>0.0744857677160918</c:v>
                  </c:pt>
                  <c:pt idx="6">
                    <c:v>0.0998731231296934</c:v>
                  </c:pt>
                  <c:pt idx="7">
                    <c:v>0.148605331189342</c:v>
                  </c:pt>
                  <c:pt idx="8">
                    <c:v>0.0916880811943565</c:v>
                  </c:pt>
                  <c:pt idx="9">
                    <c:v>0.0413479337216349</c:v>
                  </c:pt>
                  <c:pt idx="10">
                    <c:v>0.123920934841388</c:v>
                  </c:pt>
                  <c:pt idx="11">
                    <c:v>0.0541712442589978</c:v>
                  </c:pt>
                  <c:pt idx="12">
                    <c:v>0.121954101650373</c:v>
                  </c:pt>
                  <c:pt idx="13">
                    <c:v>0.0428592239669304</c:v>
                  </c:pt>
                  <c:pt idx="14">
                    <c:v>0.171372217276685</c:v>
                  </c:pt>
                  <c:pt idx="15">
                    <c:v>0.0695679190169115</c:v>
                  </c:pt>
                  <c:pt idx="16">
                    <c:v>0.101164503317145</c:v>
                  </c:pt>
                  <c:pt idx="17">
                    <c:v>0.0438294433796364</c:v>
                  </c:pt>
                  <c:pt idx="18">
                    <c:v>0.0868229071827776</c:v>
                  </c:pt>
                  <c:pt idx="19">
                    <c:v>0.114528636661793</c:v>
                  </c:pt>
                </c:numCache>
              </c:numRef>
            </c:plus>
            <c:minus>
              <c:numRef>
                <c:f>Sheet1!$C$25:$C$44</c:f>
                <c:numCache>
                  <c:formatCode>General</c:formatCode>
                  <c:ptCount val="20"/>
                  <c:pt idx="0">
                    <c:v>0.0477427982209253</c:v>
                  </c:pt>
                  <c:pt idx="1">
                    <c:v>0.0427470687487292</c:v>
                  </c:pt>
                  <c:pt idx="2">
                    <c:v>0.0917510573054259</c:v>
                  </c:pt>
                  <c:pt idx="3">
                    <c:v>0.04315741996504089</c:v>
                  </c:pt>
                  <c:pt idx="4">
                    <c:v>0.0350603195543328</c:v>
                  </c:pt>
                  <c:pt idx="5">
                    <c:v>0.0744857677160918</c:v>
                  </c:pt>
                  <c:pt idx="6">
                    <c:v>0.0998731231296934</c:v>
                  </c:pt>
                  <c:pt idx="7">
                    <c:v>0.148605331189342</c:v>
                  </c:pt>
                  <c:pt idx="8">
                    <c:v>0.0916880811943565</c:v>
                  </c:pt>
                  <c:pt idx="9">
                    <c:v>0.0413479337216349</c:v>
                  </c:pt>
                  <c:pt idx="10">
                    <c:v>0.123920934841388</c:v>
                  </c:pt>
                  <c:pt idx="11">
                    <c:v>0.0541712442589978</c:v>
                  </c:pt>
                  <c:pt idx="12">
                    <c:v>0.121954101650373</c:v>
                  </c:pt>
                  <c:pt idx="13">
                    <c:v>0.0428592239669304</c:v>
                  </c:pt>
                  <c:pt idx="14">
                    <c:v>0.171372217276685</c:v>
                  </c:pt>
                  <c:pt idx="15">
                    <c:v>0.0695679190169115</c:v>
                  </c:pt>
                  <c:pt idx="16">
                    <c:v>0.101164503317145</c:v>
                  </c:pt>
                  <c:pt idx="17">
                    <c:v>0.0438294433796364</c:v>
                  </c:pt>
                  <c:pt idx="18">
                    <c:v>0.0868229071827776</c:v>
                  </c:pt>
                  <c:pt idx="19">
                    <c:v>0.114528636661793</c:v>
                  </c:pt>
                </c:numCache>
              </c:numRef>
            </c:minus>
          </c:errBars>
          <c:cat>
            <c:strRef>
              <c:f>Sheet1!$A$25:$A$44</c:f>
              <c:strCache>
                <c:ptCount val="20"/>
                <c:pt idx="0">
                  <c:v>scVelo_deterministic</c:v>
                </c:pt>
                <c:pt idx="1">
                  <c:v>scVelo_stochastic</c:v>
                </c:pt>
                <c:pt idx="2">
                  <c:v>scVelo_dynamic</c:v>
                </c:pt>
                <c:pt idx="3">
                  <c:v>MultiVelo (RNA_only)</c:v>
                </c:pt>
                <c:pt idx="4">
                  <c:v>UniTVelo</c:v>
                </c:pt>
                <c:pt idx="5">
                  <c:v>UniTVelo(mode2)</c:v>
                </c:pt>
                <c:pt idx="6">
                  <c:v>Dynamo(RNA_seq)</c:v>
                </c:pt>
                <c:pt idx="7">
                  <c:v>TIvelo</c:v>
                </c:pt>
                <c:pt idx="8">
                  <c:v>cell2fate</c:v>
                </c:pt>
                <c:pt idx="9">
                  <c:v>TFvelo</c:v>
                </c:pt>
                <c:pt idx="10">
                  <c:v>veloAE</c:v>
                </c:pt>
                <c:pt idx="11">
                  <c:v>veloVI</c:v>
                </c:pt>
                <c:pt idx="12">
                  <c:v>DeepKINET</c:v>
                </c:pt>
                <c:pt idx="13">
                  <c:v>TSvelo</c:v>
                </c:pt>
                <c:pt idx="14">
                  <c:v>cellDancer</c:v>
                </c:pt>
                <c:pt idx="15">
                  <c:v>DeepVelo</c:v>
                </c:pt>
                <c:pt idx="16">
                  <c:v>SDEvelo</c:v>
                </c:pt>
                <c:pt idx="17">
                  <c:v>DeepVelo_scv</c:v>
                </c:pt>
                <c:pt idx="18">
                  <c:v>GraphVelo_scv</c:v>
                </c:pt>
                <c:pt idx="19">
                  <c:v>GraphVelo_dyn</c:v>
                </c:pt>
              </c:strCache>
            </c:strRef>
          </c:cat>
          <c:val>
            <c:numRef>
              <c:f>Sheet1!$B$25:$B$44</c:f>
              <c:numCache>
                <c:formatCode>General</c:formatCode>
                <c:ptCount val="20"/>
                <c:pt idx="0">
                  <c:v>0.819826372052124</c:v>
                </c:pt>
                <c:pt idx="1">
                  <c:v>0.855628181717172</c:v>
                </c:pt>
                <c:pt idx="2">
                  <c:v>0.839491115015852</c:v>
                </c:pt>
                <c:pt idx="3">
                  <c:v>0.9140407495539863</c:v>
                </c:pt>
                <c:pt idx="4">
                  <c:v>0.942677232710325</c:v>
                </c:pt>
                <c:pt idx="5">
                  <c:v>0.8668617812953</c:v>
                </c:pt>
                <c:pt idx="6">
                  <c:v>0.858134827628487</c:v>
                </c:pt>
                <c:pt idx="7">
                  <c:v>0.549151588153002</c:v>
                </c:pt>
                <c:pt idx="8">
                  <c:v>0.822382373857619</c:v>
                </c:pt>
                <c:pt idx="9">
                  <c:v>0.953995982404455</c:v>
                </c:pt>
                <c:pt idx="10">
                  <c:v>0.894997864074346</c:v>
                </c:pt>
                <c:pt idx="11">
                  <c:v>0.848862226220799</c:v>
                </c:pt>
                <c:pt idx="12">
                  <c:v>0.535343580279543</c:v>
                </c:pt>
                <c:pt idx="13">
                  <c:v>0.959826709583464</c:v>
                </c:pt>
                <c:pt idx="14">
                  <c:v>0.777770316707153</c:v>
                </c:pt>
                <c:pt idx="15">
                  <c:v>0.862691815079729</c:v>
                </c:pt>
                <c:pt idx="16">
                  <c:v>0.904135117193228</c:v>
                </c:pt>
                <c:pt idx="17">
                  <c:v>0.891694663202383</c:v>
                </c:pt>
                <c:pt idx="18">
                  <c:v>0.612234722818412</c:v>
                </c:pt>
                <c:pt idx="19">
                  <c:v>0.685874879957757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"/>
        <c:overlap val="-40"/>
        <c:axId val="843904506"/>
        <c:axId val="959726335"/>
      </c:barChart>
      <c:catAx>
        <c:axId val="843904506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959726335"/>
        <c:crosses val="autoZero"/>
        <c:auto val="1"/>
        <c:lblAlgn val="ctr"/>
        <c:lblOffset val="100"/>
        <c:noMultiLvlLbl val="0"/>
      </c:catAx>
      <c:valAx>
        <c:axId val="959726335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84390450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2de5b617-d30f-4bb7-81e2-a30f4deb146e}"/>
      </c:ext>
    </c:extLst>
  </c:chart>
  <c:spPr>
    <a:noFill/>
    <a:ln w="12700" cap="flat" cmpd="sng" algn="ctr">
      <a:noFill/>
      <a:miter lim="800000"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6350" cmpd="sng">
              <a:solidFill>
                <a:schemeClr val="tx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F77B4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"/>
            <c:invertIfNegative val="0"/>
            <c:bubble3D val="0"/>
            <c:spPr>
              <a:solidFill>
                <a:srgbClr val="FF7F0E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3"/>
            <c:invertIfNegative val="0"/>
            <c:bubble3D val="0"/>
            <c:spPr>
              <a:solidFill>
                <a:srgbClr val="8C564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4"/>
            <c:invertIfNegative val="0"/>
            <c:bubble3D val="0"/>
            <c:spPr>
              <a:solidFill>
                <a:srgbClr val="E377C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5"/>
            <c:invertIfNegative val="0"/>
            <c:bubble3D val="0"/>
            <c:spPr>
              <a:solidFill>
                <a:srgbClr val="7F7F7F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rgbClr val="2CA02C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7"/>
            <c:invertIfNegative val="0"/>
            <c:bubble3D val="0"/>
            <c:spPr>
              <a:solidFill>
                <a:srgbClr val="D16FA3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8"/>
            <c:invertIfNegative val="0"/>
            <c:bubble3D val="0"/>
            <c:spPr>
              <a:solidFill>
                <a:srgbClr val="17BECF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9"/>
            <c:invertIfNegative val="0"/>
            <c:bubble3D val="0"/>
            <c:spPr>
              <a:solidFill>
                <a:srgbClr val="806BA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0"/>
            <c:invertIfNegative val="0"/>
            <c:bubble3D val="0"/>
            <c:spPr>
              <a:solidFill>
                <a:srgbClr val="D6272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1"/>
            <c:invertIfNegative val="0"/>
            <c:bubble3D val="0"/>
            <c:spPr>
              <a:solidFill>
                <a:srgbClr val="BCBD2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2"/>
            <c:invertIfNegative val="0"/>
            <c:bubble3D val="0"/>
            <c:spPr>
              <a:solidFill>
                <a:srgbClr val="FA8F1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3"/>
            <c:invertIfNegative val="0"/>
            <c:bubble3D val="0"/>
            <c:spPr>
              <a:solidFill>
                <a:srgbClr val="A05D56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4"/>
            <c:invertIfNegative val="0"/>
            <c:bubble3D val="0"/>
            <c:spPr>
              <a:solidFill>
                <a:srgbClr val="5BA65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5"/>
            <c:invertIfNegative val="0"/>
            <c:bubble3D val="0"/>
            <c:spPr>
              <a:solidFill>
                <a:srgbClr val="C9383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6"/>
            <c:invertIfNegative val="0"/>
            <c:bubble3D val="0"/>
            <c:spPr>
              <a:solidFill>
                <a:srgbClr val="0B559F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7"/>
            <c:invertIfNegative val="0"/>
            <c:bubble3D val="0"/>
            <c:spPr>
              <a:solidFill>
                <a:srgbClr val="5F6B6D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8"/>
            <c:invertIfNegative val="0"/>
            <c:bubble3D val="0"/>
            <c:spPr>
              <a:solidFill>
                <a:srgbClr val="B5BD61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9"/>
            <c:invertIfNegative val="0"/>
            <c:bubble3D val="0"/>
            <c:spPr>
              <a:solidFill>
                <a:srgbClr val="2E91E5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Lbls>
            <c:delete val="1"/>
          </c:dLbls>
          <c:errBars>
            <c:errBarType val="both"/>
            <c:errValType val="cust"/>
            <c:noEndCap val="0"/>
            <c:plus>
              <c:numRef>
                <c:f>Sheet1!$E$25:$E$44</c:f>
                <c:numCache>
                  <c:formatCode>General</c:formatCode>
                  <c:ptCount val="20"/>
                  <c:pt idx="0">
                    <c:v>0.3262397689702917</c:v>
                  </c:pt>
                  <c:pt idx="1">
                    <c:v>0.3435703450453553</c:v>
                  </c:pt>
                  <c:pt idx="2">
                    <c:v>0.3436244644578891</c:v>
                  </c:pt>
                  <c:pt idx="3">
                    <c:v>0.43656448915947305</c:v>
                  </c:pt>
                  <c:pt idx="4">
                    <c:v>0.43157138879268925</c:v>
                  </c:pt>
                  <c:pt idx="5">
                    <c:v>0.3309866919833117</c:v>
                  </c:pt>
                  <c:pt idx="6">
                    <c:v>0.32632521056472474</c:v>
                  </c:pt>
                  <c:pt idx="7">
                    <c:v>0.29085687481685596</c:v>
                  </c:pt>
                  <c:pt idx="8">
                    <c:v>0.2940822578973262</c:v>
                  </c:pt>
                  <c:pt idx="9">
                    <c:v>0.39010301924109336</c:v>
                  </c:pt>
                  <c:pt idx="10">
                    <c:v>0.40975400675619467</c:v>
                  </c:pt>
                  <c:pt idx="11">
                    <c:v>0.30059988324352976</c:v>
                  </c:pt>
                  <c:pt idx="12">
                    <c:v>0.25955327583883386</c:v>
                  </c:pt>
                  <c:pt idx="13">
                    <c:v>0.378646088429091</c:v>
                  </c:pt>
                  <c:pt idx="14">
                    <c:v>0.3318531604652658</c:v>
                  </c:pt>
                  <c:pt idx="15">
                    <c:v>0.37207488955157597</c:v>
                  </c:pt>
                  <c:pt idx="16">
                    <c:v>0.2708974299371506</c:v>
                  </c:pt>
                  <c:pt idx="17">
                    <c:v>0.36355639668843864</c:v>
                  </c:pt>
                  <c:pt idx="18">
                    <c:v>0.22221700556093338</c:v>
                  </c:pt>
                  <c:pt idx="19">
                    <c:v>0.37822113188892065</c:v>
                  </c:pt>
                </c:numCache>
              </c:numRef>
            </c:plus>
            <c:minus>
              <c:numRef>
                <c:f>Sheet1!$E$25:$E$44</c:f>
                <c:numCache>
                  <c:formatCode>General</c:formatCode>
                  <c:ptCount val="20"/>
                  <c:pt idx="0">
                    <c:v>0.3262397689702917</c:v>
                  </c:pt>
                  <c:pt idx="1">
                    <c:v>0.3435703450453553</c:v>
                  </c:pt>
                  <c:pt idx="2">
                    <c:v>0.3436244644578891</c:v>
                  </c:pt>
                  <c:pt idx="3">
                    <c:v>0.43656448915947305</c:v>
                  </c:pt>
                  <c:pt idx="4">
                    <c:v>0.43157138879268925</c:v>
                  </c:pt>
                  <c:pt idx="5">
                    <c:v>0.3309866919833117</c:v>
                  </c:pt>
                  <c:pt idx="6">
                    <c:v>0.32632521056472474</c:v>
                  </c:pt>
                  <c:pt idx="7">
                    <c:v>0.29085687481685596</c:v>
                  </c:pt>
                  <c:pt idx="8">
                    <c:v>0.2940822578973262</c:v>
                  </c:pt>
                  <c:pt idx="9">
                    <c:v>0.39010301924109336</c:v>
                  </c:pt>
                  <c:pt idx="10">
                    <c:v>0.40975400675619467</c:v>
                  </c:pt>
                  <c:pt idx="11">
                    <c:v>0.30059988324352976</c:v>
                  </c:pt>
                  <c:pt idx="12">
                    <c:v>0.25955327583883386</c:v>
                  </c:pt>
                  <c:pt idx="13">
                    <c:v>0.378646088429091</c:v>
                  </c:pt>
                  <c:pt idx="14">
                    <c:v>0.3318531604652658</c:v>
                  </c:pt>
                  <c:pt idx="15">
                    <c:v>0.37207488955157597</c:v>
                  </c:pt>
                  <c:pt idx="16">
                    <c:v>0.2708974299371506</c:v>
                  </c:pt>
                  <c:pt idx="17">
                    <c:v>0.36355639668843864</c:v>
                  </c:pt>
                  <c:pt idx="18">
                    <c:v>0.22221700556093338</c:v>
                  </c:pt>
                  <c:pt idx="19">
                    <c:v>0.37822113188892065</c:v>
                  </c:pt>
                </c:numCache>
              </c:numRef>
            </c:minus>
          </c:errBars>
          <c:cat>
            <c:strRef>
              <c:f>Sheet1!$A$25:$A$44</c:f>
              <c:strCache>
                <c:ptCount val="20"/>
                <c:pt idx="0">
                  <c:v>scVelo_deterministic</c:v>
                </c:pt>
                <c:pt idx="1">
                  <c:v>scVelo_stochastic</c:v>
                </c:pt>
                <c:pt idx="2">
                  <c:v>scVelo_dynamic</c:v>
                </c:pt>
                <c:pt idx="3">
                  <c:v>MultiVelo (RNA_only)</c:v>
                </c:pt>
                <c:pt idx="4">
                  <c:v>UniTVelo</c:v>
                </c:pt>
                <c:pt idx="5">
                  <c:v>UniTVelo(mode2)</c:v>
                </c:pt>
                <c:pt idx="6">
                  <c:v>Dynamo(RNA_seq)</c:v>
                </c:pt>
                <c:pt idx="7">
                  <c:v>TIvelo</c:v>
                </c:pt>
                <c:pt idx="8">
                  <c:v>cell2fate</c:v>
                </c:pt>
                <c:pt idx="9">
                  <c:v>TFvelo</c:v>
                </c:pt>
                <c:pt idx="10">
                  <c:v>veloAE</c:v>
                </c:pt>
                <c:pt idx="11">
                  <c:v>veloVI</c:v>
                </c:pt>
                <c:pt idx="12">
                  <c:v>DeepKINET</c:v>
                </c:pt>
                <c:pt idx="13">
                  <c:v>TSvelo</c:v>
                </c:pt>
                <c:pt idx="14">
                  <c:v>cellDancer</c:v>
                </c:pt>
                <c:pt idx="15">
                  <c:v>DeepVelo</c:v>
                </c:pt>
                <c:pt idx="16">
                  <c:v>SDEvelo</c:v>
                </c:pt>
                <c:pt idx="17">
                  <c:v>DeepVelo_scv</c:v>
                </c:pt>
                <c:pt idx="18">
                  <c:v>GraphVelo_scv</c:v>
                </c:pt>
                <c:pt idx="19">
                  <c:v>GraphVelo_dyn</c:v>
                </c:pt>
              </c:strCache>
            </c:strRef>
          </c:cat>
          <c:val>
            <c:numRef>
              <c:f>Sheet1!$D$25:$D$44</c:f>
              <c:numCache>
                <c:formatCode>General</c:formatCode>
                <c:ptCount val="20"/>
                <c:pt idx="0">
                  <c:v>1.157432863937669</c:v>
                </c:pt>
                <c:pt idx="1">
                  <c:v>1.1935131346861652</c:v>
                </c:pt>
                <c:pt idx="2">
                  <c:v>1.1164814012541207</c:v>
                </c:pt>
                <c:pt idx="3">
                  <c:v>1.0745786561637398</c:v>
                </c:pt>
                <c:pt idx="4">
                  <c:v>1.211050006520278</c:v>
                </c:pt>
                <c:pt idx="5">
                  <c:v>1.2002012513047917</c:v>
                </c:pt>
                <c:pt idx="6">
                  <c:v>1.1824811124786114</c:v>
                </c:pt>
                <c:pt idx="7">
                  <c:v>1.2971413337463495</c:v>
                </c:pt>
                <c:pt idx="8">
                  <c:v>1.1831837665130907</c:v>
                </c:pt>
                <c:pt idx="9">
                  <c:v>1.1064223659105266</c:v>
                </c:pt>
                <c:pt idx="10">
                  <c:v>1.1030452898998937</c:v>
                </c:pt>
                <c:pt idx="11">
                  <c:v>1.276325197230691</c:v>
                </c:pt>
                <c:pt idx="12">
                  <c:v>1.1459115777586275</c:v>
                </c:pt>
                <c:pt idx="13">
                  <c:v>1.2171606002722315</c:v>
                </c:pt>
                <c:pt idx="14">
                  <c:v>1.1301310914695164</c:v>
                </c:pt>
                <c:pt idx="15">
                  <c:v>1.2650989208683274</c:v>
                </c:pt>
                <c:pt idx="16">
                  <c:v>1.1004953465949892</c:v>
                </c:pt>
                <c:pt idx="17">
                  <c:v>1.0834746409675582</c:v>
                </c:pt>
                <c:pt idx="18">
                  <c:v>1.285179532086069</c:v>
                </c:pt>
                <c:pt idx="19">
                  <c:v>1.1446565698748643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"/>
        <c:overlap val="-40"/>
        <c:axId val="670554160"/>
        <c:axId val="784622113"/>
      </c:barChart>
      <c:catAx>
        <c:axId val="67055416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784622113"/>
        <c:crosses val="autoZero"/>
        <c:auto val="1"/>
        <c:lblAlgn val="ctr"/>
        <c:lblOffset val="100"/>
        <c:noMultiLvlLbl val="0"/>
      </c:catAx>
      <c:valAx>
        <c:axId val="784622113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670554160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a09e0bc-030e-483b-b73a-c7c89995db42}"/>
      </c:ext>
    </c:extLst>
  </c:chart>
  <c:spPr>
    <a:noFill/>
    <a:ln w="12700" cap="flat" cmpd="sng" algn="ctr">
      <a:noFill/>
      <a:miter lim="800000"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6350" cmpd="sng">
              <a:solidFill>
                <a:schemeClr val="tx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F77B4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"/>
            <c:invertIfNegative val="0"/>
            <c:bubble3D val="0"/>
            <c:spPr>
              <a:solidFill>
                <a:srgbClr val="FF7F0E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3"/>
            <c:invertIfNegative val="0"/>
            <c:bubble3D val="0"/>
            <c:spPr>
              <a:solidFill>
                <a:srgbClr val="8C564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4"/>
            <c:invertIfNegative val="0"/>
            <c:bubble3D val="0"/>
            <c:spPr>
              <a:solidFill>
                <a:srgbClr val="E377C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5"/>
            <c:invertIfNegative val="0"/>
            <c:bubble3D val="0"/>
            <c:spPr>
              <a:solidFill>
                <a:srgbClr val="7F7F7F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rgbClr val="2CA02C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7"/>
            <c:invertIfNegative val="0"/>
            <c:bubble3D val="0"/>
            <c:spPr>
              <a:solidFill>
                <a:srgbClr val="D16FA3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8"/>
            <c:invertIfNegative val="0"/>
            <c:bubble3D val="0"/>
            <c:spPr>
              <a:solidFill>
                <a:srgbClr val="17BECF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9"/>
            <c:invertIfNegative val="0"/>
            <c:bubble3D val="0"/>
            <c:spPr>
              <a:solidFill>
                <a:srgbClr val="806BA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0"/>
            <c:invertIfNegative val="0"/>
            <c:bubble3D val="0"/>
            <c:spPr>
              <a:solidFill>
                <a:srgbClr val="D6272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1"/>
            <c:invertIfNegative val="0"/>
            <c:bubble3D val="0"/>
            <c:spPr>
              <a:solidFill>
                <a:srgbClr val="BCBD2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2"/>
            <c:invertIfNegative val="0"/>
            <c:bubble3D val="0"/>
            <c:spPr>
              <a:solidFill>
                <a:srgbClr val="FA8F1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3"/>
            <c:invertIfNegative val="0"/>
            <c:bubble3D val="0"/>
            <c:spPr>
              <a:solidFill>
                <a:srgbClr val="A05D56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4"/>
            <c:invertIfNegative val="0"/>
            <c:bubble3D val="0"/>
            <c:spPr>
              <a:solidFill>
                <a:srgbClr val="5BA65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5"/>
            <c:invertIfNegative val="0"/>
            <c:bubble3D val="0"/>
            <c:spPr>
              <a:solidFill>
                <a:srgbClr val="C9383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6"/>
            <c:invertIfNegative val="0"/>
            <c:bubble3D val="0"/>
            <c:spPr>
              <a:solidFill>
                <a:srgbClr val="0B559F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7"/>
            <c:invertIfNegative val="0"/>
            <c:bubble3D val="0"/>
            <c:spPr>
              <a:solidFill>
                <a:srgbClr val="5F6B6D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8"/>
            <c:invertIfNegative val="0"/>
            <c:bubble3D val="0"/>
            <c:spPr>
              <a:solidFill>
                <a:srgbClr val="B5BD61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9"/>
            <c:invertIfNegative val="0"/>
            <c:bubble3D val="0"/>
            <c:spPr>
              <a:solidFill>
                <a:srgbClr val="2E91E5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Lbls>
            <c:delete val="1"/>
          </c:dLbls>
          <c:errBars>
            <c:errBarType val="both"/>
            <c:errValType val="cust"/>
            <c:noEndCap val="0"/>
            <c:plus>
              <c:numRef>
                <c:f>Sheet1!$G$25:$G$44</c:f>
                <c:numCache>
                  <c:formatCode>General</c:formatCode>
                  <c:ptCount val="20"/>
                  <c:pt idx="0">
                    <c:v>0.0567175273893865</c:v>
                  </c:pt>
                  <c:pt idx="1">
                    <c:v>0.0457374302766755</c:v>
                  </c:pt>
                  <c:pt idx="2">
                    <c:v>0.0758085655398101</c:v>
                  </c:pt>
                  <c:pt idx="3">
                    <c:v>0.0404473235261983</c:v>
                  </c:pt>
                  <c:pt idx="4">
                    <c:v>0.0278675145016707</c:v>
                  </c:pt>
                  <c:pt idx="5">
                    <c:v>0.0670193140778773</c:v>
                  </c:pt>
                  <c:pt idx="6">
                    <c:v>0.100861977599546</c:v>
                  </c:pt>
                  <c:pt idx="7">
                    <c:v>0.132109256380607</c:v>
                  </c:pt>
                  <c:pt idx="8">
                    <c:v>0.106347412749225</c:v>
                  </c:pt>
                  <c:pt idx="9">
                    <c:v>0.0191689238512822</c:v>
                  </c:pt>
                  <c:pt idx="10">
                    <c:v>0.109732131054784</c:v>
                  </c:pt>
                  <c:pt idx="11">
                    <c:v>0.0370519505225001</c:v>
                  </c:pt>
                  <c:pt idx="12">
                    <c:v>0.105248722633396</c:v>
                  </c:pt>
                  <c:pt idx="13">
                    <c:v>0.0402909526265489</c:v>
                  </c:pt>
                  <c:pt idx="14">
                    <c:v>0.15716591388745</c:v>
                  </c:pt>
                  <c:pt idx="15">
                    <c:v>0.0634580139480069</c:v>
                  </c:pt>
                  <c:pt idx="16">
                    <c:v>0.0715277607336413</c:v>
                  </c:pt>
                  <c:pt idx="17">
                    <c:v>0.0357603792236928</c:v>
                  </c:pt>
                  <c:pt idx="18">
                    <c:v>0.0391833652497565</c:v>
                  </c:pt>
                  <c:pt idx="19">
                    <c:v>0.085615266931126</c:v>
                  </c:pt>
                </c:numCache>
              </c:numRef>
            </c:plus>
            <c:minus>
              <c:numRef>
                <c:f>Sheet1!$G$25:$G$44</c:f>
                <c:numCache>
                  <c:formatCode>General</c:formatCode>
                  <c:ptCount val="20"/>
                  <c:pt idx="0">
                    <c:v>0.0567175273893865</c:v>
                  </c:pt>
                  <c:pt idx="1">
                    <c:v>0.0457374302766755</c:v>
                  </c:pt>
                  <c:pt idx="2">
                    <c:v>0.0758085655398101</c:v>
                  </c:pt>
                  <c:pt idx="3">
                    <c:v>0.0404473235261983</c:v>
                  </c:pt>
                  <c:pt idx="4">
                    <c:v>0.0278675145016707</c:v>
                  </c:pt>
                  <c:pt idx="5">
                    <c:v>0.0670193140778773</c:v>
                  </c:pt>
                  <c:pt idx="6">
                    <c:v>0.100861977599546</c:v>
                  </c:pt>
                  <c:pt idx="7">
                    <c:v>0.132109256380607</c:v>
                  </c:pt>
                  <c:pt idx="8">
                    <c:v>0.106347412749225</c:v>
                  </c:pt>
                  <c:pt idx="9">
                    <c:v>0.0191689238512822</c:v>
                  </c:pt>
                  <c:pt idx="10">
                    <c:v>0.109732131054784</c:v>
                  </c:pt>
                  <c:pt idx="11">
                    <c:v>0.0370519505225001</c:v>
                  </c:pt>
                  <c:pt idx="12">
                    <c:v>0.105248722633396</c:v>
                  </c:pt>
                  <c:pt idx="13">
                    <c:v>0.0402909526265489</c:v>
                  </c:pt>
                  <c:pt idx="14">
                    <c:v>0.15716591388745</c:v>
                  </c:pt>
                  <c:pt idx="15">
                    <c:v>0.0634580139480069</c:v>
                  </c:pt>
                  <c:pt idx="16">
                    <c:v>0.0715277607336413</c:v>
                  </c:pt>
                  <c:pt idx="17">
                    <c:v>0.0357603792236928</c:v>
                  </c:pt>
                  <c:pt idx="18">
                    <c:v>0.0391833652497565</c:v>
                  </c:pt>
                  <c:pt idx="19">
                    <c:v>0.085615266931126</c:v>
                  </c:pt>
                </c:numCache>
              </c:numRef>
            </c:minus>
          </c:errBars>
          <c:cat>
            <c:strRef>
              <c:f>Sheet1!$A$25:$A$44</c:f>
              <c:strCache>
                <c:ptCount val="20"/>
                <c:pt idx="0">
                  <c:v>scVelo_deterministic</c:v>
                </c:pt>
                <c:pt idx="1">
                  <c:v>scVelo_stochastic</c:v>
                </c:pt>
                <c:pt idx="2">
                  <c:v>scVelo_dynamic</c:v>
                </c:pt>
                <c:pt idx="3">
                  <c:v>MultiVelo (RNA_only)</c:v>
                </c:pt>
                <c:pt idx="4">
                  <c:v>UniTVelo</c:v>
                </c:pt>
                <c:pt idx="5">
                  <c:v>UniTVelo(mode2)</c:v>
                </c:pt>
                <c:pt idx="6">
                  <c:v>Dynamo(RNA_seq)</c:v>
                </c:pt>
                <c:pt idx="7">
                  <c:v>TIvelo</c:v>
                </c:pt>
                <c:pt idx="8">
                  <c:v>cell2fate</c:v>
                </c:pt>
                <c:pt idx="9">
                  <c:v>TFvelo</c:v>
                </c:pt>
                <c:pt idx="10">
                  <c:v>veloAE</c:v>
                </c:pt>
                <c:pt idx="11">
                  <c:v>veloVI</c:v>
                </c:pt>
                <c:pt idx="12">
                  <c:v>DeepKINET</c:v>
                </c:pt>
                <c:pt idx="13">
                  <c:v>TSvelo</c:v>
                </c:pt>
                <c:pt idx="14">
                  <c:v>cellDancer</c:v>
                </c:pt>
                <c:pt idx="15">
                  <c:v>DeepVelo</c:v>
                </c:pt>
                <c:pt idx="16">
                  <c:v>SDEvelo</c:v>
                </c:pt>
                <c:pt idx="17">
                  <c:v>DeepVelo_scv</c:v>
                </c:pt>
                <c:pt idx="18">
                  <c:v>GraphVelo_scv</c:v>
                </c:pt>
                <c:pt idx="19">
                  <c:v>GraphVelo_dyn</c:v>
                </c:pt>
              </c:strCache>
            </c:strRef>
          </c:cat>
          <c:val>
            <c:numRef>
              <c:f>Sheet1!$F$25:$F$44</c:f>
              <c:numCache>
                <c:formatCode>General</c:formatCode>
                <c:ptCount val="20"/>
                <c:pt idx="0">
                  <c:v>0.841974357162063</c:v>
                </c:pt>
                <c:pt idx="1">
                  <c:v>0.875160310298466</c:v>
                </c:pt>
                <c:pt idx="2">
                  <c:v>0.853129341147418</c:v>
                </c:pt>
                <c:pt idx="3">
                  <c:v>0.9233456480315738</c:v>
                </c:pt>
                <c:pt idx="4">
                  <c:v>0.956843768919953</c:v>
                </c:pt>
                <c:pt idx="5">
                  <c:v>0.884524576902332</c:v>
                </c:pt>
                <c:pt idx="6">
                  <c:v>0.872141673267481</c:v>
                </c:pt>
                <c:pt idx="7">
                  <c:v>0.587210831185425</c:v>
                </c:pt>
                <c:pt idx="8">
                  <c:v>0.820384665274463</c:v>
                </c:pt>
                <c:pt idx="9">
                  <c:v>0.965054927272635</c:v>
                </c:pt>
                <c:pt idx="10">
                  <c:v>0.905673819326061</c:v>
                </c:pt>
                <c:pt idx="11">
                  <c:v>0.866385238624663</c:v>
                </c:pt>
                <c:pt idx="12">
                  <c:v>0.606991100940445</c:v>
                </c:pt>
                <c:pt idx="13">
                  <c:v>0.96073223644691</c:v>
                </c:pt>
                <c:pt idx="14">
                  <c:v>0.802686292912761</c:v>
                </c:pt>
                <c:pt idx="15">
                  <c:v>0.880265281237366</c:v>
                </c:pt>
                <c:pt idx="16">
                  <c:v>0.927887991764775</c:v>
                </c:pt>
                <c:pt idx="17">
                  <c:v>0.904575543451208</c:v>
                </c:pt>
                <c:pt idx="18">
                  <c:v>0.653149933213384</c:v>
                </c:pt>
                <c:pt idx="19">
                  <c:v>0.706903612759563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"/>
        <c:overlap val="-40"/>
        <c:axId val="75412629"/>
        <c:axId val="178256644"/>
      </c:barChart>
      <c:catAx>
        <c:axId val="75412629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178256644"/>
        <c:crosses val="autoZero"/>
        <c:auto val="1"/>
        <c:lblAlgn val="ctr"/>
        <c:lblOffset val="100"/>
        <c:noMultiLvlLbl val="0"/>
      </c:catAx>
      <c:valAx>
        <c:axId val="17825664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75412629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768f219e-6bf9-443b-abee-a26f4e361ff0}"/>
      </c:ext>
    </c:extLst>
  </c:chart>
  <c:spPr>
    <a:noFill/>
    <a:ln w="12700" cap="flat" cmpd="sng" algn="ctr">
      <a:noFill/>
      <a:miter lim="800000"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6350" cmpd="sng">
              <a:solidFill>
                <a:schemeClr val="tx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F77B4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"/>
            <c:invertIfNegative val="0"/>
            <c:bubble3D val="0"/>
            <c:spPr>
              <a:solidFill>
                <a:srgbClr val="FF7F0E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3"/>
            <c:invertIfNegative val="0"/>
            <c:bubble3D val="0"/>
            <c:spPr>
              <a:solidFill>
                <a:srgbClr val="8C564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4"/>
            <c:invertIfNegative val="0"/>
            <c:bubble3D val="0"/>
            <c:spPr>
              <a:solidFill>
                <a:srgbClr val="E377C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5"/>
            <c:invertIfNegative val="0"/>
            <c:bubble3D val="0"/>
            <c:spPr>
              <a:solidFill>
                <a:srgbClr val="7F7F7F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rgbClr val="2CA02C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7"/>
            <c:invertIfNegative val="0"/>
            <c:bubble3D val="0"/>
            <c:spPr>
              <a:solidFill>
                <a:srgbClr val="D16FA3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8"/>
            <c:invertIfNegative val="0"/>
            <c:bubble3D val="0"/>
            <c:spPr>
              <a:solidFill>
                <a:srgbClr val="17BECF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9"/>
            <c:invertIfNegative val="0"/>
            <c:bubble3D val="0"/>
            <c:spPr>
              <a:solidFill>
                <a:srgbClr val="806BA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0"/>
            <c:invertIfNegative val="0"/>
            <c:bubble3D val="0"/>
            <c:spPr>
              <a:solidFill>
                <a:srgbClr val="D6272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1"/>
            <c:invertIfNegative val="0"/>
            <c:bubble3D val="0"/>
            <c:spPr>
              <a:solidFill>
                <a:srgbClr val="BCBD2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2"/>
            <c:invertIfNegative val="0"/>
            <c:bubble3D val="0"/>
            <c:spPr>
              <a:solidFill>
                <a:srgbClr val="FA8F1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3"/>
            <c:invertIfNegative val="0"/>
            <c:bubble3D val="0"/>
            <c:spPr>
              <a:solidFill>
                <a:srgbClr val="A05D56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4"/>
            <c:invertIfNegative val="0"/>
            <c:bubble3D val="0"/>
            <c:spPr>
              <a:solidFill>
                <a:srgbClr val="5BA65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5"/>
            <c:invertIfNegative val="0"/>
            <c:bubble3D val="0"/>
            <c:spPr>
              <a:solidFill>
                <a:srgbClr val="C9383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6"/>
            <c:invertIfNegative val="0"/>
            <c:bubble3D val="0"/>
            <c:spPr>
              <a:solidFill>
                <a:srgbClr val="0B559F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7"/>
            <c:invertIfNegative val="0"/>
            <c:bubble3D val="0"/>
            <c:spPr>
              <a:solidFill>
                <a:srgbClr val="5F6B6D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8"/>
            <c:invertIfNegative val="0"/>
            <c:bubble3D val="0"/>
            <c:spPr>
              <a:solidFill>
                <a:srgbClr val="B5BD61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9"/>
            <c:invertIfNegative val="0"/>
            <c:bubble3D val="0"/>
            <c:spPr>
              <a:solidFill>
                <a:srgbClr val="2E91E5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Lbls>
            <c:delete val="1"/>
          </c:dLbls>
          <c:errBars>
            <c:errBarType val="both"/>
            <c:errValType val="cust"/>
            <c:noEndCap val="0"/>
            <c:plus>
              <c:numRef>
                <c:f>Sheet1!$I$25:$I$44</c:f>
                <c:numCache>
                  <c:formatCode>General</c:formatCode>
                  <c:ptCount val="20"/>
                  <c:pt idx="0">
                    <c:v>0.0587548919215521</c:v>
                  </c:pt>
                  <c:pt idx="1">
                    <c:v>0.0402689936913807</c:v>
                  </c:pt>
                  <c:pt idx="2">
                    <c:v>0.0734311983370444</c:v>
                  </c:pt>
                  <c:pt idx="3">
                    <c:v>0.022804589681587085</c:v>
                  </c:pt>
                  <c:pt idx="4">
                    <c:v>0.118420793191644</c:v>
                  </c:pt>
                  <c:pt idx="5">
                    <c:v>0.0653409184416932</c:v>
                  </c:pt>
                  <c:pt idx="6">
                    <c:v>0.0302986785284965</c:v>
                  </c:pt>
                  <c:pt idx="7">
                    <c:v>0.112567388090637</c:v>
                  </c:pt>
                  <c:pt idx="8">
                    <c:v>0.12342600827906</c:v>
                  </c:pt>
                  <c:pt idx="9">
                    <c:v>0.104779809915488</c:v>
                  </c:pt>
                  <c:pt idx="10">
                    <c:v>0.203779286409336</c:v>
                  </c:pt>
                  <c:pt idx="11">
                    <c:v>0.0272796982636962</c:v>
                  </c:pt>
                  <c:pt idx="12">
                    <c:v>0.0295469102985017</c:v>
                  </c:pt>
                  <c:pt idx="13">
                    <c:v>0.0532468661199792</c:v>
                  </c:pt>
                  <c:pt idx="14">
                    <c:v>0.096580486308228</c:v>
                  </c:pt>
                  <c:pt idx="15">
                    <c:v>0.0505909528662646</c:v>
                  </c:pt>
                  <c:pt idx="16">
                    <c:v>0.0872141579222913</c:v>
                  </c:pt>
                  <c:pt idx="17">
                    <c:v>0.0734124620489369</c:v>
                  </c:pt>
                  <c:pt idx="18">
                    <c:v>0.114236619673422</c:v>
                  </c:pt>
                  <c:pt idx="19">
                    <c:v>0.120088936860839</c:v>
                  </c:pt>
                </c:numCache>
              </c:numRef>
            </c:plus>
            <c:minus>
              <c:numRef>
                <c:f>Sheet1!$I$25:$I$44</c:f>
                <c:numCache>
                  <c:formatCode>General</c:formatCode>
                  <c:ptCount val="20"/>
                  <c:pt idx="0">
                    <c:v>0.0587548919215521</c:v>
                  </c:pt>
                  <c:pt idx="1">
                    <c:v>0.0402689936913807</c:v>
                  </c:pt>
                  <c:pt idx="2">
                    <c:v>0.0734311983370444</c:v>
                  </c:pt>
                  <c:pt idx="3">
                    <c:v>0.022804589681587085</c:v>
                  </c:pt>
                  <c:pt idx="4">
                    <c:v>0.118420793191644</c:v>
                  </c:pt>
                  <c:pt idx="5">
                    <c:v>0.0653409184416932</c:v>
                  </c:pt>
                  <c:pt idx="6">
                    <c:v>0.0302986785284965</c:v>
                  </c:pt>
                  <c:pt idx="7">
                    <c:v>0.112567388090637</c:v>
                  </c:pt>
                  <c:pt idx="8">
                    <c:v>0.12342600827906</c:v>
                  </c:pt>
                  <c:pt idx="9">
                    <c:v>0.104779809915488</c:v>
                  </c:pt>
                  <c:pt idx="10">
                    <c:v>0.203779286409336</c:v>
                  </c:pt>
                  <c:pt idx="11">
                    <c:v>0.0272796982636962</c:v>
                  </c:pt>
                  <c:pt idx="12">
                    <c:v>0.0295469102985017</c:v>
                  </c:pt>
                  <c:pt idx="13">
                    <c:v>0.0532468661199792</c:v>
                  </c:pt>
                  <c:pt idx="14">
                    <c:v>0.096580486308228</c:v>
                  </c:pt>
                  <c:pt idx="15">
                    <c:v>0.0505909528662646</c:v>
                  </c:pt>
                  <c:pt idx="16">
                    <c:v>0.0872141579222913</c:v>
                  </c:pt>
                  <c:pt idx="17">
                    <c:v>0.0734124620489369</c:v>
                  </c:pt>
                  <c:pt idx="18">
                    <c:v>0.114236619673422</c:v>
                  </c:pt>
                  <c:pt idx="19">
                    <c:v>0.120088936860839</c:v>
                  </c:pt>
                </c:numCache>
              </c:numRef>
            </c:minus>
          </c:errBars>
          <c:cat>
            <c:strRef>
              <c:f>Sheet1!$A$25:$A$44</c:f>
              <c:strCache>
                <c:ptCount val="20"/>
                <c:pt idx="0">
                  <c:v>scVelo_deterministic</c:v>
                </c:pt>
                <c:pt idx="1">
                  <c:v>scVelo_stochastic</c:v>
                </c:pt>
                <c:pt idx="2">
                  <c:v>scVelo_dynamic</c:v>
                </c:pt>
                <c:pt idx="3">
                  <c:v>MultiVelo (RNA_only)</c:v>
                </c:pt>
                <c:pt idx="4">
                  <c:v>UniTVelo</c:v>
                </c:pt>
                <c:pt idx="5">
                  <c:v>UniTVelo(mode2)</c:v>
                </c:pt>
                <c:pt idx="6">
                  <c:v>Dynamo(RNA_seq)</c:v>
                </c:pt>
                <c:pt idx="7">
                  <c:v>TIvelo</c:v>
                </c:pt>
                <c:pt idx="8">
                  <c:v>cell2fate</c:v>
                </c:pt>
                <c:pt idx="9">
                  <c:v>TFvelo</c:v>
                </c:pt>
                <c:pt idx="10">
                  <c:v>veloAE</c:v>
                </c:pt>
                <c:pt idx="11">
                  <c:v>veloVI</c:v>
                </c:pt>
                <c:pt idx="12">
                  <c:v>DeepKINET</c:v>
                </c:pt>
                <c:pt idx="13">
                  <c:v>TSvelo</c:v>
                </c:pt>
                <c:pt idx="14">
                  <c:v>cellDancer</c:v>
                </c:pt>
                <c:pt idx="15">
                  <c:v>DeepVelo</c:v>
                </c:pt>
                <c:pt idx="16">
                  <c:v>SDEvelo</c:v>
                </c:pt>
                <c:pt idx="17">
                  <c:v>DeepVelo_scv</c:v>
                </c:pt>
                <c:pt idx="18">
                  <c:v>GraphVelo_scv</c:v>
                </c:pt>
                <c:pt idx="19">
                  <c:v>GraphVelo_dyn</c:v>
                </c:pt>
              </c:strCache>
            </c:strRef>
          </c:cat>
          <c:val>
            <c:numRef>
              <c:f>Sheet1!$H$25:$H$44</c:f>
              <c:numCache>
                <c:formatCode>General</c:formatCode>
                <c:ptCount val="20"/>
                <c:pt idx="0">
                  <c:v>1.123095103</c:v>
                </c:pt>
                <c:pt idx="1">
                  <c:v>1.135529174</c:v>
                </c:pt>
                <c:pt idx="2">
                  <c:v>1.152487047</c:v>
                </c:pt>
                <c:pt idx="3">
                  <c:v>1.0383690596458368</c:v>
                </c:pt>
                <c:pt idx="4">
                  <c:v>1.194962413</c:v>
                </c:pt>
                <c:pt idx="5">
                  <c:v>1.195665681</c:v>
                </c:pt>
                <c:pt idx="6">
                  <c:v>1.033364044</c:v>
                </c:pt>
                <c:pt idx="7">
                  <c:v>1.347153659</c:v>
                </c:pt>
                <c:pt idx="8">
                  <c:v>1.168299744</c:v>
                </c:pt>
                <c:pt idx="9">
                  <c:v>1.258494381</c:v>
                </c:pt>
                <c:pt idx="10">
                  <c:v>1.353895459</c:v>
                </c:pt>
                <c:pt idx="11">
                  <c:v>1.077837398</c:v>
                </c:pt>
                <c:pt idx="12">
                  <c:v>1.062075231</c:v>
                </c:pt>
                <c:pt idx="13">
                  <c:v>1.123426504</c:v>
                </c:pt>
                <c:pt idx="14">
                  <c:v>1.152105286</c:v>
                </c:pt>
                <c:pt idx="15">
                  <c:v>1.109848506</c:v>
                </c:pt>
                <c:pt idx="16">
                  <c:v>1.124861968</c:v>
                </c:pt>
                <c:pt idx="17">
                  <c:v>1.15373183</c:v>
                </c:pt>
                <c:pt idx="18">
                  <c:v>1.324140015</c:v>
                </c:pt>
                <c:pt idx="19">
                  <c:v>1.247423319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"/>
        <c:overlap val="-40"/>
        <c:axId val="49481440"/>
        <c:axId val="804958542"/>
      </c:barChart>
      <c:catAx>
        <c:axId val="4948144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804958542"/>
        <c:crosses val="autoZero"/>
        <c:auto val="1"/>
        <c:lblAlgn val="ctr"/>
        <c:lblOffset val="100"/>
        <c:noMultiLvlLbl val="0"/>
      </c:catAx>
      <c:valAx>
        <c:axId val="804958542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49481440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580de96-46a4-47a8-a2da-b6ecd3f529ab}"/>
      </c:ext>
    </c:extLst>
  </c:chart>
  <c:spPr>
    <a:noFill/>
    <a:ln w="12700" cap="flat" cmpd="sng" algn="ctr">
      <a:noFill/>
      <a:miter lim="800000"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6350" cmpd="sng">
              <a:solidFill>
                <a:schemeClr val="tx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F77B4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"/>
            <c:invertIfNegative val="0"/>
            <c:bubble3D val="0"/>
            <c:spPr>
              <a:solidFill>
                <a:srgbClr val="FF7F0E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3"/>
            <c:invertIfNegative val="0"/>
            <c:bubble3D val="0"/>
            <c:spPr>
              <a:solidFill>
                <a:srgbClr val="8C564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4"/>
            <c:invertIfNegative val="0"/>
            <c:bubble3D val="0"/>
            <c:spPr>
              <a:solidFill>
                <a:srgbClr val="E377C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5"/>
            <c:invertIfNegative val="0"/>
            <c:bubble3D val="0"/>
            <c:spPr>
              <a:solidFill>
                <a:srgbClr val="7F7F7F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rgbClr val="2CA02C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7"/>
            <c:invertIfNegative val="0"/>
            <c:bubble3D val="0"/>
            <c:spPr>
              <a:solidFill>
                <a:srgbClr val="D16FA3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8"/>
            <c:invertIfNegative val="0"/>
            <c:bubble3D val="0"/>
            <c:spPr>
              <a:solidFill>
                <a:srgbClr val="17BECF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9"/>
            <c:invertIfNegative val="0"/>
            <c:bubble3D val="0"/>
            <c:spPr>
              <a:solidFill>
                <a:srgbClr val="806BA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0"/>
            <c:invertIfNegative val="0"/>
            <c:bubble3D val="0"/>
            <c:spPr>
              <a:solidFill>
                <a:srgbClr val="D6272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1"/>
            <c:invertIfNegative val="0"/>
            <c:bubble3D val="0"/>
            <c:spPr>
              <a:solidFill>
                <a:srgbClr val="BCBD2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2"/>
            <c:invertIfNegative val="0"/>
            <c:bubble3D val="0"/>
            <c:spPr>
              <a:solidFill>
                <a:srgbClr val="FA8F1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3"/>
            <c:invertIfNegative val="0"/>
            <c:bubble3D val="0"/>
            <c:spPr>
              <a:solidFill>
                <a:srgbClr val="A05D56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4"/>
            <c:invertIfNegative val="0"/>
            <c:bubble3D val="0"/>
            <c:spPr>
              <a:solidFill>
                <a:srgbClr val="5BA65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5"/>
            <c:invertIfNegative val="0"/>
            <c:bubble3D val="0"/>
            <c:spPr>
              <a:solidFill>
                <a:srgbClr val="C9383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6"/>
            <c:invertIfNegative val="0"/>
            <c:bubble3D val="0"/>
            <c:spPr>
              <a:solidFill>
                <a:srgbClr val="0B559F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7"/>
            <c:invertIfNegative val="0"/>
            <c:bubble3D val="0"/>
            <c:spPr>
              <a:solidFill>
                <a:srgbClr val="5F6B6D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8"/>
            <c:invertIfNegative val="0"/>
            <c:bubble3D val="0"/>
            <c:spPr>
              <a:solidFill>
                <a:srgbClr val="B5BD61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9"/>
            <c:invertIfNegative val="0"/>
            <c:bubble3D val="0"/>
            <c:spPr>
              <a:solidFill>
                <a:srgbClr val="2E91E5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Lbls>
            <c:delete val="1"/>
          </c:dLbls>
          <c:errBars>
            <c:errBarType val="both"/>
            <c:errValType val="cust"/>
            <c:noEndCap val="0"/>
            <c:plus>
              <c:numRef>
                <c:f>Sheet1!$K$25:$K$44</c:f>
                <c:numCache>
                  <c:formatCode>General</c:formatCode>
                  <c:ptCount val="20"/>
                  <c:pt idx="0">
                    <c:v>0.306038926939306</c:v>
                  </c:pt>
                  <c:pt idx="1">
                    <c:v>0.316160046182411</c:v>
                  </c:pt>
                  <c:pt idx="2">
                    <c:v>0.354377510464758</c:v>
                  </c:pt>
                  <c:pt idx="3">
                    <c:v>0.422702401012183</c:v>
                  </c:pt>
                  <c:pt idx="4">
                    <c:v>0.505491390992827</c:v>
                  </c:pt>
                  <c:pt idx="5">
                    <c:v>0.287163474205645</c:v>
                  </c:pt>
                  <c:pt idx="6">
                    <c:v>0.308362355470318</c:v>
                  </c:pt>
                  <c:pt idx="7">
                    <c:v>0.346207651503957</c:v>
                  </c:pt>
                  <c:pt idx="8">
                    <c:v>0.525746009057794</c:v>
                  </c:pt>
                  <c:pt idx="9">
                    <c:v>0.469055136517285</c:v>
                  </c:pt>
                  <c:pt idx="10">
                    <c:v>0.405563764641384</c:v>
                  </c:pt>
                  <c:pt idx="11">
                    <c:v>0.256835574142</c:v>
                  </c:pt>
                  <c:pt idx="12">
                    <c:v>0.213511792682305</c:v>
                  </c:pt>
                  <c:pt idx="13">
                    <c:v>0.352805091237737</c:v>
                  </c:pt>
                  <c:pt idx="14">
                    <c:v>0.37549634625456</c:v>
                  </c:pt>
                  <c:pt idx="15">
                    <c:v>0.365414320075994</c:v>
                  </c:pt>
                  <c:pt idx="16">
                    <c:v>0.376916809749955</c:v>
                  </c:pt>
                  <c:pt idx="17">
                    <c:v>0.376720397632769</c:v>
                  </c:pt>
                  <c:pt idx="18">
                    <c:v>0.221252933057244</c:v>
                  </c:pt>
                  <c:pt idx="19">
                    <c:v>0.415204494523419</c:v>
                  </c:pt>
                </c:numCache>
              </c:numRef>
            </c:plus>
            <c:minus>
              <c:numRef>
                <c:f>Sheet1!$K$25:$K$44</c:f>
                <c:numCache>
                  <c:formatCode>General</c:formatCode>
                  <c:ptCount val="20"/>
                  <c:pt idx="0">
                    <c:v>0.306038926939306</c:v>
                  </c:pt>
                  <c:pt idx="1">
                    <c:v>0.316160046182411</c:v>
                  </c:pt>
                  <c:pt idx="2">
                    <c:v>0.354377510464758</c:v>
                  </c:pt>
                  <c:pt idx="3">
                    <c:v>0.422702401012183</c:v>
                  </c:pt>
                  <c:pt idx="4">
                    <c:v>0.505491390992827</c:v>
                  </c:pt>
                  <c:pt idx="5">
                    <c:v>0.287163474205645</c:v>
                  </c:pt>
                  <c:pt idx="6">
                    <c:v>0.308362355470318</c:v>
                  </c:pt>
                  <c:pt idx="7">
                    <c:v>0.346207651503957</c:v>
                  </c:pt>
                  <c:pt idx="8">
                    <c:v>0.525746009057794</c:v>
                  </c:pt>
                  <c:pt idx="9">
                    <c:v>0.469055136517285</c:v>
                  </c:pt>
                  <c:pt idx="10">
                    <c:v>0.405563764641384</c:v>
                  </c:pt>
                  <c:pt idx="11">
                    <c:v>0.256835574142</c:v>
                  </c:pt>
                  <c:pt idx="12">
                    <c:v>0.213511792682305</c:v>
                  </c:pt>
                  <c:pt idx="13">
                    <c:v>0.352805091237737</c:v>
                  </c:pt>
                  <c:pt idx="14">
                    <c:v>0.37549634625456</c:v>
                  </c:pt>
                  <c:pt idx="15">
                    <c:v>0.365414320075994</c:v>
                  </c:pt>
                  <c:pt idx="16">
                    <c:v>0.376916809749955</c:v>
                  </c:pt>
                  <c:pt idx="17">
                    <c:v>0.376720397632769</c:v>
                  </c:pt>
                  <c:pt idx="18">
                    <c:v>0.221252933057244</c:v>
                  </c:pt>
                  <c:pt idx="19">
                    <c:v>0.415204494523419</c:v>
                  </c:pt>
                </c:numCache>
              </c:numRef>
            </c:minus>
          </c:errBars>
          <c:cat>
            <c:strRef>
              <c:f>Sheet1!$A$25:$A$44</c:f>
              <c:strCache>
                <c:ptCount val="20"/>
                <c:pt idx="0">
                  <c:v>scVelo_deterministic</c:v>
                </c:pt>
                <c:pt idx="1">
                  <c:v>scVelo_stochastic</c:v>
                </c:pt>
                <c:pt idx="2">
                  <c:v>scVelo_dynamic</c:v>
                </c:pt>
                <c:pt idx="3">
                  <c:v>MultiVelo (RNA_only)</c:v>
                </c:pt>
                <c:pt idx="4">
                  <c:v>UniTVelo</c:v>
                </c:pt>
                <c:pt idx="5">
                  <c:v>UniTVelo(mode2)</c:v>
                </c:pt>
                <c:pt idx="6">
                  <c:v>Dynamo(RNA_seq)</c:v>
                </c:pt>
                <c:pt idx="7">
                  <c:v>TIvelo</c:v>
                </c:pt>
                <c:pt idx="8">
                  <c:v>cell2fate</c:v>
                </c:pt>
                <c:pt idx="9">
                  <c:v>TFvelo</c:v>
                </c:pt>
                <c:pt idx="10">
                  <c:v>veloAE</c:v>
                </c:pt>
                <c:pt idx="11">
                  <c:v>veloVI</c:v>
                </c:pt>
                <c:pt idx="12">
                  <c:v>DeepKINET</c:v>
                </c:pt>
                <c:pt idx="13">
                  <c:v>TSvelo</c:v>
                </c:pt>
                <c:pt idx="14">
                  <c:v>cellDancer</c:v>
                </c:pt>
                <c:pt idx="15">
                  <c:v>DeepVelo</c:v>
                </c:pt>
                <c:pt idx="16">
                  <c:v>SDEvelo</c:v>
                </c:pt>
                <c:pt idx="17">
                  <c:v>DeepVelo_scv</c:v>
                </c:pt>
                <c:pt idx="18">
                  <c:v>GraphVelo_scv</c:v>
                </c:pt>
                <c:pt idx="19">
                  <c:v>GraphVelo_dyn</c:v>
                </c:pt>
              </c:strCache>
            </c:strRef>
          </c:cat>
          <c:val>
            <c:numRef>
              <c:f>Sheet1!$J$25:$J$44</c:f>
              <c:numCache>
                <c:formatCode>General</c:formatCode>
                <c:ptCount val="20"/>
                <c:pt idx="0">
                  <c:v>1.28754204884262</c:v>
                </c:pt>
                <c:pt idx="1">
                  <c:v>1.3008079701378</c:v>
                </c:pt>
                <c:pt idx="2">
                  <c:v>1.22779101866954</c:v>
                </c:pt>
                <c:pt idx="3">
                  <c:v>1.2414075588994724</c:v>
                </c:pt>
                <c:pt idx="4">
                  <c:v>1.34292929994119</c:v>
                </c:pt>
                <c:pt idx="5">
                  <c:v>1.31064981448867</c:v>
                </c:pt>
                <c:pt idx="6">
                  <c:v>1.31641943333784</c:v>
                </c:pt>
                <c:pt idx="7">
                  <c:v>1.38601226538786</c:v>
                </c:pt>
                <c:pt idx="8">
                  <c:v>1.20064769024311</c:v>
                </c:pt>
                <c:pt idx="9">
                  <c:v>1.29466002826334</c:v>
                </c:pt>
                <c:pt idx="10">
                  <c:v>1.20085209029763</c:v>
                </c:pt>
                <c:pt idx="11">
                  <c:v>1.41068369301927</c:v>
                </c:pt>
                <c:pt idx="12">
                  <c:v>1.35210032204779</c:v>
                </c:pt>
                <c:pt idx="13">
                  <c:v>1.40585769353506</c:v>
                </c:pt>
                <c:pt idx="14">
                  <c:v>1.23896810193427</c:v>
                </c:pt>
                <c:pt idx="15">
                  <c:v>1.37934044796206</c:v>
                </c:pt>
                <c:pt idx="16">
                  <c:v>1.24351840398008</c:v>
                </c:pt>
                <c:pt idx="17">
                  <c:v>1.21452816613</c:v>
                </c:pt>
                <c:pt idx="18">
                  <c:v>1.42837710616654</c:v>
                </c:pt>
                <c:pt idx="19">
                  <c:v>1.26567669062435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"/>
        <c:overlap val="-40"/>
        <c:axId val="24742681"/>
        <c:axId val="118635038"/>
      </c:barChart>
      <c:catAx>
        <c:axId val="24742681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118635038"/>
        <c:crosses val="autoZero"/>
        <c:auto val="1"/>
        <c:lblAlgn val="ctr"/>
        <c:lblOffset val="100"/>
        <c:noMultiLvlLbl val="0"/>
      </c:catAx>
      <c:valAx>
        <c:axId val="118635038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2474268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ce52cd16-b75c-47b9-88ae-278a93bc08ba}"/>
      </c:ext>
    </c:extLst>
  </c:chart>
  <c:spPr>
    <a:noFill/>
    <a:ln w="12700" cap="flat" cmpd="sng" algn="ctr">
      <a:noFill/>
      <a:miter lim="800000"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6350" cmpd="sng">
              <a:solidFill>
                <a:schemeClr val="tx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3"/>
            <c:invertIfNegative val="0"/>
            <c:bubble3D val="0"/>
            <c:spPr>
              <a:solidFill>
                <a:srgbClr val="8C564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4"/>
            <c:invertIfNegative val="0"/>
            <c:bubble3D val="0"/>
            <c:spPr>
              <a:solidFill>
                <a:srgbClr val="E377C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5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6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7"/>
            <c:invertIfNegative val="0"/>
            <c:bubble3D val="0"/>
            <c:spPr>
              <a:solidFill>
                <a:srgbClr val="D16FA3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8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9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0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1"/>
            <c:invertIfNegative val="0"/>
            <c:bubble3D val="0"/>
            <c:spPr>
              <a:solidFill>
                <a:srgbClr val="BCBD2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2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3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rgbClr val="5BA65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5"/>
            <c:invertIfNegative val="0"/>
            <c:bubble3D val="0"/>
            <c:spPr>
              <a:solidFill>
                <a:srgbClr val="C9383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6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7"/>
            <c:invertIfNegative val="0"/>
            <c:bubble3D val="0"/>
            <c:spPr>
              <a:solidFill>
                <a:srgbClr val="5F6B6D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8"/>
            <c:invertIfNegative val="0"/>
            <c:bubble3D val="0"/>
            <c:spPr>
              <a:solidFill>
                <a:srgbClr val="B5BD61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9"/>
            <c:invertIfNegative val="0"/>
            <c:bubble3D val="0"/>
            <c:spPr>
              <a:noFill/>
              <a:ln>
                <a:noFill/>
              </a:ln>
            </c:spPr>
          </c:dPt>
          <c:dLbls>
            <c:delete val="1"/>
          </c:dLbls>
          <c:errBars>
            <c:errBarType val="both"/>
            <c:errValType val="cust"/>
            <c:noEndCap val="0"/>
            <c:plus>
              <c:numRef>
                <c:f>fig2_gene_metric_wps_values!$D$22:$D$41</c:f>
                <c:numCache>
                  <c:formatCode>General</c:formatCode>
                  <c:ptCount val="20"/>
                  <c:pt idx="0">
                    <c:v>0</c:v>
                  </c:pt>
                  <c:pt idx="2">
                    <c:v>0.0813</c:v>
                  </c:pt>
                  <c:pt idx="3">
                    <c:v>0.1088</c:v>
                  </c:pt>
                  <c:pt idx="4">
                    <c:v>0.1189</c:v>
                  </c:pt>
                  <c:pt idx="7">
                    <c:v>0.0544</c:v>
                  </c:pt>
                  <c:pt idx="11">
                    <c:v>0.0573</c:v>
                  </c:pt>
                  <c:pt idx="14">
                    <c:v>0.0709</c:v>
                  </c:pt>
                  <c:pt idx="15">
                    <c:v>0.0785</c:v>
                  </c:pt>
                  <c:pt idx="17">
                    <c:v>0.0881</c:v>
                  </c:pt>
                  <c:pt idx="18">
                    <c:v>0.0714</c:v>
                  </c:pt>
                </c:numCache>
              </c:numRef>
            </c:plus>
            <c:minus>
              <c:numRef>
                <c:f>fig2_gene_metric_wps_values!$D$22:$D$41</c:f>
                <c:numCache>
                  <c:formatCode>General</c:formatCode>
                  <c:ptCount val="20"/>
                  <c:pt idx="0">
                    <c:v>0</c:v>
                  </c:pt>
                  <c:pt idx="2">
                    <c:v>0.0813</c:v>
                  </c:pt>
                  <c:pt idx="3">
                    <c:v>0.1088</c:v>
                  </c:pt>
                  <c:pt idx="4">
                    <c:v>0.1189</c:v>
                  </c:pt>
                  <c:pt idx="7">
                    <c:v>0.0544</c:v>
                  </c:pt>
                  <c:pt idx="11">
                    <c:v>0.0573</c:v>
                  </c:pt>
                  <c:pt idx="14">
                    <c:v>0.0709</c:v>
                  </c:pt>
                  <c:pt idx="15">
                    <c:v>0.0785</c:v>
                  </c:pt>
                  <c:pt idx="17">
                    <c:v>0.0881</c:v>
                  </c:pt>
                  <c:pt idx="18">
                    <c:v>0.0714</c:v>
                  </c:pt>
                </c:numCache>
              </c:numRef>
            </c:minus>
          </c:errBars>
          <c:cat>
            <c:strRef>
              <c:f>fig2_gene_metric_wps_values!$A$22:$A$41</c:f>
              <c:strCache>
                <c:ptCount val="20"/>
                <c:pt idx="0">
                  <c:v>scVelo_deterministic</c:v>
                </c:pt>
                <c:pt idx="1">
                  <c:v>scVelo_stochastic</c:v>
                </c:pt>
                <c:pt idx="2">
                  <c:v>scVelo_dynamic</c:v>
                </c:pt>
                <c:pt idx="3">
                  <c:v>MultiVelo (RNA_only)</c:v>
                </c:pt>
                <c:pt idx="4">
                  <c:v>UniTVelo</c:v>
                </c:pt>
                <c:pt idx="5">
                  <c:v>UniTVelo(mode2)</c:v>
                </c:pt>
                <c:pt idx="6">
                  <c:v>Dynamo</c:v>
                </c:pt>
                <c:pt idx="7">
                  <c:v>TIvelo</c:v>
                </c:pt>
                <c:pt idx="8">
                  <c:v>cell2fate</c:v>
                </c:pt>
                <c:pt idx="9">
                  <c:v>TFvelo</c:v>
                </c:pt>
                <c:pt idx="10">
                  <c:v>veloAE</c:v>
                </c:pt>
                <c:pt idx="11">
                  <c:v>veloVI</c:v>
                </c:pt>
                <c:pt idx="12">
                  <c:v>DeepKINET</c:v>
                </c:pt>
                <c:pt idx="13">
                  <c:v>TSvelo</c:v>
                </c:pt>
                <c:pt idx="14">
                  <c:v>cellDancer</c:v>
                </c:pt>
                <c:pt idx="15">
                  <c:v>DeepVelo</c:v>
                </c:pt>
                <c:pt idx="16">
                  <c:v>SDEvelo</c:v>
                </c:pt>
                <c:pt idx="17">
                  <c:v>DeepVelo_scv</c:v>
                </c:pt>
                <c:pt idx="18">
                  <c:v>GraphVelo_scv</c:v>
                </c:pt>
                <c:pt idx="19">
                  <c:v>GraphVelo_dyn</c:v>
                </c:pt>
              </c:strCache>
            </c:strRef>
          </c:cat>
          <c:val>
            <c:numRef>
              <c:f>fig2_gene_metric_wps_values!$C$22:$C$41</c:f>
              <c:numCache>
                <c:formatCode>General</c:formatCode>
                <c:ptCount val="20"/>
                <c:pt idx="2" c:formatCode="0.0000">
                  <c:v>1.0425</c:v>
                </c:pt>
                <c:pt idx="3" c:formatCode="0.0000">
                  <c:v>1.0565</c:v>
                </c:pt>
                <c:pt idx="4" c:formatCode="0.0000">
                  <c:v>1.1627</c:v>
                </c:pt>
                <c:pt idx="7" c:formatCode="0.0000">
                  <c:v>1.3353</c:v>
                </c:pt>
                <c:pt idx="11" c:formatCode="0.0000">
                  <c:v>1.1032</c:v>
                </c:pt>
                <c:pt idx="14" c:formatCode="0.0000">
                  <c:v>1.0724</c:v>
                </c:pt>
                <c:pt idx="15" c:formatCode="0.0000">
                  <c:v>1.1197</c:v>
                </c:pt>
                <c:pt idx="17" c:formatCode="0.0000">
                  <c:v>1.0293</c:v>
                </c:pt>
                <c:pt idx="18" c:formatCode="0.0000">
                  <c:v>1.1235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"/>
        <c:overlap val="-40"/>
        <c:axId val="422038647"/>
        <c:axId val="214982504"/>
      </c:barChart>
      <c:catAx>
        <c:axId val="422038647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214982504"/>
        <c:crosses val="autoZero"/>
        <c:auto val="1"/>
        <c:lblAlgn val="ctr"/>
        <c:lblOffset val="100"/>
        <c:noMultiLvlLbl val="0"/>
      </c:catAx>
      <c:valAx>
        <c:axId val="21498250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422038647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744ec94-915b-4816-88a7-043777323bb6}"/>
      </c:ext>
    </c:extLst>
  </c:chart>
  <c:spPr>
    <a:noFill/>
    <a:ln w="12700" cap="flat" cmpd="sng" algn="ctr">
      <a:noFill/>
      <a:miter lim="800000"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6350" cmpd="sng">
              <a:solidFill>
                <a:schemeClr val="tx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3"/>
            <c:invertIfNegative val="0"/>
            <c:bubble3D val="0"/>
            <c:spPr>
              <a:solidFill>
                <a:srgbClr val="8C564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4"/>
            <c:invertIfNegative val="0"/>
            <c:bubble3D val="0"/>
            <c:spPr>
              <a:solidFill>
                <a:srgbClr val="E377C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5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6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7"/>
            <c:invertIfNegative val="0"/>
            <c:bubble3D val="0"/>
            <c:spPr>
              <a:solidFill>
                <a:srgbClr val="D16FA3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8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9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0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1"/>
            <c:invertIfNegative val="0"/>
            <c:bubble3D val="0"/>
            <c:spPr>
              <a:solidFill>
                <a:srgbClr val="BCBD2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2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3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rgbClr val="5BA65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5"/>
            <c:invertIfNegative val="0"/>
            <c:bubble3D val="0"/>
            <c:spPr>
              <a:solidFill>
                <a:srgbClr val="C9383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6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7"/>
            <c:invertIfNegative val="0"/>
            <c:bubble3D val="0"/>
            <c:spPr>
              <a:solidFill>
                <a:srgbClr val="5F6B6D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8"/>
            <c:invertIfNegative val="0"/>
            <c:bubble3D val="0"/>
            <c:spPr>
              <a:solidFill>
                <a:srgbClr val="B5BD61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9"/>
            <c:invertIfNegative val="0"/>
            <c:bubble3D val="0"/>
            <c:spPr>
              <a:noFill/>
              <a:ln>
                <a:noFill/>
              </a:ln>
            </c:spPr>
          </c:dPt>
          <c:dLbls>
            <c:delete val="1"/>
          </c:dLbls>
          <c:cat>
            <c:strRef>
              <c:f>fig2_gene_metric_wps_values!$A$22:$A$41</c:f>
              <c:strCache>
                <c:ptCount val="20"/>
                <c:pt idx="0">
                  <c:v>scVelo_deterministic</c:v>
                </c:pt>
                <c:pt idx="1">
                  <c:v>scVelo_stochastic</c:v>
                </c:pt>
                <c:pt idx="2">
                  <c:v>scVelo_dynamic</c:v>
                </c:pt>
                <c:pt idx="3">
                  <c:v>MultiVelo (RNA_only)</c:v>
                </c:pt>
                <c:pt idx="4">
                  <c:v>UniTVelo</c:v>
                </c:pt>
                <c:pt idx="5">
                  <c:v>UniTVelo(mode2)</c:v>
                </c:pt>
                <c:pt idx="6">
                  <c:v>Dynamo</c:v>
                </c:pt>
                <c:pt idx="7">
                  <c:v>TIvelo</c:v>
                </c:pt>
                <c:pt idx="8">
                  <c:v>cell2fate</c:v>
                </c:pt>
                <c:pt idx="9">
                  <c:v>TFvelo</c:v>
                </c:pt>
                <c:pt idx="10">
                  <c:v>veloAE</c:v>
                </c:pt>
                <c:pt idx="11">
                  <c:v>veloVI</c:v>
                </c:pt>
                <c:pt idx="12">
                  <c:v>DeepKINET</c:v>
                </c:pt>
                <c:pt idx="13">
                  <c:v>TSvelo</c:v>
                </c:pt>
                <c:pt idx="14">
                  <c:v>cellDancer</c:v>
                </c:pt>
                <c:pt idx="15">
                  <c:v>DeepVelo</c:v>
                </c:pt>
                <c:pt idx="16">
                  <c:v>SDEvelo</c:v>
                </c:pt>
                <c:pt idx="17">
                  <c:v>DeepVelo_scv</c:v>
                </c:pt>
                <c:pt idx="18">
                  <c:v>GraphVelo_scv</c:v>
                </c:pt>
                <c:pt idx="19">
                  <c:v>GraphVelo_dyn</c:v>
                </c:pt>
              </c:strCache>
            </c:strRef>
          </c:cat>
          <c:val>
            <c:numRef>
              <c:f>fig2_gene_metric_wps_values!$G$22:$G$41</c:f>
              <c:numCache>
                <c:formatCode>General</c:formatCode>
                <c:ptCount val="20"/>
                <c:pt idx="2" c:formatCode="0.0000">
                  <c:v>1.4618</c:v>
                </c:pt>
                <c:pt idx="3" c:formatCode="0.0000">
                  <c:v>1.564</c:v>
                </c:pt>
                <c:pt idx="4" c:formatCode="0.0000">
                  <c:v>1.2751</c:v>
                </c:pt>
                <c:pt idx="7" c:formatCode="0.0000">
                  <c:v>1.0141</c:v>
                </c:pt>
                <c:pt idx="11" c:formatCode="0.0000">
                  <c:v>1.0445</c:v>
                </c:pt>
                <c:pt idx="14" c:formatCode="0.0000">
                  <c:v>1.5156</c:v>
                </c:pt>
                <c:pt idx="15" c:formatCode="0.0000">
                  <c:v>1.1943</c:v>
                </c:pt>
                <c:pt idx="17" c:formatCode="0.0000">
                  <c:v>1.4694</c:v>
                </c:pt>
                <c:pt idx="18" c:formatCode="0.0000">
                  <c:v>1.5211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"/>
        <c:overlap val="-40"/>
        <c:axId val="749513006"/>
        <c:axId val="431500587"/>
      </c:barChart>
      <c:catAx>
        <c:axId val="749513006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431500587"/>
        <c:crosses val="autoZero"/>
        <c:auto val="1"/>
        <c:lblAlgn val="ctr"/>
        <c:lblOffset val="100"/>
        <c:noMultiLvlLbl val="0"/>
      </c:catAx>
      <c:valAx>
        <c:axId val="431500587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74951300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bd3ca0c-9de5-4d0e-9972-5804c7c9e0ce}"/>
      </c:ext>
    </c:extLst>
  </c:chart>
  <c:spPr>
    <a:noFill/>
    <a:ln w="12700" cap="flat" cmpd="sng" algn="ctr">
      <a:noFill/>
      <a:miter lim="800000"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6350" cmpd="sng">
              <a:solidFill>
                <a:schemeClr val="tx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3"/>
            <c:invertIfNegative val="0"/>
            <c:bubble3D val="0"/>
            <c:spPr>
              <a:solidFill>
                <a:srgbClr val="8C564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4"/>
            <c:invertIfNegative val="0"/>
            <c:bubble3D val="0"/>
            <c:spPr>
              <a:solidFill>
                <a:srgbClr val="E377C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5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6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7"/>
            <c:invertIfNegative val="0"/>
            <c:bubble3D val="0"/>
            <c:spPr>
              <a:solidFill>
                <a:srgbClr val="D16FA3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8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9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0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1"/>
            <c:invertIfNegative val="0"/>
            <c:bubble3D val="0"/>
            <c:spPr>
              <a:solidFill>
                <a:srgbClr val="BCBD2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2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3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rgbClr val="5BA65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5"/>
            <c:invertIfNegative val="0"/>
            <c:bubble3D val="0"/>
            <c:spPr>
              <a:solidFill>
                <a:srgbClr val="C9383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6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7"/>
            <c:invertIfNegative val="0"/>
            <c:bubble3D val="0"/>
            <c:spPr>
              <a:solidFill>
                <a:srgbClr val="5F6B6D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8"/>
            <c:invertIfNegative val="0"/>
            <c:bubble3D val="0"/>
            <c:spPr>
              <a:solidFill>
                <a:srgbClr val="B5BD61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9"/>
            <c:invertIfNegative val="0"/>
            <c:bubble3D val="0"/>
            <c:spPr>
              <a:noFill/>
              <a:ln>
                <a:noFill/>
              </a:ln>
            </c:spPr>
          </c:dPt>
          <c:dLbls>
            <c:delete val="1"/>
          </c:dLbls>
          <c:cat>
            <c:strRef>
              <c:f>fig2_gene_metric_wps_values!$A$22:$A$41</c:f>
              <c:strCache>
                <c:ptCount val="20"/>
                <c:pt idx="0">
                  <c:v>scVelo_deterministic</c:v>
                </c:pt>
                <c:pt idx="1">
                  <c:v>scVelo_stochastic</c:v>
                </c:pt>
                <c:pt idx="2">
                  <c:v>scVelo_dynamic</c:v>
                </c:pt>
                <c:pt idx="3">
                  <c:v>MultiVelo (RNA_only)</c:v>
                </c:pt>
                <c:pt idx="4">
                  <c:v>UniTVelo</c:v>
                </c:pt>
                <c:pt idx="5">
                  <c:v>UniTVelo(mode2)</c:v>
                </c:pt>
                <c:pt idx="6">
                  <c:v>Dynamo</c:v>
                </c:pt>
                <c:pt idx="7">
                  <c:v>TIvelo</c:v>
                </c:pt>
                <c:pt idx="8">
                  <c:v>cell2fate</c:v>
                </c:pt>
                <c:pt idx="9">
                  <c:v>TFvelo</c:v>
                </c:pt>
                <c:pt idx="10">
                  <c:v>veloAE</c:v>
                </c:pt>
                <c:pt idx="11">
                  <c:v>veloVI</c:v>
                </c:pt>
                <c:pt idx="12">
                  <c:v>DeepKINET</c:v>
                </c:pt>
                <c:pt idx="13">
                  <c:v>TSvelo</c:v>
                </c:pt>
                <c:pt idx="14">
                  <c:v>cellDancer</c:v>
                </c:pt>
                <c:pt idx="15">
                  <c:v>DeepVelo</c:v>
                </c:pt>
                <c:pt idx="16">
                  <c:v>SDEvelo</c:v>
                </c:pt>
                <c:pt idx="17">
                  <c:v>DeepVelo_scv</c:v>
                </c:pt>
                <c:pt idx="18">
                  <c:v>GraphVelo_scv</c:v>
                </c:pt>
                <c:pt idx="19">
                  <c:v>GraphVelo_dyn</c:v>
                </c:pt>
              </c:strCache>
            </c:strRef>
          </c:cat>
          <c:val>
            <c:numRef>
              <c:f>fig2_gene_metric_wps_values!$I$22:$I$41</c:f>
              <c:numCache>
                <c:formatCode>General</c:formatCode>
                <c:ptCount val="20"/>
                <c:pt idx="2" c:formatCode="0.0000">
                  <c:v>1.6899</c:v>
                </c:pt>
                <c:pt idx="3" c:formatCode="0.0000">
                  <c:v>1.8447</c:v>
                </c:pt>
                <c:pt idx="4" c:formatCode="0.0000">
                  <c:v>1.3899</c:v>
                </c:pt>
                <c:pt idx="7" c:formatCode="0.0000">
                  <c:v>0.9161</c:v>
                </c:pt>
                <c:pt idx="11" c:formatCode="0.0000">
                  <c:v>1.0689</c:v>
                </c:pt>
                <c:pt idx="14" c:formatCode="0.0000">
                  <c:v>1.7453</c:v>
                </c:pt>
                <c:pt idx="15" c:formatCode="0.0000">
                  <c:v>1.3262</c:v>
                </c:pt>
                <c:pt idx="17" c:formatCode="0.0000">
                  <c:v>1.6695</c:v>
                </c:pt>
                <c:pt idx="18" c:formatCode="0.0000">
                  <c:v>1.7258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"/>
        <c:overlap val="-40"/>
        <c:axId val="834900342"/>
        <c:axId val="257859701"/>
      </c:barChart>
      <c:catAx>
        <c:axId val="834900342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257859701"/>
        <c:crosses val="autoZero"/>
        <c:auto val="1"/>
        <c:lblAlgn val="ctr"/>
        <c:lblOffset val="100"/>
        <c:noMultiLvlLbl val="0"/>
      </c:catAx>
      <c:valAx>
        <c:axId val="257859701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834900342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146cb820-3f9b-41a8-b461-b0bfbdb918e5}"/>
      </c:ext>
    </c:extLst>
  </c:chart>
  <c:spPr>
    <a:noFill/>
    <a:ln w="12700" cap="flat" cmpd="sng" algn="ctr">
      <a:noFill/>
      <a:miter lim="800000"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6350" cmpd="sng">
              <a:solidFill>
                <a:schemeClr val="tx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2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3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4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5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rgbClr val="2CA02C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7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8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9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0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1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2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3"/>
            <c:invertIfNegative val="0"/>
            <c:bubble3D val="0"/>
            <c:spPr>
              <a:solidFill>
                <a:srgbClr val="A05D56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4"/>
            <c:invertIfNegative val="0"/>
            <c:bubble3D val="0"/>
            <c:spPr>
              <a:solidFill>
                <a:srgbClr val="5BA65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5"/>
            <c:invertIfNegative val="0"/>
            <c:bubble3D val="0"/>
            <c:spPr>
              <a:solidFill>
                <a:srgbClr val="C9383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6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7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8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9"/>
            <c:invertIfNegative val="0"/>
            <c:bubble3D val="0"/>
            <c:spPr>
              <a:noFill/>
              <a:ln>
                <a:noFill/>
              </a:ln>
            </c:spPr>
          </c:dPt>
          <c:dLbls>
            <c:delete val="1"/>
          </c:dLbls>
          <c:cat>
            <c:strRef>
              <c:f>fig2_gene_metric_wps_values!$A$22:$A$41</c:f>
              <c:strCache>
                <c:ptCount val="20"/>
                <c:pt idx="0">
                  <c:v>scVelo_deterministic</c:v>
                </c:pt>
                <c:pt idx="1">
                  <c:v>scVelo_stochastic</c:v>
                </c:pt>
                <c:pt idx="2">
                  <c:v>scVelo_dynamic</c:v>
                </c:pt>
                <c:pt idx="3">
                  <c:v>MultiVelo (RNA_only)</c:v>
                </c:pt>
                <c:pt idx="4">
                  <c:v>UniTVelo</c:v>
                </c:pt>
                <c:pt idx="5">
                  <c:v>UniTVelo(mode2)</c:v>
                </c:pt>
                <c:pt idx="6">
                  <c:v>Dynamo</c:v>
                </c:pt>
                <c:pt idx="7">
                  <c:v>TIvelo</c:v>
                </c:pt>
                <c:pt idx="8">
                  <c:v>cell2fate</c:v>
                </c:pt>
                <c:pt idx="9">
                  <c:v>TFvelo</c:v>
                </c:pt>
                <c:pt idx="10">
                  <c:v>veloAE</c:v>
                </c:pt>
                <c:pt idx="11">
                  <c:v>veloVI</c:v>
                </c:pt>
                <c:pt idx="12">
                  <c:v>DeepKINET</c:v>
                </c:pt>
                <c:pt idx="13">
                  <c:v>TSvelo</c:v>
                </c:pt>
                <c:pt idx="14">
                  <c:v>cellDancer</c:v>
                </c:pt>
                <c:pt idx="15">
                  <c:v>DeepVelo</c:v>
                </c:pt>
                <c:pt idx="16">
                  <c:v>SDEvelo</c:v>
                </c:pt>
                <c:pt idx="17">
                  <c:v>DeepVelo_scv</c:v>
                </c:pt>
                <c:pt idx="18">
                  <c:v>GraphVelo_scv</c:v>
                </c:pt>
                <c:pt idx="19">
                  <c:v>GraphVelo_dyn</c:v>
                </c:pt>
              </c:strCache>
            </c:strRef>
          </c:cat>
          <c:val>
            <c:numRef>
              <c:f>fig2_gene_metric_wps_values!$K$22:$K$41</c:f>
              <c:numCache>
                <c:formatCode>General</c:formatCode>
                <c:ptCount val="20"/>
                <c:pt idx="6" c:formatCode="0.0000">
                  <c:v>1.64430915615795</c:v>
                </c:pt>
                <c:pt idx="13" c:formatCode="0.0000">
                  <c:v>1.49267118761886</c:v>
                </c:pt>
                <c:pt idx="14" c:formatCode="0.0000">
                  <c:v>0.98361058444664</c:v>
                </c:pt>
                <c:pt idx="15" c:formatCode="0.0000">
                  <c:v>1.31500701414434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"/>
        <c:overlap val="-40"/>
        <c:axId val="711180526"/>
        <c:axId val="239925908"/>
      </c:barChart>
      <c:catAx>
        <c:axId val="711180526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239925908"/>
        <c:crosses val="autoZero"/>
        <c:auto val="1"/>
        <c:lblAlgn val="ctr"/>
        <c:lblOffset val="100"/>
        <c:noMultiLvlLbl val="0"/>
      </c:catAx>
      <c:valAx>
        <c:axId val="239925908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71118052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f235aeb-6558-44fc-b1fb-4d86fad3de83}"/>
      </c:ext>
    </c:extLst>
  </c:chart>
  <c:spPr>
    <a:noFill/>
    <a:ln w="12700" cap="flat" cmpd="sng" algn="ctr">
      <a:noFill/>
      <a:miter lim="800000"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6350" cmpd="sng">
              <a:solidFill>
                <a:schemeClr val="tx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2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3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4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5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6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7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8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9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0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1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2"/>
            <c:invertIfNegative val="0"/>
            <c:bubble3D val="0"/>
            <c:spPr>
              <a:solidFill>
                <a:srgbClr val="FA8F12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3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rgbClr val="5BA658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5"/>
            <c:invertIfNegative val="0"/>
            <c:bubble3D val="0"/>
            <c:spPr>
              <a:solidFill>
                <a:srgbClr val="C9383B"/>
              </a:solidFill>
              <a:ln w="6350" cmpd="sng">
                <a:solidFill>
                  <a:schemeClr val="tx1"/>
                </a:solidFill>
                <a:prstDash val="solid"/>
              </a:ln>
            </c:spPr>
          </c:dPt>
          <c:dPt>
            <c:idx val="16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7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8"/>
            <c:invertIfNegative val="0"/>
            <c:bubble3D val="0"/>
            <c:spPr>
              <a:noFill/>
              <a:ln>
                <a:noFill/>
              </a:ln>
            </c:spPr>
          </c:dPt>
          <c:dPt>
            <c:idx val="19"/>
            <c:invertIfNegative val="0"/>
            <c:bubble3D val="0"/>
            <c:spPr>
              <a:noFill/>
              <a:ln>
                <a:noFill/>
              </a:ln>
            </c:spPr>
          </c:dPt>
          <c:dLbls>
            <c:delete val="1"/>
          </c:dLbls>
          <c:cat>
            <c:strRef>
              <c:f>fig2_gene_metric_wps_values!$A$22:$A$41</c:f>
              <c:strCache>
                <c:ptCount val="20"/>
                <c:pt idx="0">
                  <c:v>scVelo_deterministic</c:v>
                </c:pt>
                <c:pt idx="1">
                  <c:v>scVelo_stochastic</c:v>
                </c:pt>
                <c:pt idx="2">
                  <c:v>scVelo_dynamic</c:v>
                </c:pt>
                <c:pt idx="3">
                  <c:v>MultiVelo (RNA_only)</c:v>
                </c:pt>
                <c:pt idx="4">
                  <c:v>UniTVelo</c:v>
                </c:pt>
                <c:pt idx="5">
                  <c:v>UniTVelo(mode2)</c:v>
                </c:pt>
                <c:pt idx="6">
                  <c:v>Dynamo</c:v>
                </c:pt>
                <c:pt idx="7">
                  <c:v>TIvelo</c:v>
                </c:pt>
                <c:pt idx="8">
                  <c:v>cell2fate</c:v>
                </c:pt>
                <c:pt idx="9">
                  <c:v>TFvelo</c:v>
                </c:pt>
                <c:pt idx="10">
                  <c:v>veloAE</c:v>
                </c:pt>
                <c:pt idx="11">
                  <c:v>veloVI</c:v>
                </c:pt>
                <c:pt idx="12">
                  <c:v>DeepKINET</c:v>
                </c:pt>
                <c:pt idx="13">
                  <c:v>TSvelo</c:v>
                </c:pt>
                <c:pt idx="14">
                  <c:v>cellDancer</c:v>
                </c:pt>
                <c:pt idx="15">
                  <c:v>DeepVelo</c:v>
                </c:pt>
                <c:pt idx="16">
                  <c:v>SDEvelo</c:v>
                </c:pt>
                <c:pt idx="17">
                  <c:v>DeepVelo_scv</c:v>
                </c:pt>
                <c:pt idx="18">
                  <c:v>GraphVelo_scv</c:v>
                </c:pt>
                <c:pt idx="19">
                  <c:v>GraphVelo_dyn</c:v>
                </c:pt>
              </c:strCache>
            </c:strRef>
          </c:cat>
          <c:val>
            <c:numRef>
              <c:f>fig2_gene_metric_wps_values!$N$22:$N$41</c:f>
              <c:numCache>
                <c:formatCode>General</c:formatCode>
                <c:ptCount val="20"/>
                <c:pt idx="12" c:formatCode="0.0000">
                  <c:v>0.961643757018617</c:v>
                </c:pt>
                <c:pt idx="14" c:formatCode="0.0000">
                  <c:v>0.859680526333668</c:v>
                </c:pt>
                <c:pt idx="15" c:formatCode="0.0000">
                  <c:v>1.06328434446778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"/>
        <c:overlap val="-40"/>
        <c:axId val="793775914"/>
        <c:axId val="708194809"/>
      </c:barChart>
      <c:catAx>
        <c:axId val="79377591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708194809"/>
        <c:crosses val="autoZero"/>
        <c:auto val="1"/>
        <c:lblAlgn val="ctr"/>
        <c:lblOffset val="100"/>
        <c:noMultiLvlLbl val="0"/>
      </c:catAx>
      <c:valAx>
        <c:axId val="708194809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lt"/>
                <a:cs typeface="+mn-lt"/>
              </a:defRPr>
            </a:pPr>
          </a:p>
        </c:txPr>
        <c:crossAx val="793775914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16d390cb-2bf9-466c-b7b3-f1eaa4e3afe1}"/>
      </c:ext>
    </c:extLst>
  </c:chart>
  <c:spPr>
    <a:noFill/>
    <a:ln w="12700" cap="flat" cmpd="sng" algn="ctr">
      <a:noFill/>
      <a:miter lim="800000"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476" y="1143000"/>
            <a:ext cx="2137048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2152278"/>
            <a:ext cx="6170175" cy="68727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063900"/>
            <a:ext cx="3005100" cy="55106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053111"/>
            <a:ext cx="3005100" cy="55106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3587131"/>
            <a:ext cx="5512050" cy="147124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5141554"/>
            <a:ext cx="5512050" cy="68103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chart" Target="../charts/chart9.xml"/><Relationship Id="rId8" Type="http://schemas.openxmlformats.org/officeDocument/2006/relationships/chart" Target="../charts/chart8.xml"/><Relationship Id="rId7" Type="http://schemas.openxmlformats.org/officeDocument/2006/relationships/chart" Target="../charts/chart7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chart" Target="../charts/chart10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1"/>
            </p:custDataLst>
          </p:nvPr>
        </p:nvGraphicFramePr>
        <p:xfrm>
          <a:off x="0" y="0"/>
          <a:ext cx="6857370" cy="5766435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548640"/>
                <a:gridCol w="808355"/>
                <a:gridCol w="367665"/>
                <a:gridCol w="392430"/>
                <a:gridCol w="421005"/>
                <a:gridCol w="427990"/>
                <a:gridCol w="427990"/>
                <a:gridCol w="428625"/>
                <a:gridCol w="428625"/>
                <a:gridCol w="427355"/>
                <a:gridCol w="435738"/>
                <a:gridCol w="435738"/>
                <a:gridCol w="435738"/>
                <a:gridCol w="435738"/>
                <a:gridCol w="435738"/>
              </a:tblGrid>
              <a:tr h="288925">
                <a:tc rowSpan="3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500"/>
                        <a:t>Methods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rowSpan="3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500"/>
                        <a:t>Core Algorithm/Model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500"/>
                        <a:t>How to estimate kinetic parameters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hMerge="1">
                  <a:tcPr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500"/>
                        <a:t>Whether to calculate and output du/dt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gridSpan="5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500"/>
                        <a:t>Performance at Cell level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hMerge="1">
                  <a:tcPr anchor="ctr" anchorCtr="0"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</a:tcPr>
                </a:tc>
                <a:tc hMerge="1">
                  <a:tcPr anchor="ctr" anchorCtr="0"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</a:tcPr>
                </a:tc>
                <a:tc hMerge="1">
                  <a:tcPr anchor="ctr" anchorCtr="0"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</a:tcPr>
                </a:tc>
                <a:tc hMerge="1">
                  <a:tcPr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500"/>
                        <a:t>Performance at Gene level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hMerge="1">
                  <a:tcPr marL="36195" marR="36195" marT="36195" marB="36195" anchor="ctr" anchorCtr="0"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</a:tcPr>
                </a:tc>
                <a:tc hMerge="1">
                  <a:tcPr anchor="ctr" anchorCtr="0"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</a:tcPr>
                </a:tc>
                <a:tc hMerge="1">
                  <a:tcPr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</a:tcPr>
                </a:tc>
                <a:tc hMerge="1">
                  <a:tcPr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  <a:tr h="146050">
                <a:tc vMerge="1">
                  <a:tcPr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</a:tcPr>
                </a:tc>
                <a:tc vMerge="1">
                  <a:tcPr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500"/>
                        <a:t>α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β</a:t>
                      </a:r>
                      <a:r>
                        <a:rPr lang="zh-CN" altLang="en-US" sz="500"/>
                        <a:t>＆</a:t>
                      </a:r>
                      <a:r>
                        <a:rPr lang="en-US" altLang="zh-CN" sz="500"/>
                        <a:t>γ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vMerge="1">
                  <a:tcPr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Local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hMerge="1"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Global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hMerge="1"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hMerge="1"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gridSpan="3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500"/>
                        <a:t>Gene-level kinetics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hMerge="1"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hMerge="1"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500">
                          <a:sym typeface="Arial" panose="020B0604020202090204" pitchFamily="34" charset="0"/>
                        </a:rPr>
                        <a:t>Kinetic parameters</a:t>
                      </a:r>
                      <a:endParaRPr lang="en-US" altLang="zh-CN" sz="500">
                        <a:sym typeface="Arial" panose="020B0604020202090204" pitchFamily="34" charset="0"/>
                      </a:endParaRPr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hMerge="1"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226060">
                <a:tc vMerge="1">
                  <a:tcPr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B w="3175">
                      <a:solidFill>
                        <a:schemeClr val="bg1"/>
                      </a:solidFill>
                      <a:prstDash val="solid"/>
                    </a:lnB>
                  </a:tcPr>
                </a:tc>
                <a:tc vMerge="1">
                  <a:tcPr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B w="3175">
                      <a:solidFill>
                        <a:schemeClr val="bg1"/>
                      </a:solidFill>
                      <a:prstDash val="solid"/>
                    </a:lnB>
                  </a:tcPr>
                </a:tc>
                <a:tc vMerge="1"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B w="3175">
                      <a:solidFill>
                        <a:schemeClr val="bg1"/>
                      </a:solidFill>
                      <a:prstDash val="solid"/>
                    </a:lnB>
                  </a:tcPr>
                </a:tc>
                <a:tc vMerge="1"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B w="3175">
                      <a:solidFill>
                        <a:schemeClr val="bg1"/>
                      </a:solidFill>
                      <a:prstDash val="solid"/>
                    </a:lnB>
                  </a:tcPr>
                </a:tc>
                <a:tc vMerge="1">
                  <a:tcPr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B w="3175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>
                          <a:sym typeface="+mn-ea"/>
                        </a:rPr>
                        <a:t>consistency score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>
                          <a:sym typeface="Arial" panose="020B0604020202090204" pitchFamily="34" charset="0"/>
                        </a:rPr>
                        <a:t>ICCoh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>
                          <a:sym typeface="+mn-ea"/>
                        </a:rPr>
                        <a:t>CBDir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>
                          <a:sym typeface="+mn-ea"/>
                        </a:rPr>
                        <a:t>TransCosine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>
                          <a:sym typeface="+mn-ea"/>
                        </a:rPr>
                        <a:t>BATC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Real_CBDir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>
                          <a:sym typeface="Arial" panose="020B0604020202090204" pitchFamily="34" charset="0"/>
                        </a:rPr>
                        <a:t>Sim_CBDir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Sim_CosSim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α_Spearman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γ_Spearman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scVelo_det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Steady-state linear regression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00"/>
                        <a:t>Gene-specific steady-state ratio (β/γ)</a:t>
                      </a:r>
                      <a:endParaRPr lang="en-US"/>
                    </a:p>
                  </a:txBody>
                  <a:tcPr marL="17780" marR="1778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scVelo_sto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Stochastic model using second-order moments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300"/>
                        <a:t>Gene-specific moment fit</a:t>
                      </a:r>
                      <a:endParaRPr lang="en-US"/>
                    </a:p>
                  </a:txBody>
                  <a:tcPr marL="17780" marR="1778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scVelo_dyn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Dynamical model with EM and analytical solution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Gene-specific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Gene-specific</a:t>
                      </a:r>
                      <a:endParaRPr lang="en-US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Yes </a:t>
                      </a:r>
                      <a:endParaRPr lang="en-US" altLang="zh-CN" sz="400"/>
                    </a:p>
                    <a:p>
                      <a:pPr algn="ctr">
                        <a:buNone/>
                      </a:pPr>
                      <a:r>
                        <a:rPr lang="en-US" altLang="zh-CN" sz="400"/>
                        <a:t>(model output)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MultiVelo (RNA_only)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RNA-only ODE with chromatin held fixed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Gene-specific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Gene-specific</a:t>
                      </a:r>
                      <a:endParaRPr lang="en-US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Yes </a:t>
                      </a:r>
                      <a:endParaRPr lang="en-US" altLang="zh-CN" sz="400"/>
                    </a:p>
                    <a:p>
                      <a:pPr algn="ctr">
                        <a:buNone/>
                      </a:pPr>
                      <a:r>
                        <a:rPr lang="en-US" altLang="zh-CN" sz="400"/>
                        <a:t>(model output)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UniTVelo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Unified-time dynamical model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Gene-specific RBF function</a:t>
                      </a:r>
                      <a:endParaRPr lang="en-US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Gene-specific</a:t>
                      </a:r>
                      <a:endParaRPr lang="en-US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Yes, not output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UniTVelo</a:t>
                      </a:r>
                      <a:endParaRPr lang="en-US" altLang="zh-CN" sz="500"/>
                    </a:p>
                    <a:p>
                      <a:pPr algn="ctr">
                        <a:buNone/>
                      </a:pPr>
                      <a:r>
                        <a:rPr lang="en-US" altLang="zh-CN" sz="500"/>
                        <a:t>(mode2)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Independent-time dynamical model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Gene-specific RBF function</a:t>
                      </a:r>
                      <a:endParaRPr lang="en-US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Gene-specific</a:t>
                      </a:r>
                      <a:endParaRPr lang="en-US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Yes, not output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Dynamo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RNA velocity estimation + SparseVFC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Constant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β fixed </a:t>
                      </a:r>
                      <a:endParaRPr lang="en-US" altLang="zh-CN" sz="400"/>
                    </a:p>
                    <a:p>
                      <a:pPr algn="ctr">
                        <a:buNone/>
                      </a:pPr>
                      <a:r>
                        <a:rPr lang="en-US" altLang="zh-CN" sz="400"/>
                        <a:t>γ gene-specific</a:t>
                      </a:r>
                      <a:endParaRPr lang="en-US" altLang="zh-CN" sz="400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TIvelo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Trajectory-guided velocity inference + orientation score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>
                          <a:sym typeface="+mn-ea"/>
                        </a:rPr>
                        <a:t>Explicit Output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cell2fate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Bayesian linearized ODE in Pyro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Module-weighted production</a:t>
                      </a:r>
                      <a:endParaRPr lang="en-US"/>
                    </a:p>
                  </a:txBody>
                  <a:tcPr marL="17780" marR="17780" marT="0" marB="0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Gene-specific</a:t>
                      </a:r>
                      <a:endParaRPr lang="en-US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TFvelo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Gene regulatory network + generalized EM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TF-regulated production</a:t>
                      </a:r>
                      <a:endParaRPr lang="en-US"/>
                    </a:p>
                  </a:txBody>
                  <a:tcPr marL="17780" marR="17780" marT="0" marB="0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>
                          <a:sym typeface="+mn-ea"/>
                        </a:rPr>
                        <a:t>——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veloAE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Autoencoder representation learning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>
                          <a:sym typeface="+mn-ea"/>
                        </a:rPr>
                        <a:t>β fixed</a:t>
                      </a:r>
                      <a:endParaRPr lang="en-US" altLang="zh-CN" sz="400"/>
                    </a:p>
                    <a:p>
                      <a:pPr algn="ctr">
                        <a:buNone/>
                      </a:pPr>
                      <a:r>
                        <a:rPr lang="en-US" altLang="zh-CN" sz="400">
                          <a:sym typeface="+mn-ea"/>
                        </a:rPr>
                        <a:t>latent-space γ</a:t>
                      </a:r>
                      <a:endParaRPr lang="en-US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veloVI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Deep generative model (VAE)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Latent state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Gene-specific</a:t>
                      </a:r>
                      <a:endParaRPr lang="en-US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Yes (latent velocity output)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DeepKINET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Deep generative kinetic model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>
                          <a:sym typeface="+mn-ea"/>
                        </a:rPr>
                        <a:t>Cell-specific (VAE Output)</a:t>
                      </a:r>
                      <a:endParaRPr lang="en-US"/>
                    </a:p>
                  </a:txBody>
                  <a:tcPr marL="17780" marR="1778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Yes </a:t>
                      </a:r>
                      <a:endParaRPr lang="en-US" altLang="zh-CN" sz="400"/>
                    </a:p>
                    <a:p>
                      <a:pPr algn="ctr">
                        <a:buNone/>
                      </a:pPr>
                      <a:r>
                        <a:rPr lang="en-US" altLang="zh-CN" sz="400"/>
                        <a:t>(model output)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TSvelo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Neural ordinary differential equation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Continuous function α(t)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Gene-specific</a:t>
                      </a:r>
                      <a:endParaRPr lang="en-US" altLang="zh-CN" sz="400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Yes </a:t>
                      </a:r>
                      <a:endParaRPr lang="en-US" altLang="zh-CN" sz="400"/>
                    </a:p>
                    <a:p>
                      <a:pPr algn="ctr">
                        <a:buNone/>
                      </a:pPr>
                      <a:r>
                        <a:rPr lang="en-US" altLang="zh-CN" sz="400"/>
                        <a:t>(model output)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cellDancer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Deep neural network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Cell-specific</a:t>
                      </a:r>
                      <a:endParaRPr lang="en-US" altLang="zh-CN" sz="400"/>
                    </a:p>
                  </a:txBody>
                  <a:tcPr marL="17780" marR="1778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Cell-specific (DNN Output)</a:t>
                      </a:r>
                      <a:endParaRPr lang="en-US" altLang="zh-CN" sz="400"/>
                    </a:p>
                  </a:txBody>
                  <a:tcPr marL="17780" marR="1778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Yes </a:t>
                      </a:r>
                      <a:endParaRPr lang="en-US" altLang="zh-CN" sz="400"/>
                    </a:p>
                    <a:p>
                      <a:pPr algn="ctr">
                        <a:buNone/>
                      </a:pPr>
                      <a:r>
                        <a:rPr lang="en-US" altLang="zh-CN" sz="400"/>
                        <a:t>(model output)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DeepVelo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Graph convolutional network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Cell-specific</a:t>
                      </a:r>
                      <a:endParaRPr lang="en-US" altLang="zh-CN" sz="400"/>
                    </a:p>
                  </a:txBody>
                  <a:tcPr marL="17780" marR="1778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Cell-specific (GCN Output)</a:t>
                      </a:r>
                      <a:endParaRPr lang="en-US" altLang="zh-CN" sz="400"/>
                    </a:p>
                  </a:txBody>
                  <a:tcPr marL="17780" marR="1778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>
                          <a:sym typeface="+mn-ea"/>
                        </a:rPr>
                        <a:t>Yes </a:t>
                      </a:r>
                      <a:endParaRPr lang="en-US" altLang="zh-CN" sz="4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400">
                          <a:sym typeface="+mn-ea"/>
                        </a:rPr>
                        <a:t>(model output)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SDEvelo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Stochastic differential equation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Sigmoid function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Gene-specific</a:t>
                      </a:r>
                      <a:endParaRPr lang="en-US" altLang="zh-CN" sz="400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DeepVelo_scv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Neural ODE + VAE reconstruction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from scVelo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GraphVelo_scv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Tangent-space projection + kNN velocity correction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from scVelo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500"/>
                        <a:t>GraphVelo_dyn</a:t>
                      </a:r>
                      <a:endParaRPr lang="en-US" altLang="zh-CN" sz="5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Tangent-space projection + kNN velocity correction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0" marR="0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6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L w="3175">
                      <a:solidFill>
                        <a:schemeClr val="bg1"/>
                      </a:solidFill>
                      <a:prstDash val="solid"/>
                    </a:lnL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400"/>
                        <a:t>——</a:t>
                      </a:r>
                      <a:endParaRPr lang="en-US" altLang="zh-CN" sz="400"/>
                    </a:p>
                  </a:txBody>
                  <a:tcPr marL="36195" marR="36195" marT="36195" marB="36195" anchor="ctr" anchorCtr="0">
                    <a:lnR w="3175">
                      <a:solidFill>
                        <a:schemeClr val="bg1"/>
                      </a:solidFill>
                      <a:prstDash val="solid"/>
                    </a:lnR>
                    <a:lnT w="3175">
                      <a:solidFill>
                        <a:schemeClr val="bg1"/>
                      </a:solidFill>
                      <a:prstDash val="solid"/>
                    </a:lnT>
                    <a:lnB w="31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</a:tcPr>
                </a:tc>
              </a:tr>
            </a:tbl>
          </a:graphicData>
        </a:graphic>
      </p:graphicFrame>
      <p:graphicFrame>
        <p:nvGraphicFramePr>
          <p:cNvPr id="11" name="图表 10"/>
          <p:cNvGraphicFramePr/>
          <p:nvPr/>
        </p:nvGraphicFramePr>
        <p:xfrm>
          <a:off x="2453640" y="524193"/>
          <a:ext cx="907200" cy="538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2" name="图表 11"/>
          <p:cNvGraphicFramePr/>
          <p:nvPr/>
        </p:nvGraphicFramePr>
        <p:xfrm>
          <a:off x="3291523" y="525780"/>
          <a:ext cx="683895" cy="5382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图表 12"/>
          <p:cNvGraphicFramePr/>
          <p:nvPr/>
        </p:nvGraphicFramePr>
        <p:xfrm>
          <a:off x="2861628" y="525780"/>
          <a:ext cx="821055" cy="5382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图表 13"/>
          <p:cNvGraphicFramePr/>
          <p:nvPr/>
        </p:nvGraphicFramePr>
        <p:xfrm>
          <a:off x="3743325" y="523875"/>
          <a:ext cx="720090" cy="5382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图表 17"/>
          <p:cNvGraphicFramePr/>
          <p:nvPr/>
        </p:nvGraphicFramePr>
        <p:xfrm>
          <a:off x="4159885" y="523875"/>
          <a:ext cx="676910" cy="5382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图表 22"/>
          <p:cNvGraphicFramePr/>
          <p:nvPr/>
        </p:nvGraphicFramePr>
        <p:xfrm>
          <a:off x="4557395" y="521970"/>
          <a:ext cx="666000" cy="538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4" name="图表 23"/>
          <p:cNvGraphicFramePr/>
          <p:nvPr/>
        </p:nvGraphicFramePr>
        <p:xfrm>
          <a:off x="5020945" y="522605"/>
          <a:ext cx="666000" cy="538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5" name="图表 24"/>
          <p:cNvGraphicFramePr/>
          <p:nvPr/>
        </p:nvGraphicFramePr>
        <p:xfrm>
          <a:off x="5446078" y="525780"/>
          <a:ext cx="666000" cy="538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6" name="图表 25"/>
          <p:cNvGraphicFramePr/>
          <p:nvPr/>
        </p:nvGraphicFramePr>
        <p:xfrm>
          <a:off x="5870893" y="525780"/>
          <a:ext cx="666000" cy="538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7" name="图表 26"/>
          <p:cNvGraphicFramePr/>
          <p:nvPr/>
        </p:nvGraphicFramePr>
        <p:xfrm>
          <a:off x="6328093" y="515938"/>
          <a:ext cx="666000" cy="538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custDataLst>
      <p:tags r:id="rId1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TABLE_ENDDRAG_ORIGIN_RECT" val="539*411"/>
  <p:tag name="TABLE_ENDDRAG_RECT" val="0*0*539*41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2515</Words>
  <Application>WPS 演示</Application>
  <PresentationFormat>宽屏</PresentationFormat>
  <Paragraphs>431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方正雅意黑 GB18030L2</vt:lpstr>
      <vt:lpstr>微软雅黑</vt:lpstr>
      <vt:lpstr>宋体</vt:lpstr>
      <vt:lpstr>Arial Unicode MS</vt:lpstr>
      <vt:lpstr>Calibri</vt:lpstr>
      <vt:lpstr>Helvetica Neue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赵泽临</cp:lastModifiedBy>
  <cp:revision>30</cp:revision>
  <dcterms:created xsi:type="dcterms:W3CDTF">2026-10-13T07:24:40Z</dcterms:created>
  <dcterms:modified xsi:type="dcterms:W3CDTF">2026-10-13T07:24:40Z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0E0536DB00191A2B636EBF6ADFF7DDC2_43</vt:lpwstr>
  </property>
</Properties>
</file>