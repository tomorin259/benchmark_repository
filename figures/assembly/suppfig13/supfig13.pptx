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6858000" cy="990346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74325" y="1320480"/>
            <a:ext cx="5512050" cy="3711901"/>
          </a:xfrm>
        </p:spPr>
        <p:txBody>
          <a:bodyPr lIns="90000" tIns="46800" rIns="90000" bIns="46800" anchor="b">
            <a:normAutofit/>
          </a:bodyPr>
          <a:lstStyle>
            <a:lvl1pPr algn="ctr">
              <a:buNone/>
              <a:defRPr sz="45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74325" y="5141554"/>
            <a:ext cx="5512050" cy="212628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17" name="页脚占位符 16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18" name="灯片编号占位符 1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2225" y="2152278"/>
            <a:ext cx="6170175" cy="6872735"/>
          </a:xfrm>
        </p:spPr>
        <p:txBody>
          <a:bodyPr vert="horz"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19825" y="5557453"/>
            <a:ext cx="4369950" cy="1107332"/>
          </a:xfrm>
        </p:spPr>
        <p:txBody>
          <a:bodyPr lIns="90000" tIns="46800" rIns="90000" bIns="46800" anchor="b">
            <a:normAutofit/>
          </a:bodyPr>
          <a:lstStyle>
            <a:lvl1pPr>
              <a:buNone/>
              <a:defRPr sz="3300"/>
            </a:lvl1pPr>
          </a:lstStyle>
          <a:p>
            <a:r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119825" y="6664785"/>
            <a:ext cx="4369950" cy="125289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2225" y="2167875"/>
            <a:ext cx="2911950" cy="6857138"/>
          </a:xfrm>
        </p:spPr>
        <p:txBody>
          <a:bodyPr vert="horz"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3606525" y="2167875"/>
            <a:ext cx="2911950" cy="6857138"/>
          </a:xfrm>
        </p:spPr>
        <p:txBody>
          <a:bodyPr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42225" y="2063900"/>
            <a:ext cx="3005100" cy="551066"/>
          </a:xfrm>
        </p:spPr>
        <p:txBody>
          <a:bodyPr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342225" y="2677351"/>
            <a:ext cx="3005100" cy="6347662"/>
          </a:xfrm>
        </p:spPr>
        <p:txBody>
          <a:bodyPr vert="horz" lIns="101600" tIns="0" rIns="82550" bIns="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 hasCustomPrompt="1"/>
          </p:nvPr>
        </p:nvSpPr>
        <p:spPr>
          <a:xfrm>
            <a:off x="3507609" y="2053111"/>
            <a:ext cx="3005100" cy="551066"/>
          </a:xfrm>
        </p:spPr>
        <p:txBody>
          <a:bodyPr vert="horz"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3507609" y="2677351"/>
            <a:ext cx="3005100" cy="6347662"/>
          </a:xfrm>
        </p:spPr>
        <p:txBody>
          <a:bodyPr vert="horz" lIns="101600" tIns="0" rIns="82550" bIns="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/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42225" y="2245856"/>
            <a:ext cx="2943606" cy="6654388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200"/>
            </a:lvl1pPr>
          </a:lstStyle>
          <a:p>
            <a:pPr lvl="0">
              <a:buNone/>
            </a:pP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3572100" y="2245856"/>
            <a:ext cx="2940300" cy="6654388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200"/>
            </a:lvl1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 hasCustomPrompt="1"/>
          </p:nvPr>
        </p:nvSpPr>
        <p:spPr>
          <a:xfrm>
            <a:off x="5757075" y="1320480"/>
            <a:ext cx="587250" cy="7262640"/>
          </a:xfrm>
        </p:spPr>
        <p:txBody>
          <a:bodyPr vert="eaVert" lIns="90000" tIns="46800" rIns="90000" bIns="46800" anchor="ctr">
            <a:normAutofit/>
          </a:bodyPr>
          <a:lstStyle>
            <a:lvl1pPr>
              <a:buNone/>
              <a:defRPr sz="2100"/>
            </a:lvl1pPr>
          </a:lstStyle>
          <a:p>
            <a:pPr lvl="0">
              <a:buNone/>
            </a:pPr>
            <a: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514350" y="1320480"/>
            <a:ext cx="5157675" cy="7262640"/>
          </a:xfrm>
        </p:spPr>
        <p:txBody>
          <a:bodyPr vert="eaVert" lIns="46800" tIns="46800" rIns="46800" bIns="46800"/>
          <a:lstStyle>
            <a:lvl1pPr marL="171450" indent="-171450">
              <a:spcAft>
                <a:spcPts val="1000"/>
              </a:spcAft>
              <a:buNone/>
              <a:defRPr spc="300"/>
            </a:lvl1pPr>
            <a:lvl2pPr marL="514350" indent="-171450">
              <a:buNone/>
              <a:defRPr spc="300"/>
            </a:lvl2pPr>
            <a:lvl3pPr marL="857250" indent="-171450">
              <a:buNone/>
              <a:defRPr spc="300"/>
            </a:lvl3pPr>
            <a:lvl4pPr marL="1200150" indent="-171450">
              <a:buNone/>
              <a:defRPr spc="300"/>
            </a:lvl4pPr>
            <a:lvl5pPr marL="1543050" indent="-171450">
              <a:buNone/>
              <a:defRPr spc="300"/>
            </a:lvl5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/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7" name="内容占位符 6"/>
          <p:cNvSpPr>
            <a:spLocks noGrp="1"/>
          </p:cNvSpPr>
          <p:nvPr>
            <p:ph idx="13"/>
          </p:nvPr>
        </p:nvSpPr>
        <p:spPr>
          <a:xfrm>
            <a:off x="342225" y="1117729"/>
            <a:ext cx="6172200" cy="7917681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/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74325" y="3587131"/>
            <a:ext cx="5512050" cy="1471243"/>
          </a:xfrm>
        </p:spPr>
        <p:txBody>
          <a:bodyPr vert="horz" lIns="90000" tIns="46800" rIns="90000" bIns="46800" anchor="t">
            <a:normAutofit/>
          </a:bodyPr>
          <a:lstStyle>
            <a:lvl1pPr algn="ctr">
              <a:buNone/>
              <a:defRPr sz="4500"/>
            </a:lvl1pPr>
          </a:lstStyle>
          <a:p>
            <a:pPr lvl="0">
              <a:buNone/>
            </a:pPr>
            <a: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3"/>
          </p:nvPr>
        </p:nvSpPr>
        <p:spPr>
          <a:xfrm>
            <a:off x="674325" y="5141554"/>
            <a:ext cx="5512050" cy="681035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00" spc="200"/>
            </a:lvl1pPr>
          </a:lstStyle>
          <a:p>
            <a:pPr lvl="0">
              <a:buNone/>
            </a:pPr>
            <a:r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42225" y="878587"/>
            <a:ext cx="6170175" cy="1018953"/>
          </a:xfrm>
          <a:prstGeom prst="rect">
            <a:avLst/>
          </a:prstGeom>
        </p:spPr>
        <p:txBody>
          <a:bodyPr vert="horz" lIns="90170" tIns="46990" rIns="90170" bIns="4699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225" y="2152278"/>
            <a:ext cx="6170175" cy="6872735"/>
          </a:xfrm>
          <a:prstGeom prst="rect">
            <a:avLst/>
          </a:prstGeom>
        </p:spPr>
        <p:txBody>
          <a:bodyPr vert="horz"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344250" y="9118590"/>
            <a:ext cx="1518750" cy="457489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>
              <a:buNone/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2315250" y="9118590"/>
            <a:ext cx="2227500" cy="457489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4993650" y="9118590"/>
            <a:ext cx="1518750" cy="457489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r">
              <a:buNone/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>
        <a:lnSpc>
          <a:spcPct val="100000"/>
        </a:lnSpc>
        <a:spcBef>
          <a:spcPct val="0"/>
        </a:spcBef>
        <a:buNone/>
        <a:defRPr sz="2700" b="0" u="none" kern="1200" cap="none" spc="300" baseline="0">
          <a:solidFill>
            <a:schemeClr val="tx1">
              <a:lumMod val="85000"/>
              <a:lumOff val="15000"/>
            </a:schemeClr>
          </a:solidFill>
          <a:latin typeface="+mj-lt"/>
          <a:ea typeface="+mj-lt"/>
          <a:cs typeface="+mj-lt"/>
        </a:defRPr>
      </a:lvl1pPr>
    </p:titleStyle>
    <p:bodyStyle>
      <a:lvl1pPr marL="171450" indent="-171450" algn="l" defTabSz="685800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/>
        <a:buChar char="●"/>
        <a:defRPr sz="135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marL="514350" indent="-171450" algn="l" defTabSz="685800">
        <a:lnSpc>
          <a:spcPct val="120000"/>
        </a:lnSpc>
        <a:spcBef>
          <a:spcPts val="0"/>
        </a:spcBef>
        <a:spcAft>
          <a:spcPts val="600"/>
        </a:spcAft>
        <a:buFont typeface="Arial" panose="020B0604020202090204"/>
        <a:buChar char="●"/>
        <a:tabLst>
          <a:tab pos="1207135" algn="l"/>
          <a:tab pos="1207135" algn="l"/>
          <a:tab pos="1207135" algn="l"/>
          <a:tab pos="1207135" algn="l"/>
        </a:tabLst>
        <a:defRPr sz="12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marL="857250" indent="-171450" algn="l" defTabSz="685800">
        <a:lnSpc>
          <a:spcPct val="120000"/>
        </a:lnSpc>
        <a:spcBef>
          <a:spcPts val="0"/>
        </a:spcBef>
        <a:spcAft>
          <a:spcPts val="600"/>
        </a:spcAft>
        <a:buFont typeface="Arial" panose="020B0604020202090204"/>
        <a:buChar char="●"/>
        <a:defRPr sz="120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marL="1200150" indent="-171450" algn="l" defTabSz="685800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/>
        <a:buChar char=""/>
        <a:defRPr sz="105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marL="1543050" indent="-171450" algn="l" defTabSz="685800">
        <a:lnSpc>
          <a:spcPct val="120000"/>
        </a:lnSpc>
        <a:spcBef>
          <a:spcPts val="0"/>
        </a:spcBef>
        <a:spcAft>
          <a:spcPts val="300"/>
        </a:spcAft>
        <a:buFont typeface="Arial" panose="020B0604020202090204"/>
        <a:buChar char="•"/>
        <a:defRPr sz="1050" u="non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marL="1885950" indent="-171450" algn="l" defTabSz="685800">
        <a:lnSpc>
          <a:spcPct val="90000"/>
        </a:lnSpc>
        <a:spcBef>
          <a:spcPts val="375"/>
        </a:spcBef>
        <a:buFont typeface="Arial" panose="020B060402020209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 defTabSz="685800">
        <a:lnSpc>
          <a:spcPct val="90000"/>
        </a:lnSpc>
        <a:spcBef>
          <a:spcPts val="375"/>
        </a:spcBef>
        <a:buFont typeface="Arial" panose="020B060402020209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 defTabSz="685800">
        <a:lnSpc>
          <a:spcPct val="90000"/>
        </a:lnSpc>
        <a:spcBef>
          <a:spcPts val="375"/>
        </a:spcBef>
        <a:buFont typeface="Arial" panose="020B060402020209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 defTabSz="685800">
        <a:lnSpc>
          <a:spcPct val="90000"/>
        </a:lnSpc>
        <a:spcBef>
          <a:spcPts val="375"/>
        </a:spcBef>
        <a:buFont typeface="Arial" panose="020B060402020209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Panel c"/>
          <p:cNvSpPr>
            <a:spLocks noGrp="1"/>
          </p:cNvSpPr>
          <p:nvPr/>
        </p:nvSpPr>
        <p:spPr>
          <a:xfrm>
            <a:off x="0" y="3785362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3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</a:t>
            </a:r>
            <a:endParaRPr sz="1300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Panel d"/>
          <p:cNvSpPr>
            <a:spLocks noGrp="1"/>
          </p:cNvSpPr>
          <p:nvPr/>
        </p:nvSpPr>
        <p:spPr>
          <a:xfrm>
            <a:off x="0" y="5733034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3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</a:t>
            </a:r>
            <a:endParaRPr sz="1300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20" y="3959225"/>
            <a:ext cx="6506845" cy="1736725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25" y="5970905"/>
            <a:ext cx="6492240" cy="2580005"/>
          </a:xfrm>
          <a:prstGeom prst="rect">
            <a:avLst/>
          </a:prstGeom>
        </p:spPr>
      </p:pic>
      <p:sp>
        <p:nvSpPr>
          <p:cNvPr id="19" name="Bone-marrow original condition"/>
          <p:cNvSpPr>
            <a:spLocks noGrp="1"/>
          </p:cNvSpPr>
          <p:nvPr/>
        </p:nvSpPr>
        <p:spPr>
          <a:xfrm>
            <a:off x="274320" y="5733034"/>
            <a:ext cx="2194560" cy="21031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8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Original root (Mono_1)</a:t>
            </a:r>
            <a:endParaRPr sz="800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Bone-marrow HSC condition"/>
          <p:cNvSpPr>
            <a:spLocks noGrp="1"/>
          </p:cNvSpPr>
          <p:nvPr/>
        </p:nvSpPr>
        <p:spPr>
          <a:xfrm>
            <a:off x="2514600" y="5733034"/>
            <a:ext cx="2194560" cy="21031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8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HSC_1 root</a:t>
            </a:r>
            <a:endParaRPr sz="800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1" name="Bone-marrow metric heading"/>
          <p:cNvSpPr>
            <a:spLocks noGrp="1"/>
          </p:cNvSpPr>
          <p:nvPr/>
        </p:nvSpPr>
        <p:spPr>
          <a:xfrm>
            <a:off x="4828032" y="5733034"/>
            <a:ext cx="1737360" cy="21031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8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Cell-level scores</a:t>
            </a:r>
            <a:endParaRPr sz="800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/>
          <a:srcRect l="3966"/>
          <a:stretch>
            <a:fillRect/>
          </a:stretch>
        </p:blipFill>
        <p:spPr>
          <a:xfrm>
            <a:off x="131445" y="0"/>
            <a:ext cx="6724015" cy="3998595"/>
          </a:xfrm>
          <a:prstGeom prst="rect">
            <a:avLst/>
          </a:prstGeom>
        </p:spPr>
      </p:pic>
      <p:sp>
        <p:nvSpPr>
          <p:cNvPr id="2" name="Panel a"/>
          <p:cNvSpPr>
            <a:spLocks noGrp="1"/>
          </p:cNvSpPr>
          <p:nvPr/>
        </p:nvSpPr>
        <p:spPr>
          <a:xfrm>
            <a:off x="0" y="0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3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</a:t>
            </a:r>
            <a:endParaRPr sz="1300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Panel b"/>
          <p:cNvSpPr>
            <a:spLocks noGrp="1"/>
          </p:cNvSpPr>
          <p:nvPr/>
        </p:nvSpPr>
        <p:spPr>
          <a:xfrm>
            <a:off x="1664335" y="0"/>
            <a:ext cx="1714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3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00" b="1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</a:t>
            </a:r>
            <a:endParaRPr sz="1300" b="1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</Words>
  <Application>WPS 演示</Application>
  <PresentationFormat>Converted Presentation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宋体</vt:lpstr>
      <vt:lpstr>Wingdings</vt:lpstr>
      <vt:lpstr>Arial</vt:lpstr>
      <vt:lpstr>Wingdings</vt:lpstr>
      <vt:lpstr>微软雅黑</vt:lpstr>
      <vt:lpstr>方正雅意黑 GB18030L2</vt:lpstr>
      <vt:lpstr>宋体</vt:lpstr>
      <vt:lpstr>Arial Unicode MS</vt:lpstr>
      <vt:lpstr>Calibri</vt:lpstr>
      <vt:lpstr>Helvetica Neue</vt:lpstr>
      <vt:lpstr>汉仪书宋二KW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赵泽临</cp:lastModifiedBy>
  <cp:revision>1</cp:revision>
  <dcterms:created xsi:type="dcterms:W3CDTF">2026-10-01T13:22:20Z</dcterms:created>
  <dcterms:modified xsi:type="dcterms:W3CDTF">2026-10-01T13:22:20Z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B08CBE53B5BDC39D8C5EBE6AF708C547_42</vt:lpwstr>
  </property>
  <property fmtid="{D5CDD505-2E9C-101B-9397-08002B2CF9AE}" pid="3" name="KSOProductBuildVer">
    <vt:lpwstr>2052-12.1.26046.26046</vt:lpwstr>
  </property>
</Properties>
</file>