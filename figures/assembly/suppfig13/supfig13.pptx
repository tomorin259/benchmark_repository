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6858000" cy="990346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Supplemental Figure 13: TIvelo root-dependent trajectory orientation.</a:t>
            </a:r>
          </a:p>
          <a:p>
            <a:r>
              <a:t>Template: /Users/tomorin/Desktop/pdf_new/supfig12.pptx; original slide canvas and Arial panel labels retained.</a:t>
            </a:r>
          </a:p>
          <a:p>
            <a:r>
              <a:t>A/B: frozen stage-tracing simulation materials. C: separate original-root vs known-early-root paired refits.</a:t>
            </a:r>
          </a:p>
          <a:p>
            <a:r>
              <a:t>D: actual native full-data DPT, not Palantir pseudotime; identical bone-marrow t-SNE coordinates; three paired optimizer seeds.</a:t>
            </a:r>
          </a:p>
          <a:p>
            <a:r>
              <a:t>Simulation root states: /Users/tomorin/Desktop/tivelo_gene_ABC_selected_20260930/assembly_preview_20261001/redesign_v3/ab_assets/state_selection_material.png</a:t>
            </a:r>
          </a:p>
          <a:p>
            <a:r>
              <a:t>Known bins and path-wise DPT: /Users/tomorin/Desktop/tivelo_gene_ABC_selected_20260930/assembly_preview_20261001/redesign_v3/ab_assets/order_comparison_material.png</a:t>
            </a:r>
          </a:p>
          <a:p>
            <a:r>
              <a:t>Paired simulation gene metrics: /Users/tomorin/Desktop/tivelo_gene_ABC_selected_20260930/assembly_preview_20261001/redesign_v3/tivelo_root_control_gene_metrics.png</a:t>
            </a:r>
          </a:p>
          <a:p>
            <a:r>
              <a:t>Bone marrow global DPT and paired cell metrics: /Users/tomorin/Desktop/tivelo_gene_ABC_selected_20260930/assembly_preview_20261001/redesign_v3/bonemarrow_root_control_row.png</a:t>
            </a:r>
          </a:p>
          <a:p>
            <a:r>
              <a:t>Existing plot assets embedded without regenerating data or adding a figure caption.</a:t>
            </a:r>
          </a:p>
          <a:p>
            <a:r>
              <a:t>A/B updated from approved compact material: one unlabeled shared 0--1 colorbar at bottom right. Top row normal + branching; bottom row hybrid. Known bins divided by 9; path-wise DPT unchanged. All a/b/c/d labels are independent native text boxes. C/D source images and placements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74325" y="1320480"/>
            <a:ext cx="5512050" cy="3711901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45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74325" y="5141554"/>
            <a:ext cx="5512050" cy="2126285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17" name="页脚占位符 1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18" name="灯片编号占位符 1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225" y="2152278"/>
            <a:ext cx="6170175" cy="6872735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119825" y="5557453"/>
            <a:ext cx="4369950" cy="1107332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33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1119825" y="6664785"/>
            <a:ext cx="4369950" cy="1252896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225" y="2167875"/>
            <a:ext cx="2911950" cy="6857138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3606525" y="2167875"/>
            <a:ext cx="2911950" cy="6857138"/>
          </a:xfrm>
        </p:spPr>
        <p:txBody>
          <a:bodyPr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42225" y="2063900"/>
            <a:ext cx="3005100" cy="551066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342225" y="2677351"/>
            <a:ext cx="3005100" cy="6347662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3507609" y="2053111"/>
            <a:ext cx="3005100" cy="551066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3507609" y="2677351"/>
            <a:ext cx="3005100" cy="6347662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/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42225" y="2245856"/>
            <a:ext cx="2943606" cy="6654388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200"/>
            </a:lvl1pPr>
          </a:lstStyle>
          <a:p>
            <a:pPr lvl="0">
              <a:buNone/>
            </a:pP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3572100" y="2245856"/>
            <a:ext cx="2940300" cy="6654388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 hasCustomPrompt="1"/>
          </p:nvPr>
        </p:nvSpPr>
        <p:spPr>
          <a:xfrm>
            <a:off x="5757075" y="1320480"/>
            <a:ext cx="587250" cy="726264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1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514350" y="1320480"/>
            <a:ext cx="5157675" cy="7262640"/>
          </a:xfrm>
        </p:spPr>
        <p:txBody>
          <a:bodyPr vert="eaVert" lIns="46800" tIns="46800" rIns="46800" bIns="46800"/>
          <a:lstStyle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7" name="内容占位符 6"/>
          <p:cNvSpPr>
            <a:spLocks noGrp="1"/>
          </p:cNvSpPr>
          <p:nvPr>
            <p:ph idx="13"/>
          </p:nvPr>
        </p:nvSpPr>
        <p:spPr>
          <a:xfrm>
            <a:off x="342225" y="1117729"/>
            <a:ext cx="6172200" cy="7917681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74325" y="3587131"/>
            <a:ext cx="5512050" cy="1471243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45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idx="13"/>
          </p:nvPr>
        </p:nvSpPr>
        <p:spPr>
          <a:xfrm>
            <a:off x="674325" y="5141554"/>
            <a:ext cx="5512050" cy="681035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800" spc="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2225" y="2152278"/>
            <a:ext cx="6170175" cy="6872735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3442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2315250" y="9118590"/>
            <a:ext cx="222750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49936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>
        <a:lnSpc>
          <a:spcPct val="100000"/>
        </a:lnSpc>
        <a:spcBef>
          <a:spcPct val="0"/>
        </a:spcBef>
        <a:buNone/>
        <a:defRPr sz="27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/>
        <a:buChar char="●"/>
        <a:defRPr sz="13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tabLst>
          <a:tab pos="1207135" algn="l"/>
          <a:tab pos="1207135" algn="l"/>
          <a:tab pos="1207135" algn="l"/>
          <a:tab pos="1207135" algn="l"/>
        </a:tabLst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/>
        <a:buChar char="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 panose="020B0604020202090204"/>
        <a:buChar char="•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Panel c"/>
          <p:cNvSpPr>
            <a:spLocks noGrp="1"/>
          </p:cNvSpPr>
          <p:nvPr/>
        </p:nvSpPr>
        <p:spPr>
          <a:xfrm>
            <a:off x="0" y="3785362"/>
            <a:ext cx="1714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</a:t>
            </a:r>
            <a:endParaRPr sz="1300" b="1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Panel d"/>
          <p:cNvSpPr>
            <a:spLocks noGrp="1"/>
          </p:cNvSpPr>
          <p:nvPr/>
        </p:nvSpPr>
        <p:spPr>
          <a:xfrm>
            <a:off x="0" y="5733034"/>
            <a:ext cx="1714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</a:t>
            </a:r>
            <a:endParaRPr sz="1300" b="1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20" y="3959225"/>
            <a:ext cx="6506845" cy="1736725"/>
          </a:xfrm>
          <a:prstGeom prst="rect">
            <a:avLst/>
          </a:prstGeom>
        </p:spPr>
      </p:pic>
      <p:pic>
        <p:nvPicPr>
          <p:cNvPr id="28" name="图片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5" y="5970905"/>
            <a:ext cx="6492240" cy="2580005"/>
          </a:xfrm>
          <a:prstGeom prst="rect">
            <a:avLst/>
          </a:prstGeom>
        </p:spPr>
      </p:pic>
      <p:sp>
        <p:nvSpPr>
          <p:cNvPr id="19" name="Bone-marrow original condition"/>
          <p:cNvSpPr>
            <a:spLocks noGrp="1"/>
          </p:cNvSpPr>
          <p:nvPr/>
        </p:nvSpPr>
        <p:spPr>
          <a:xfrm>
            <a:off x="274320" y="5733034"/>
            <a:ext cx="2194560" cy="21031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8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8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Original root (Mono_1)</a:t>
            </a:r>
            <a:endParaRPr sz="800" b="1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Bone-marrow HSC condition"/>
          <p:cNvSpPr>
            <a:spLocks noGrp="1"/>
          </p:cNvSpPr>
          <p:nvPr/>
        </p:nvSpPr>
        <p:spPr>
          <a:xfrm>
            <a:off x="2514600" y="5733034"/>
            <a:ext cx="2194560" cy="21031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8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8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HSC_1 root</a:t>
            </a:r>
            <a:endParaRPr sz="800" b="1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Bone-marrow metric heading"/>
          <p:cNvSpPr>
            <a:spLocks noGrp="1"/>
          </p:cNvSpPr>
          <p:nvPr/>
        </p:nvSpPr>
        <p:spPr>
          <a:xfrm>
            <a:off x="4828032" y="5733034"/>
            <a:ext cx="1737360" cy="21031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 sz="8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8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Cell-level scores</a:t>
            </a:r>
            <a:endParaRPr sz="800" b="1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/>
          <a:srcRect l="3966"/>
          <a:stretch>
            <a:fillRect/>
          </a:stretch>
        </p:blipFill>
        <p:spPr>
          <a:xfrm>
            <a:off x="131445" y="0"/>
            <a:ext cx="6724015" cy="3998595"/>
          </a:xfrm>
          <a:prstGeom prst="rect">
            <a:avLst/>
          </a:prstGeom>
        </p:spPr>
      </p:pic>
      <p:sp>
        <p:nvSpPr>
          <p:cNvPr id="2" name="Panel a"/>
          <p:cNvSpPr>
            <a:spLocks noGrp="1"/>
          </p:cNvSpPr>
          <p:nvPr/>
        </p:nvSpPr>
        <p:spPr>
          <a:xfrm>
            <a:off x="0" y="0"/>
            <a:ext cx="1714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</a:t>
            </a:r>
            <a:endParaRPr sz="1300" b="1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Panel b"/>
          <p:cNvSpPr>
            <a:spLocks noGrp="1"/>
          </p:cNvSpPr>
          <p:nvPr/>
        </p:nvSpPr>
        <p:spPr>
          <a:xfrm>
            <a:off x="1664335" y="0"/>
            <a:ext cx="1714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300" b="1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</a:t>
            </a:r>
            <a:endParaRPr sz="1300" b="1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</Words>
  <Application>WPS 演示</Application>
  <PresentationFormat>Converted Presentation</PresentationFormat>
  <Paragraphs>14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4" baseType="lpstr">
      <vt:lpstr>Arial</vt:lpstr>
      <vt:lpstr>宋体</vt:lpstr>
      <vt:lpstr>Wingdings</vt:lpstr>
      <vt:lpstr>Arial</vt:lpstr>
      <vt:lpstr>Wingdings</vt:lpstr>
      <vt:lpstr>微软雅黑</vt:lpstr>
      <vt:lpstr>方正雅意黑 GB18030L2</vt:lpstr>
      <vt:lpstr>宋体</vt:lpstr>
      <vt:lpstr>Arial Unicode MS</vt:lpstr>
      <vt:lpstr>Calibri</vt:lpstr>
      <vt:lpstr>Helvetica Neue</vt:lpstr>
      <vt:lpstr>汉仪书宋二KW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赵泽临</cp:lastModifiedBy>
  <cp:revision>1</cp:revision>
  <dcterms:created xsi:type="dcterms:W3CDTF">2026-10-01T13:22:20Z</dcterms:created>
  <dcterms:modified xsi:type="dcterms:W3CDTF">2026-10-01T13:22:20Z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B08CBE53B5BDC39D8C5EBE6AF708C547_42</vt:lpwstr>
  </property>
  <property fmtid="{D5CDD505-2E9C-101B-9397-08002B2CF9AE}" pid="3" name="KSOProductBuildVer">
    <vt:lpwstr>2052-12.1.26046.26046</vt:lpwstr>
  </property>
</Properties>
</file>