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6858000" cy="990346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17" name="页脚占位符 1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18" name="灯片编号占位符 1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52278"/>
            <a:ext cx="6170175" cy="6872735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33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225" y="2027509"/>
            <a:ext cx="3005100" cy="597855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3507609" y="2027509"/>
            <a:ext cx="3005100" cy="597855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anchor="ctr">
            <a:normAutofit/>
          </a:bodyPr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/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 hasCustomPrompt="1"/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1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buNone/>
              <a:defRPr spc="300"/>
            </a:lvl1pPr>
            <a:lvl2pPr marL="514350" indent="-171450">
              <a:buNone/>
              <a:defRPr spc="300"/>
            </a:lvl2pPr>
            <a:lvl3pPr marL="857250" indent="-171450">
              <a:buNone/>
              <a:defRPr spc="300"/>
            </a:lvl3pPr>
            <a:lvl4pPr marL="1200150" indent="-171450">
              <a:buNone/>
              <a:defRPr spc="300"/>
            </a:lvl4pPr>
            <a:lvl5pPr marL="1543050" indent="-171450">
              <a:buNone/>
              <a:defRPr spc="30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7" name="内容占位符 6"/>
          <p:cNvSpPr>
            <a:spLocks noGrp="1"/>
          </p:cNvSpPr>
          <p:nvPr>
            <p:ph idx="13"/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74325" y="3462361"/>
            <a:ext cx="5512050" cy="1596013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4500"/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674325" y="5141554"/>
            <a:ext cx="5512050" cy="727824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100000"/>
        </a:lnSpc>
        <a:spcBef>
          <a:spcPct val="0"/>
        </a:spcBef>
        <a:buNone/>
        <a:defRPr sz="2700" b="0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+mj-ea"/>
        </a:defRPr>
      </a:lvl1pPr>
    </p:titleStyle>
    <p:bodyStyle>
      <a:lvl1pPr marL="171450" indent="-171450" algn="l" defTabSz="685800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/>
        <a:buChar char="●"/>
        <a:defRPr sz="13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120000"/>
        </a:lnSpc>
        <a:spcBef>
          <a:spcPts val="0"/>
        </a:spcBef>
        <a:spcAft>
          <a:spcPts val="600"/>
        </a:spcAft>
        <a:buFont typeface="Arial" panose="020B0604020202090204"/>
        <a:buChar char="●"/>
        <a:defRPr sz="12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/>
        <a:buChar char=""/>
        <a:defRPr sz="10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120000"/>
        </a:lnSpc>
        <a:spcBef>
          <a:spcPts val="0"/>
        </a:spcBef>
        <a:spcAft>
          <a:spcPts val="300"/>
        </a:spcAft>
        <a:buFont typeface="Arial" panose="020B0604020202090204"/>
        <a:buChar char="•"/>
        <a:defRPr sz="105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9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0" name="Panel D: gene-level mean and SD plot"/>
          <p:cNvPicPr>
            <a:picLocks noChangeAspect="1"/>
          </p:cNvPicPr>
          <p:nvPr/>
        </p:nvPicPr>
        <p:blipFill>
          <a:blip r:embed="rId1"/>
          <a:srcRect l="3873" t="3144"/>
          <a:stretch>
            <a:fillRect/>
          </a:stretch>
        </p:blipFill>
        <p:spPr>
          <a:xfrm>
            <a:off x="76835" y="3789045"/>
            <a:ext cx="6667500" cy="3079115"/>
          </a:xfrm>
          <a:prstGeom prst="rect">
            <a:avLst/>
          </a:prstGeom>
        </p:spPr>
      </p:pic>
      <p:pic>
        <p:nvPicPr>
          <p:cNvPr id="107" name="图片 2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1475" y="935990"/>
            <a:ext cx="6467475" cy="1077943"/>
          </a:xfrm>
          <a:prstGeom prst="rect">
            <a:avLst/>
          </a:prstGeom>
        </p:spPr>
      </p:pic>
      <p:pic>
        <p:nvPicPr>
          <p:cNvPr id="108" name="图片 3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1833880"/>
            <a:ext cx="6467475" cy="1077943"/>
          </a:xfrm>
          <a:prstGeom prst="rect">
            <a:avLst/>
          </a:prstGeom>
        </p:spPr>
      </p:pic>
      <p:pic>
        <p:nvPicPr>
          <p:cNvPr id="109" name="图片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1475" y="2767330"/>
            <a:ext cx="6467475" cy="1077943"/>
          </a:xfrm>
          <a:prstGeom prst="rect">
            <a:avLst/>
          </a:prstGeom>
        </p:spPr>
      </p:pic>
      <p:sp>
        <p:nvSpPr>
          <p:cNvPr id="15" name="文本框 14"/>
          <p:cNvSpPr>
            <a:spLocks noGrp="1"/>
          </p:cNvSpPr>
          <p:nvPr/>
        </p:nvSpPr>
        <p:spPr>
          <a:xfrm>
            <a:off x="-6985" y="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文本框 89"/>
          <p:cNvSpPr>
            <a:spLocks noGrp="1"/>
          </p:cNvSpPr>
          <p:nvPr/>
        </p:nvSpPr>
        <p:spPr>
          <a:xfrm>
            <a:off x="-6985" y="93599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10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13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5170" y="76200"/>
            <a:ext cx="776589" cy="648000"/>
          </a:xfrm>
          <a:prstGeom prst="rect">
            <a:avLst/>
          </a:prstGeom>
        </p:spPr>
      </p:pic>
      <p:pic>
        <p:nvPicPr>
          <p:cNvPr id="114" name="图片 2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284480" y="76200"/>
            <a:ext cx="1555200" cy="648000"/>
          </a:xfrm>
          <a:prstGeom prst="rect">
            <a:avLst/>
          </a:prstGeom>
        </p:spPr>
      </p:pic>
      <p:pic>
        <p:nvPicPr>
          <p:cNvPr id="115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0850" y="76200"/>
            <a:ext cx="1555200" cy="648000"/>
          </a:xfrm>
          <a:prstGeom prst="rect">
            <a:avLst/>
          </a:prstGeom>
        </p:spPr>
      </p:pic>
      <p:cxnSp>
        <p:nvCxnSpPr>
          <p:cNvPr id="116" name="直接箭头连接符 22"/>
          <p:cNvCxnSpPr/>
          <p:nvPr/>
        </p:nvCxnSpPr>
        <p:spPr>
          <a:xfrm flipV="1">
            <a:off x="284480" y="410210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直接箭头连接符 23"/>
          <p:cNvCxnSpPr/>
          <p:nvPr/>
        </p:nvCxnSpPr>
        <p:spPr>
          <a:xfrm>
            <a:off x="284480" y="770255"/>
            <a:ext cx="36000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>
            <a:spLocks noGrp="1"/>
          </p:cNvSpPr>
          <p:nvPr/>
        </p:nvSpPr>
        <p:spPr>
          <a:xfrm>
            <a:off x="233680" y="808355"/>
            <a:ext cx="461010" cy="12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40000"/>
              </a:lnSpc>
              <a:buNone/>
            </a:pPr>
            <a:r>
              <a:rPr sz="6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spliced</a:t>
            </a:r>
            <a:endParaRPr sz="6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</p:txBody>
      </p:sp>
      <p:sp>
        <p:nvSpPr>
          <p:cNvPr id="27" name="文本框 26"/>
          <p:cNvSpPr>
            <a:spLocks noGrp="1"/>
          </p:cNvSpPr>
          <p:nvPr/>
        </p:nvSpPr>
        <p:spPr>
          <a:xfrm rot="10800000">
            <a:off x="53340" y="319405"/>
            <a:ext cx="180340" cy="469900"/>
          </a:xfrm>
          <a:prstGeom prst="rect">
            <a:avLst/>
          </a:prstGeom>
          <a:noFill/>
        </p:spPr>
        <p:txBody>
          <a:bodyPr vert="eaVert" wrap="square">
            <a:noAutofit/>
          </a:bodyPr>
          <a:lstStyle/>
          <a:p>
            <a:r>
              <a:rPr sz="6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unspliced</a:t>
            </a:r>
            <a:endParaRPr sz="6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694690" y="684530"/>
            <a:ext cx="7315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normal genes</a:t>
            </a:r>
            <a:endParaRPr sz="6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</p:txBody>
      </p:sp>
      <p:sp>
        <p:nvSpPr>
          <p:cNvPr id="30" name="文本框 29"/>
          <p:cNvSpPr>
            <a:spLocks noGrp="1"/>
          </p:cNvSpPr>
          <p:nvPr/>
        </p:nvSpPr>
        <p:spPr>
          <a:xfrm>
            <a:off x="2032635" y="692150"/>
            <a:ext cx="731520" cy="183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6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MURK genes</a:t>
            </a:r>
            <a:endParaRPr sz="6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</p:txBody>
      </p:sp>
      <p:sp>
        <p:nvSpPr>
          <p:cNvPr id="31" name="文本框 30"/>
          <p:cNvSpPr>
            <a:spLocks noGrp="1"/>
          </p:cNvSpPr>
          <p:nvPr/>
        </p:nvSpPr>
        <p:spPr>
          <a:xfrm>
            <a:off x="3370580" y="699770"/>
            <a:ext cx="732790" cy="18351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buNone/>
            </a:pPr>
            <a:r>
              <a:rPr sz="6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branching genes</a:t>
            </a:r>
            <a:endParaRPr sz="6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28905" y="76200"/>
            <a:ext cx="6667500" cy="859790"/>
          </a:xfrm>
          <a:prstGeom prst="roundRect">
            <a:avLst>
              <a:gd name="adj" fmla="val 6234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8" name="下箭头 47"/>
          <p:cNvSpPr>
            <a:spLocks noGrp="1"/>
          </p:cNvSpPr>
          <p:nvPr/>
        </p:nvSpPr>
        <p:spPr>
          <a:xfrm rot="16200000">
            <a:off x="4533265" y="410210"/>
            <a:ext cx="139700" cy="139700"/>
          </a:xfrm>
          <a:prstGeom prst="downArrow">
            <a:avLst/>
          </a:prstGeom>
          <a:solidFill>
            <a:srgbClr val="7030A0">
              <a:alpha val="50000"/>
            </a:srgbClr>
          </a:solidFill>
          <a:ln>
            <a:solidFill>
              <a:srgbClr val="B797C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99" name="文本框 98"/>
          <p:cNvSpPr>
            <a:spLocks noGrp="1"/>
          </p:cNvSpPr>
          <p:nvPr/>
        </p:nvSpPr>
        <p:spPr>
          <a:xfrm>
            <a:off x="1805305" y="290830"/>
            <a:ext cx="189865" cy="408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2740025" y="290830"/>
            <a:ext cx="189865" cy="408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4606925" y="175260"/>
            <a:ext cx="22866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 simulated datasets</a:t>
            </a:r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：</a:t>
            </a:r>
            <a:endParaRPr sz="80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normal genes+</a:t>
            </a:r>
            <a:r>
              <a:rPr sz="8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MURK genes</a:t>
            </a:r>
            <a:endParaRPr sz="8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  <a:p>
            <a:r>
              <a:rPr sz="800">
                <a:latin typeface="Arial" panose="020B0604020202090204"/>
                <a:ea typeface="Arial" panose="020B0604020202090204"/>
                <a:cs typeface="Arial" panose="020B0604020202090204"/>
              </a:rPr>
              <a:t>normal genes+</a:t>
            </a:r>
            <a:r>
              <a:rPr sz="8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branching genes</a:t>
            </a:r>
            <a:endParaRPr sz="80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r>
              <a:rPr sz="800">
                <a:latin typeface="Arial" panose="020B0604020202090204"/>
                <a:ea typeface="Arial" panose="020B0604020202090204"/>
                <a:cs typeface="Arial" panose="020B0604020202090204"/>
              </a:rPr>
              <a:t>normal genes+</a:t>
            </a:r>
            <a:r>
              <a:rPr sz="8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MURK genes</a:t>
            </a:r>
            <a:r>
              <a:rPr sz="800"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r>
              <a:rPr sz="800">
                <a:latin typeface="Arial Regular" panose="020B0604020202090204"/>
                <a:ea typeface="Arial Regular" panose="020B0604020202090204"/>
                <a:cs typeface="Arial Regular" panose="020B0604020202090204"/>
              </a:rPr>
              <a:t>branching genes</a:t>
            </a:r>
            <a:endParaRPr sz="800">
              <a:latin typeface="Arial Regular" panose="020B0604020202090204"/>
              <a:ea typeface="Arial Regular" panose="020B0604020202090204"/>
              <a:cs typeface="Arial Regular" panose="020B0604020202090204"/>
            </a:endParaRPr>
          </a:p>
          <a:p>
            <a:pPr>
              <a:tabLst>
                <a:tab pos="994410" algn="l"/>
              </a:tabLst>
            </a:pPr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Early</a:t>
            </a:r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	</a:t>
            </a:r>
            <a:r>
              <a:rPr sz="800">
                <a:solidFill>
                  <a:schemeClr val="tx1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Late</a:t>
            </a:r>
            <a:endParaRPr sz="80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endParaRPr sz="800">
              <a:solidFill>
                <a:schemeClr val="tx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-6985" y="1851660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endParaRPr sz="10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0" y="3792855"/>
            <a:ext cx="83820" cy="330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40000"/>
              </a:lnSpc>
              <a:buNone/>
            </a:pPr>
            <a:r>
              <a:rPr sz="1300" b="1">
                <a:latin typeface="Arial" panose="020B0604020202090204"/>
                <a:ea typeface="Arial" panose="020B0604020202090204"/>
                <a:cs typeface="Arial" panose="020B0604020202090204"/>
              </a:rPr>
              <a:t>d</a:t>
            </a:r>
            <a:endParaRPr sz="1300" b="1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Figure 4A Early-Late gradient"/>
          <p:cNvSpPr>
            <a:spLocks noGrp="1"/>
          </p:cNvSpPr>
          <p:nvPr/>
        </p:nvSpPr>
        <p:spPr>
          <a:xfrm>
            <a:off x="5007489" y="748030"/>
            <a:ext cx="609600" cy="43180"/>
          </a:xfrm>
          <a:prstGeom prst="rect">
            <a:avLst/>
          </a:prstGeom>
          <a:gradFill>
            <a:gsLst>
              <a:gs pos="0">
                <a:srgbClr val="2F0596"/>
              </a:gs>
              <a:gs pos="11111">
                <a:srgbClr val="5901A5"/>
              </a:gs>
              <a:gs pos="22222">
                <a:srgbClr val="8004A8"/>
              </a:gs>
              <a:gs pos="33333">
                <a:srgbClr val="A21D9A"/>
              </a:gs>
              <a:gs pos="44444">
                <a:srgbClr val="BF3984"/>
              </a:gs>
              <a:gs pos="55556">
                <a:srgbClr val="D6556D"/>
              </a:gs>
              <a:gs pos="66667">
                <a:srgbClr val="E97257"/>
              </a:gs>
              <a:gs pos="77778">
                <a:srgbClr val="F79342"/>
              </a:gs>
              <a:gs pos="88889">
                <a:srgbClr val="FEB72D"/>
              </a:gs>
              <a:gs pos="100000">
                <a:srgbClr val="F8DF25"/>
              </a:gs>
            </a:gsLst>
            <a:lin ang="0"/>
          </a:gradFill>
          <a:ln w="0">
            <a:noFill/>
          </a:ln>
        </p:spPr>
      </p:sp>
      <p:sp>
        <p:nvSpPr>
          <p:cNvPr id="119" name="Gene A gutter label"/>
          <p:cNvSpPr>
            <a:spLocks noGrp="1"/>
          </p:cNvSpPr>
          <p:nvPr/>
        </p:nvSpPr>
        <p:spPr>
          <a:xfrm>
            <a:off x="47625" y="13430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 A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MURK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0" name="Gene B gutter label"/>
          <p:cNvSpPr>
            <a:spLocks noGrp="1"/>
          </p:cNvSpPr>
          <p:nvPr/>
        </p:nvSpPr>
        <p:spPr>
          <a:xfrm>
            <a:off x="47625" y="223837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 B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branching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1" name="Gene C gutter label"/>
          <p:cNvSpPr>
            <a:spLocks noGrp="1"/>
          </p:cNvSpPr>
          <p:nvPr/>
        </p:nvSpPr>
        <p:spPr>
          <a:xfrm>
            <a:off x="47625" y="3171825"/>
            <a:ext cx="333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Gene C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def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20" b="1">
                <a:solidFill>
                  <a:srgbClr val="333333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branching</a:t>
            </a:r>
            <a:endParaRPr sz="420" b="1">
              <a:solidFill>
                <a:srgbClr val="333333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WPS 演示</Application>
  <PresentationFormat>Converted Presentation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Wingdings</vt:lpstr>
      <vt:lpstr>Arial Regular</vt:lpstr>
      <vt:lpstr>苹方-简</vt:lpstr>
      <vt:lpstr>汉仪书宋二KW</vt:lpstr>
      <vt:lpstr>微软雅黑</vt:lpstr>
      <vt:lpstr>方正雅意黑 GB18030L2</vt:lpstr>
      <vt:lpstr>宋体</vt:lpstr>
      <vt:lpstr>Arial Unicode MS</vt:lpstr>
      <vt:lpstr>Calibri</vt:lpstr>
      <vt:lpstr>Helvetica Neue</vt:lpstr>
      <vt:lpstr>Arial Regular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赵泽临</cp:lastModifiedBy>
  <cp:revision>6</cp:revision>
  <dcterms:created xsi:type="dcterms:W3CDTF">2026-10-12T05:03:30Z</dcterms:created>
  <dcterms:modified xsi:type="dcterms:W3CDTF">2026-10-12T05:03:30Z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DC4F74A300544CDED5FCBC6AF1213047_43</vt:lpwstr>
  </property>
  <property fmtid="{D5CDD505-2E9C-101B-9397-08002B2CF9AE}" pid="3" name="KSOProductBuildVer">
    <vt:lpwstr>2052-12.1.26046.26046</vt:lpwstr>
  </property>
</Properties>
</file>