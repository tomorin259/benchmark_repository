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6858000" cy="9903460" type="A4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82" userDrawn="1">
          <p15:clr>
            <a:srgbClr val="A4A3A4"/>
          </p15:clr>
        </p15:guide>
        <p15:guide id="2" pos="217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797CF"/>
    <a:srgbClr val="B9A4CA"/>
    <a:srgbClr val="FFFFFF"/>
    <a:srgbClr val="B3B3B3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3182"/>
        <p:guide pos="2179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621019108280255"/>
          <c:y val="0.0452431289640592"/>
          <c:w val="0.621815286624204"/>
          <c:h val="0.48642706131078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CBDir</c:v>
                </c:pt>
              </c:strCache>
            </c:strRef>
          </c:tx>
          <c:spPr>
            <a:solidFill>
              <a:srgbClr val="00B0F0">
                <a:alpha val="60000"/>
              </a:srgbClr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Sheet1!$A$2:$A$3</c:f>
              <c:strCache>
                <c:ptCount val="2"/>
                <c:pt idx="0">
                  <c:v>类别 1</c:v>
                </c:pt>
                <c:pt idx="1">
                  <c:v>类别 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0.1</c:v>
                </c:pt>
                <c:pt idx="1">
                  <c:v>0.6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Cosine similarity(simulate datasets)</c:v>
                </c:pt>
              </c:strCache>
            </c:strRef>
          </c:tx>
          <c:spPr>
            <a:solidFill>
              <a:srgbClr val="B797CF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Sheet1!$A$2:$A$3</c:f>
              <c:strCache>
                <c:ptCount val="2"/>
                <c:pt idx="0">
                  <c:v>类别 1</c:v>
                </c:pt>
                <c:pt idx="1">
                  <c:v>类别 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0.2</c:v>
                </c:pt>
                <c:pt idx="1">
                  <c:v>0.8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40"/>
        <c:overlap val="-40"/>
        <c:axId val="427039040"/>
        <c:axId val="949242199"/>
      </c:barChart>
      <c:catAx>
        <c:axId val="427039040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949242199"/>
        <c:crosses val="autoZero"/>
        <c:auto val="1"/>
        <c:lblAlgn val="ctr"/>
        <c:lblOffset val="100"/>
        <c:noMultiLvlLbl val="0"/>
      </c:catAx>
      <c:valAx>
        <c:axId val="949242199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400" b="0" i="0" u="none" strike="noStrike" kern="1200" cap="none" spc="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>
                  <a:solidFill>
                    <a:schemeClr val="tx1">
                      <a:lumMod val="65000"/>
                      <a:lumOff val="35000"/>
                    </a:schemeClr>
                  </a:solidFill>
                </a:uFill>
                <a:latin typeface="+mn-lt"/>
                <a:ea typeface="+mn-ea"/>
                <a:cs typeface="+mn-cs"/>
              </a:defRPr>
            </a:pPr>
          </a:p>
        </c:txPr>
        <c:crossAx val="4270390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400" b="0" i="0" u="none" strike="noStrike" kern="1200" cap="none" spc="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>
                  <a:solidFill>
                    <a:schemeClr val="tx1">
                      <a:lumMod val="65000"/>
                      <a:lumOff val="35000"/>
                    </a:schemeClr>
                  </a:solidFill>
                </a:u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400" b="0" i="0" u="none" strike="noStrike" kern="1200" cap="none" spc="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>
                  <a:solidFill>
                    <a:schemeClr val="tx1">
                      <a:lumMod val="65000"/>
                      <a:lumOff val="35000"/>
                    </a:schemeClr>
                  </a:solidFill>
                </a:uFill>
                <a:latin typeface="+mn-lt"/>
                <a:ea typeface="+mn-ea"/>
                <a:cs typeface="+mn-cs"/>
              </a:defRPr>
            </a:pPr>
          </a:p>
        </c:txPr>
      </c:legendEntry>
      <c:layout>
        <c:manualLayout>
          <c:xMode val="edge"/>
          <c:yMode val="edge"/>
          <c:x val="0.0151821862348178"/>
          <c:y val="0.621404682274247"/>
          <c:w val="0.808704453441296"/>
          <c:h val="0.161872909698997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400" b="0" i="0" u="none" strike="noStrike" kern="1200" cap="none" spc="0" normalizeH="0" baseline="0">
              <a:solidFill>
                <a:schemeClr val="tx1">
                  <a:lumMod val="65000"/>
                  <a:lumOff val="35000"/>
                </a:schemeClr>
              </a:solidFill>
              <a:uFill>
                <a:solidFill>
                  <a:schemeClr val="tx1">
                    <a:lumMod val="65000"/>
                    <a:lumOff val="35000"/>
                  </a:schemeClr>
                </a:solidFill>
              </a:u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b453ba8d-0d49-4c89-909c-808c2f96977e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1011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360461" y="1143000"/>
            <a:ext cx="2137079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674325" y="1320480"/>
            <a:ext cx="5512050" cy="3711901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45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674325" y="5141554"/>
            <a:ext cx="5512050" cy="2126285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1800" spc="2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2225" y="878587"/>
            <a:ext cx="6170175" cy="1018953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342225" y="2152278"/>
            <a:ext cx="6170175" cy="6872735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119825" y="5557453"/>
            <a:ext cx="4369950" cy="1107332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33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119825" y="6664785"/>
            <a:ext cx="4369950" cy="1252896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2225" y="878587"/>
            <a:ext cx="6170175" cy="1018953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342225" y="2167875"/>
            <a:ext cx="2911950" cy="6857138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3606525" y="2167875"/>
            <a:ext cx="2911950" cy="6857138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2225" y="878587"/>
            <a:ext cx="6170175" cy="1018953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342225" y="2063900"/>
            <a:ext cx="3005100" cy="551066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5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342225" y="2677351"/>
            <a:ext cx="3005100" cy="6347662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3507609" y="2053111"/>
            <a:ext cx="3005100" cy="551066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5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3507609" y="2677351"/>
            <a:ext cx="3005100" cy="6347662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2225" y="878587"/>
            <a:ext cx="6170175" cy="1018953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342225" y="2245856"/>
            <a:ext cx="2943606" cy="6654388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2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3572100" y="2245856"/>
            <a:ext cx="2940300" cy="6654388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5757075" y="1320480"/>
            <a:ext cx="587250" cy="726264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1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514350" y="1320480"/>
            <a:ext cx="5157675" cy="7262640"/>
          </a:xfrm>
        </p:spPr>
        <p:txBody>
          <a:bodyPr vert="eaVert" lIns="46800" tIns="46800" rIns="46800" bIns="46800"/>
          <a:lstStyle>
            <a:lvl1pPr marL="171450" indent="-171450">
              <a:spcAft>
                <a:spcPts val="1000"/>
              </a:spcAft>
              <a:defRPr spc="300"/>
            </a:lvl1pPr>
            <a:lvl2pPr marL="514350" indent="-171450">
              <a:defRPr spc="300"/>
            </a:lvl2pPr>
            <a:lvl3pPr marL="857250" indent="-171450">
              <a:defRPr spc="300"/>
            </a:lvl3pPr>
            <a:lvl4pPr marL="1200150" indent="-171450">
              <a:defRPr spc="300"/>
            </a:lvl4pPr>
            <a:lvl5pPr marL="1543050" indent="-17145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342225" y="1117729"/>
            <a:ext cx="6172200" cy="791768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674325" y="3587131"/>
            <a:ext cx="5512050" cy="1471243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45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674325" y="5141554"/>
            <a:ext cx="5512050" cy="681035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18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342225" y="878587"/>
            <a:ext cx="6170175" cy="1018953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342225" y="2152278"/>
            <a:ext cx="6170175" cy="6872735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344250" y="9118590"/>
            <a:ext cx="1518750" cy="4574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2315250" y="9118590"/>
            <a:ext cx="2227500" cy="4574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4993650" y="9118590"/>
            <a:ext cx="1518750" cy="4574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7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35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207135" algn="l"/>
          <a:tab pos="1207135" algn="l"/>
          <a:tab pos="1207135" algn="l"/>
          <a:tab pos="1207135" algn="l"/>
        </a:tabLst>
        <a:defRPr sz="12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2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05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05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65.xml"/><Relationship Id="rId8" Type="http://schemas.openxmlformats.org/officeDocument/2006/relationships/image" Target="../media/image5.png"/><Relationship Id="rId7" Type="http://schemas.openxmlformats.org/officeDocument/2006/relationships/tags" Target="../tags/tag64.xml"/><Relationship Id="rId6" Type="http://schemas.openxmlformats.org/officeDocument/2006/relationships/tags" Target="../tags/tag63.xml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8" Type="http://schemas.openxmlformats.org/officeDocument/2006/relationships/notesSlide" Target="../notesSlides/notesSlide1.xml"/><Relationship Id="rId27" Type="http://schemas.openxmlformats.org/officeDocument/2006/relationships/slideLayout" Target="../slideLayouts/slideLayout1.xml"/><Relationship Id="rId26" Type="http://schemas.openxmlformats.org/officeDocument/2006/relationships/tags" Target="../tags/tag68.xml"/><Relationship Id="rId25" Type="http://schemas.openxmlformats.org/officeDocument/2006/relationships/image" Target="../media/image19.png"/><Relationship Id="rId24" Type="http://schemas.openxmlformats.org/officeDocument/2006/relationships/image" Target="../media/image18.svg"/><Relationship Id="rId23" Type="http://schemas.openxmlformats.org/officeDocument/2006/relationships/image" Target="../media/image17.png"/><Relationship Id="rId22" Type="http://schemas.openxmlformats.org/officeDocument/2006/relationships/image" Target="../media/image16.svg"/><Relationship Id="rId21" Type="http://schemas.openxmlformats.org/officeDocument/2006/relationships/image" Target="../media/image15.png"/><Relationship Id="rId20" Type="http://schemas.openxmlformats.org/officeDocument/2006/relationships/image" Target="../media/image14.svg"/><Relationship Id="rId2" Type="http://schemas.openxmlformats.org/officeDocument/2006/relationships/image" Target="../media/image1.png"/><Relationship Id="rId19" Type="http://schemas.openxmlformats.org/officeDocument/2006/relationships/image" Target="../media/image13.png"/><Relationship Id="rId18" Type="http://schemas.openxmlformats.org/officeDocument/2006/relationships/image" Target="../media/image12.svg"/><Relationship Id="rId17" Type="http://schemas.openxmlformats.org/officeDocument/2006/relationships/image" Target="../media/image11.png"/><Relationship Id="rId16" Type="http://schemas.openxmlformats.org/officeDocument/2006/relationships/image" Target="../media/image10.png"/><Relationship Id="rId15" Type="http://schemas.openxmlformats.org/officeDocument/2006/relationships/image" Target="../media/image9.png"/><Relationship Id="rId14" Type="http://schemas.openxmlformats.org/officeDocument/2006/relationships/image" Target="../media/image8.png"/><Relationship Id="rId13" Type="http://schemas.openxmlformats.org/officeDocument/2006/relationships/image" Target="../media/image7.png"/><Relationship Id="rId12" Type="http://schemas.openxmlformats.org/officeDocument/2006/relationships/image" Target="../media/image6.png"/><Relationship Id="rId11" Type="http://schemas.openxmlformats.org/officeDocument/2006/relationships/tags" Target="../tags/tag67.xml"/><Relationship Id="rId10" Type="http://schemas.openxmlformats.org/officeDocument/2006/relationships/tags" Target="../tags/tag66.xml"/><Relationship Id="rId1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图表 10"/>
          <p:cNvGraphicFramePr/>
          <p:nvPr/>
        </p:nvGraphicFramePr>
        <p:xfrm>
          <a:off x="5410835" y="3111500"/>
          <a:ext cx="1254760" cy="9493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pic>
        <p:nvPicPr>
          <p:cNvPr id="18" name="图片 17" descr="Gemini_Generated_Image_ux8v02ux8v02ux8v(2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995" y="3345815"/>
            <a:ext cx="287655" cy="30543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rcRect l="12164" t="10906" r="6298" b="7162"/>
          <a:stretch>
            <a:fillRect/>
          </a:stretch>
        </p:blipFill>
        <p:spPr>
          <a:xfrm>
            <a:off x="4223385" y="3053080"/>
            <a:ext cx="1208405" cy="728980"/>
          </a:xfrm>
          <a:prstGeom prst="rect">
            <a:avLst/>
          </a:prstGeom>
        </p:spPr>
      </p:pic>
      <p:pic>
        <p:nvPicPr>
          <p:cNvPr id="58" name="图片 57" descr="Gemini_Generated_Image_1a2o821a2o821a2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2315" y="1345565"/>
            <a:ext cx="1282065" cy="1199515"/>
          </a:xfrm>
          <a:prstGeom prst="rect">
            <a:avLst/>
          </a:prstGeom>
        </p:spPr>
      </p:pic>
      <p:pic>
        <p:nvPicPr>
          <p:cNvPr id="36" name="图片 35" descr="Gemini_Generated_Image_fn7fgofn7fgofn7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" y="1234440"/>
            <a:ext cx="1524635" cy="113792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-6985" y="0"/>
            <a:ext cx="83820" cy="3302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dist">
              <a:lnSpc>
                <a:spcPct val="40000"/>
              </a:lnSpc>
            </a:pPr>
            <a:r>
              <a:rPr lang="en-US" altLang="zh-CN" sz="1300" b="1"/>
              <a:t>a</a:t>
            </a:r>
            <a:endParaRPr lang="en-US" altLang="zh-CN" sz="1300" b="1"/>
          </a:p>
        </p:txBody>
      </p:sp>
      <p:sp>
        <p:nvSpPr>
          <p:cNvPr id="7" name="圆角矩形 6"/>
          <p:cNvSpPr/>
          <p:nvPr/>
        </p:nvSpPr>
        <p:spPr>
          <a:xfrm>
            <a:off x="76835" y="76200"/>
            <a:ext cx="6718300" cy="2469515"/>
          </a:xfrm>
          <a:prstGeom prst="roundRect">
            <a:avLst>
              <a:gd name="adj" fmla="val 6234"/>
            </a:avLst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 altLang="zh-CN"/>
          </a:p>
        </p:txBody>
      </p:sp>
      <p:graphicFrame>
        <p:nvGraphicFramePr>
          <p:cNvPr id="14" name="表格 13"/>
          <p:cNvGraphicFramePr/>
          <p:nvPr>
            <p:custDataLst>
              <p:tags r:id="rId6"/>
            </p:custDataLst>
          </p:nvPr>
        </p:nvGraphicFramePr>
        <p:xfrm>
          <a:off x="215900" y="196215"/>
          <a:ext cx="1009650" cy="6604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1930"/>
                <a:gridCol w="201930"/>
                <a:gridCol w="201930"/>
                <a:gridCol w="201930"/>
                <a:gridCol w="201930"/>
              </a:tblGrid>
              <a:tr h="132080"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">
                        <a:ln>
                          <a:noFill/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">
                        <a:ln>
                          <a:noFill/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030A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">
                        <a:ln>
                          <a:noFill/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50000"/>
                        <a:alpha val="6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">
                        <a:ln>
                          <a:noFill/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132080"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">
                        <a:ln>
                          <a:noFill/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030A0">
                        <a:alpha val="34000"/>
                      </a:srgb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">
                        <a:ln>
                          <a:noFill/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">
                        <a:ln>
                          <a:noFill/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">
                        <a:ln>
                          <a:noFill/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50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">
                        <a:ln>
                          <a:noFill/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132080"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">
                        <a:ln>
                          <a:noFill/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">
                        <a:ln>
                          <a:noFill/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030A0">
                        <a:alpha val="32000"/>
                      </a:srgb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">
                        <a:ln>
                          <a:noFill/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">
                        <a:ln>
                          <a:noFill/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7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">
                        <a:ln>
                          <a:noFill/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9000"/>
                      </a:schemeClr>
                    </a:solidFill>
                  </a:tcPr>
                </a:tc>
              </a:tr>
              <a:tr h="132080"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">
                        <a:ln>
                          <a:noFill/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50000"/>
                        <a:alpha val="5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">
                        <a:ln>
                          <a:noFill/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">
                        <a:ln>
                          <a:noFill/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030A0">
                        <a:alpha val="17000"/>
                      </a:srgb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">
                        <a:ln>
                          <a:noFill/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">
                        <a:ln>
                          <a:noFill/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75000"/>
                        <a:alpha val="50000"/>
                      </a:schemeClr>
                    </a:solidFill>
                  </a:tcPr>
                </a:tc>
              </a:tr>
              <a:tr h="132080"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">
                        <a:ln>
                          <a:noFill/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">
                        <a:ln>
                          <a:noFill/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030A0">
                        <a:alpha val="42000"/>
                      </a:srgb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">
                        <a:ln>
                          <a:noFill/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">
                        <a:ln>
                          <a:noFill/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2060">
                        <a:alpha val="21000"/>
                      </a:srgb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">
                        <a:ln>
                          <a:noFill/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5" name="文本框 14"/>
          <p:cNvSpPr txBox="1"/>
          <p:nvPr/>
        </p:nvSpPr>
        <p:spPr>
          <a:xfrm>
            <a:off x="604520" y="76200"/>
            <a:ext cx="520065" cy="1162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50000"/>
              </a:lnSpc>
            </a:pPr>
            <a:r>
              <a:rPr lang="en-US" altLang="zh-CN" sz="800"/>
              <a:t>Genes</a:t>
            </a:r>
            <a:endParaRPr lang="en-US" altLang="zh-CN" sz="800"/>
          </a:p>
        </p:txBody>
      </p:sp>
      <p:sp>
        <p:nvSpPr>
          <p:cNvPr id="16" name="文本框 15"/>
          <p:cNvSpPr txBox="1"/>
          <p:nvPr/>
        </p:nvSpPr>
        <p:spPr>
          <a:xfrm rot="10800000">
            <a:off x="102870" y="445135"/>
            <a:ext cx="114935" cy="339725"/>
          </a:xfrm>
          <a:prstGeom prst="rect">
            <a:avLst/>
          </a:prstGeom>
          <a:noFill/>
        </p:spPr>
        <p:txBody>
          <a:bodyPr vert="eaVert" wrap="square" rtlCol="0">
            <a:noAutofit/>
          </a:bodyPr>
          <a:p>
            <a:pPr algn="ctr">
              <a:lnSpc>
                <a:spcPct val="40000"/>
              </a:lnSpc>
            </a:pPr>
            <a:r>
              <a:rPr lang="en-US" altLang="zh-CN" sz="800"/>
              <a:t>Cells</a:t>
            </a:r>
            <a:endParaRPr lang="en-US" altLang="zh-CN" sz="800"/>
          </a:p>
        </p:txBody>
      </p:sp>
      <p:sp>
        <p:nvSpPr>
          <p:cNvPr id="25" name="矩形 24"/>
          <p:cNvSpPr/>
          <p:nvPr/>
        </p:nvSpPr>
        <p:spPr>
          <a:xfrm>
            <a:off x="328295" y="292735"/>
            <a:ext cx="911225" cy="5816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21" name="表格 20"/>
          <p:cNvGraphicFramePr/>
          <p:nvPr>
            <p:custDataLst>
              <p:tags r:id="rId7"/>
            </p:custDataLst>
          </p:nvPr>
        </p:nvGraphicFramePr>
        <p:xfrm>
          <a:off x="328295" y="292735"/>
          <a:ext cx="1009650" cy="6604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1930"/>
                <a:gridCol w="201930"/>
                <a:gridCol w="201930"/>
                <a:gridCol w="208080"/>
                <a:gridCol w="195780"/>
              </a:tblGrid>
              <a:tr h="132080"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">
                        <a:ln>
                          <a:noFill/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">
                        <a:ln>
                          <a:noFill/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030A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">
                        <a:ln>
                          <a:noFill/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2060">
                        <a:alpha val="65000"/>
                      </a:srgb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">
                        <a:ln>
                          <a:noFill/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132080"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">
                        <a:ln>
                          <a:noFill/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030A0">
                        <a:alpha val="34000"/>
                      </a:srgb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">
                        <a:ln>
                          <a:noFill/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">
                        <a:ln>
                          <a:noFill/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">
                        <a:ln>
                          <a:noFill/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030A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">
                        <a:ln>
                          <a:noFill/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132080"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">
                        <a:ln>
                          <a:noFill/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">
                        <a:ln>
                          <a:noFill/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030A0">
                        <a:alpha val="32000"/>
                      </a:srgb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">
                        <a:ln>
                          <a:noFill/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">
                        <a:ln>
                          <a:noFill/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7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">
                        <a:ln>
                          <a:noFill/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9000"/>
                      </a:schemeClr>
                    </a:solidFill>
                  </a:tcPr>
                </a:tc>
              </a:tr>
              <a:tr h="132080"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">
                        <a:ln>
                          <a:noFill/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50000"/>
                        <a:alpha val="5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">
                        <a:ln>
                          <a:noFill/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">
                        <a:ln>
                          <a:noFill/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030A0">
                        <a:alpha val="17000"/>
                      </a:srgb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">
                        <a:ln>
                          <a:noFill/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">
                        <a:ln>
                          <a:noFill/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030A0">
                        <a:alpha val="25000"/>
                      </a:srgbClr>
                    </a:solidFill>
                  </a:tcPr>
                </a:tc>
              </a:tr>
              <a:tr h="132080"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">
                        <a:ln>
                          <a:noFill/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">
                        <a:ln>
                          <a:noFill/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030A0">
                        <a:alpha val="42000"/>
                      </a:srgb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">
                        <a:ln>
                          <a:noFill/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">
                        <a:ln>
                          <a:noFill/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2060">
                        <a:alpha val="21000"/>
                      </a:srgb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">
                        <a:ln>
                          <a:noFill/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6" name="文本框 25"/>
          <p:cNvSpPr txBox="1"/>
          <p:nvPr/>
        </p:nvSpPr>
        <p:spPr>
          <a:xfrm>
            <a:off x="0" y="955675"/>
            <a:ext cx="1508125" cy="144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50000"/>
              </a:lnSpc>
            </a:pPr>
            <a:r>
              <a:rPr lang="en-US" altLang="zh-CN" sz="700" b="1"/>
              <a:t>spliced/unspliced count matrix</a:t>
            </a:r>
            <a:endParaRPr lang="en-US" altLang="zh-CN" sz="700" b="1"/>
          </a:p>
        </p:txBody>
      </p:sp>
      <p:sp>
        <p:nvSpPr>
          <p:cNvPr id="30" name="矩形 29"/>
          <p:cNvSpPr/>
          <p:nvPr/>
        </p:nvSpPr>
        <p:spPr>
          <a:xfrm>
            <a:off x="1734820" y="219075"/>
            <a:ext cx="976630" cy="734060"/>
          </a:xfrm>
          <a:prstGeom prst="rect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1693545" y="225425"/>
            <a:ext cx="975995" cy="6800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800" b="1"/>
              <a:t>Cell Filtering</a:t>
            </a:r>
            <a:endParaRPr lang="en-US" altLang="zh-CN" sz="800" b="1"/>
          </a:p>
          <a:p>
            <a:r>
              <a:rPr lang="en-US" altLang="zh-CN" sz="800" b="1"/>
              <a:t>Gene Selection</a:t>
            </a:r>
            <a:endParaRPr lang="en-US" altLang="zh-CN" sz="800" b="1"/>
          </a:p>
          <a:p>
            <a:r>
              <a:rPr lang="en-US" altLang="zh-CN" sz="800" b="1"/>
              <a:t>Normalization</a:t>
            </a:r>
            <a:endParaRPr lang="en-US" altLang="zh-CN" sz="800" b="1"/>
          </a:p>
          <a:p>
            <a:r>
              <a:rPr lang="en-US" altLang="zh-CN" sz="800" b="1"/>
              <a:t>PCA </a:t>
            </a:r>
            <a:endParaRPr lang="en-US" altLang="zh-CN" sz="800" b="1"/>
          </a:p>
          <a:p>
            <a:r>
              <a:rPr lang="en-US" altLang="zh-CN" sz="800" b="1"/>
              <a:t>k-NN smoothing</a:t>
            </a:r>
            <a:endParaRPr lang="en-US" altLang="zh-CN" sz="800" b="1"/>
          </a:p>
        </p:txBody>
      </p:sp>
      <p:sp>
        <p:nvSpPr>
          <p:cNvPr id="33" name="文本框 32"/>
          <p:cNvSpPr txBox="1"/>
          <p:nvPr/>
        </p:nvSpPr>
        <p:spPr>
          <a:xfrm>
            <a:off x="1398905" y="445135"/>
            <a:ext cx="233680" cy="3302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/>
              <a:t>+</a:t>
            </a:r>
            <a:endParaRPr lang="en-US" altLang="zh-CN"/>
          </a:p>
        </p:txBody>
      </p:sp>
      <p:sp>
        <p:nvSpPr>
          <p:cNvPr id="37" name="文本框 36"/>
          <p:cNvSpPr txBox="1"/>
          <p:nvPr/>
        </p:nvSpPr>
        <p:spPr>
          <a:xfrm>
            <a:off x="102870" y="2327910"/>
            <a:ext cx="1637665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800" b="1"/>
              <a:t>u-s Phase map of each gene</a:t>
            </a:r>
            <a:endParaRPr lang="en-US" altLang="zh-CN" sz="800" b="1"/>
          </a:p>
        </p:txBody>
      </p:sp>
      <p:sp>
        <p:nvSpPr>
          <p:cNvPr id="48" name="下箭头 47"/>
          <p:cNvSpPr/>
          <p:nvPr/>
        </p:nvSpPr>
        <p:spPr>
          <a:xfrm>
            <a:off x="852170" y="1102995"/>
            <a:ext cx="139700" cy="139700"/>
          </a:xfrm>
          <a:prstGeom prst="downArrow">
            <a:avLst/>
          </a:prstGeom>
          <a:solidFill>
            <a:srgbClr val="7030A0">
              <a:alpha val="50000"/>
            </a:srgbClr>
          </a:solidFill>
          <a:ln>
            <a:solidFill>
              <a:srgbClr val="B797C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50" name="直接箭头连接符 49"/>
          <p:cNvCxnSpPr/>
          <p:nvPr/>
        </p:nvCxnSpPr>
        <p:spPr>
          <a:xfrm>
            <a:off x="1844675" y="1149350"/>
            <a:ext cx="1744345" cy="0"/>
          </a:xfrm>
          <a:prstGeom prst="straightConnector1">
            <a:avLst/>
          </a:prstGeom>
          <a:ln>
            <a:solidFill>
              <a:schemeClr val="tx1"/>
            </a:solidFill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2" name="文本框 51"/>
          <p:cNvSpPr txBox="1"/>
          <p:nvPr/>
        </p:nvSpPr>
        <p:spPr>
          <a:xfrm>
            <a:off x="2012315" y="945515"/>
            <a:ext cx="1409700" cy="1593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800" b="1"/>
              <a:t>RNA Velocity Methods</a:t>
            </a:r>
            <a:endParaRPr lang="en-US" altLang="zh-CN" sz="800" b="1"/>
          </a:p>
        </p:txBody>
      </p:sp>
      <p:pic>
        <p:nvPicPr>
          <p:cNvPr id="56" name="图片 5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30500" y="320675"/>
            <a:ext cx="866140" cy="549910"/>
          </a:xfrm>
          <a:prstGeom prst="rect">
            <a:avLst/>
          </a:prstGeom>
        </p:spPr>
      </p:pic>
      <p:sp>
        <p:nvSpPr>
          <p:cNvPr id="54" name="文本框 53"/>
          <p:cNvSpPr txBox="1"/>
          <p:nvPr/>
        </p:nvSpPr>
        <p:spPr>
          <a:xfrm>
            <a:off x="1764665" y="1144905"/>
            <a:ext cx="179070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800" b="1"/>
              <a:t>Kinetics and Velocity Inference</a:t>
            </a:r>
            <a:endParaRPr lang="en-US" altLang="zh-CN" sz="800" b="1"/>
          </a:p>
        </p:txBody>
      </p:sp>
      <p:sp>
        <p:nvSpPr>
          <p:cNvPr id="62" name="文本框 61"/>
          <p:cNvSpPr txBox="1"/>
          <p:nvPr/>
        </p:nvSpPr>
        <p:spPr>
          <a:xfrm>
            <a:off x="3792855" y="146050"/>
            <a:ext cx="1979930" cy="1193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>
              <a:lnSpc>
                <a:spcPct val="50000"/>
              </a:lnSpc>
            </a:pPr>
            <a:r>
              <a:rPr lang="en-US" altLang="zh-CN" sz="800"/>
              <a:t>Cells               α/β/γ/latent time</a:t>
            </a:r>
            <a:endParaRPr lang="zh-CN" altLang="en-US" sz="800"/>
          </a:p>
        </p:txBody>
      </p:sp>
      <p:sp>
        <p:nvSpPr>
          <p:cNvPr id="64" name="文本框 63"/>
          <p:cNvSpPr txBox="1"/>
          <p:nvPr/>
        </p:nvSpPr>
        <p:spPr>
          <a:xfrm rot="10800000">
            <a:off x="3557270" y="355600"/>
            <a:ext cx="168910" cy="420370"/>
          </a:xfrm>
          <a:prstGeom prst="rect">
            <a:avLst/>
          </a:prstGeom>
          <a:noFill/>
        </p:spPr>
        <p:txBody>
          <a:bodyPr vert="eaVert" wrap="square" rtlCol="0">
            <a:noAutofit/>
          </a:bodyPr>
          <a:p>
            <a:pPr algn="ctr">
              <a:lnSpc>
                <a:spcPct val="40000"/>
              </a:lnSpc>
            </a:pPr>
            <a:r>
              <a:rPr lang="en-US" altLang="zh-CN" sz="800"/>
              <a:t>Genes</a:t>
            </a:r>
            <a:endParaRPr lang="en-US" altLang="zh-CN" sz="800"/>
          </a:p>
        </p:txBody>
      </p:sp>
      <p:sp>
        <p:nvSpPr>
          <p:cNvPr id="65" name="文本框 64"/>
          <p:cNvSpPr txBox="1"/>
          <p:nvPr/>
        </p:nvSpPr>
        <p:spPr>
          <a:xfrm>
            <a:off x="3557270" y="940435"/>
            <a:ext cx="1891665" cy="198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50000"/>
              </a:lnSpc>
            </a:pPr>
            <a:r>
              <a:rPr lang="en-US" altLang="zh-CN" sz="700" b="1"/>
              <a:t>velocity matrix and </a:t>
            </a:r>
            <a:r>
              <a:rPr lang="en-US" altLang="zh-CN" sz="700" b="1">
                <a:sym typeface="+mn-ea"/>
              </a:rPr>
              <a:t>other parameters</a:t>
            </a:r>
            <a:endParaRPr lang="en-US" altLang="zh-CN" sz="700" b="1"/>
          </a:p>
          <a:p>
            <a:pPr algn="ctr">
              <a:lnSpc>
                <a:spcPct val="50000"/>
              </a:lnSpc>
            </a:pPr>
            <a:endParaRPr lang="en-US" altLang="zh-CN" sz="700" b="1"/>
          </a:p>
        </p:txBody>
      </p:sp>
      <p:graphicFrame>
        <p:nvGraphicFramePr>
          <p:cNvPr id="74" name="表格 73"/>
          <p:cNvGraphicFramePr/>
          <p:nvPr>
            <p:custDataLst>
              <p:tags r:id="rId9"/>
            </p:custDataLst>
          </p:nvPr>
        </p:nvGraphicFramePr>
        <p:xfrm>
          <a:off x="3712845" y="267335"/>
          <a:ext cx="1097280" cy="6705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82880"/>
                <a:gridCol w="182880"/>
                <a:gridCol w="182880"/>
                <a:gridCol w="182880"/>
                <a:gridCol w="182880"/>
                <a:gridCol w="182880"/>
              </a:tblGrid>
              <a:tr h="0"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">
                        <a:ln>
                          <a:noFill/>
                        </a:ln>
                      </a:endParaRPr>
                    </a:p>
                  </a:txBody>
                  <a:tcPr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">
                        <a:ln>
                          <a:noFill/>
                        </a:ln>
                      </a:endParaRPr>
                    </a:p>
                  </a:txBody>
                  <a:tcPr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">
                        <a:ln>
                          <a:noFill/>
                        </a:ln>
                      </a:endParaRPr>
                    </a:p>
                  </a:txBody>
                  <a:tcPr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chemeClr val="accent1">
                        <a:lumMod val="75000"/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">
                        <a:ln>
                          <a:noFill/>
                        </a:ln>
                      </a:endParaRPr>
                    </a:p>
                  </a:txBody>
                  <a:tcPr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">
                        <a:ln>
                          <a:noFill/>
                        </a:ln>
                      </a:endParaRPr>
                    </a:p>
                  </a:txBody>
                  <a:tcPr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">
                        <a:ln>
                          <a:noFill/>
                        </a:ln>
                      </a:endParaRPr>
                    </a:p>
                  </a:txBody>
                  <a:tcPr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">
                        <a:ln>
                          <a:noFill/>
                        </a:ln>
                      </a:endParaRPr>
                    </a:p>
                  </a:txBody>
                  <a:tcPr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">
                        <a:ln>
                          <a:noFill/>
                        </a:ln>
                      </a:endParaRPr>
                    </a:p>
                  </a:txBody>
                  <a:tcPr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">
                        <a:ln>
                          <a:noFill/>
                        </a:ln>
                      </a:endParaRPr>
                    </a:p>
                  </a:txBody>
                  <a:tcPr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">
                        <a:ln>
                          <a:noFill/>
                        </a:ln>
                      </a:endParaRPr>
                    </a:p>
                  </a:txBody>
                  <a:tcPr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">
                        <a:ln>
                          <a:noFill/>
                        </a:ln>
                      </a:endParaRPr>
                    </a:p>
                  </a:txBody>
                  <a:tcPr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">
                        <a:ln>
                          <a:noFill/>
                        </a:ln>
                      </a:endParaRPr>
                    </a:p>
                  </a:txBody>
                  <a:tcPr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">
                        <a:ln>
                          <a:noFill/>
                        </a:ln>
                      </a:endParaRPr>
                    </a:p>
                  </a:txBody>
                  <a:tcPr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">
                        <a:ln>
                          <a:noFill/>
                        </a:ln>
                      </a:endParaRPr>
                    </a:p>
                  </a:txBody>
                  <a:tcPr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chemeClr val="accent5">
                        <a:lumMod val="75000"/>
                        <a:alpha val="21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">
                        <a:ln>
                          <a:noFill/>
                        </a:ln>
                      </a:endParaRPr>
                    </a:p>
                  </a:txBody>
                  <a:tcPr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">
                        <a:ln>
                          <a:noFill/>
                        </a:ln>
                      </a:endParaRPr>
                    </a:p>
                  </a:txBody>
                  <a:tcPr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">
                        <a:ln>
                          <a:noFill/>
                        </a:ln>
                      </a:endParaRPr>
                    </a:p>
                  </a:txBody>
                  <a:tcPr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">
                        <a:ln>
                          <a:noFill/>
                        </a:ln>
                      </a:endParaRPr>
                    </a:p>
                  </a:txBody>
                  <a:tcPr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chemeClr val="accent5">
                        <a:lumMod val="75000"/>
                        <a:alpha val="3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">
                        <a:ln>
                          <a:noFill/>
                        </a:ln>
                      </a:endParaRPr>
                    </a:p>
                  </a:txBody>
                  <a:tcPr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">
                        <a:ln>
                          <a:noFill/>
                        </a:ln>
                      </a:endParaRPr>
                    </a:p>
                  </a:txBody>
                  <a:tcPr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">
                        <a:ln>
                          <a:noFill/>
                        </a:ln>
                      </a:endParaRPr>
                    </a:p>
                  </a:txBody>
                  <a:tcPr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">
                        <a:ln>
                          <a:noFill/>
                        </a:ln>
                      </a:endParaRPr>
                    </a:p>
                  </a:txBody>
                  <a:tcPr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">
                        <a:ln>
                          <a:noFill/>
                        </a:ln>
                      </a:endParaRPr>
                    </a:p>
                  </a:txBody>
                  <a:tcPr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">
                        <a:ln>
                          <a:noFill/>
                        </a:ln>
                      </a:endParaRPr>
                    </a:p>
                  </a:txBody>
                  <a:tcPr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">
                        <a:ln>
                          <a:noFill/>
                        </a:ln>
                      </a:endParaRPr>
                    </a:p>
                  </a:txBody>
                  <a:tcPr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">
                        <a:ln>
                          <a:noFill/>
                        </a:ln>
                      </a:endParaRPr>
                    </a:p>
                  </a:txBody>
                  <a:tcPr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chemeClr val="accent1">
                        <a:lumMod val="75000"/>
                        <a:alpha val="6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">
                        <a:ln>
                          <a:noFill/>
                        </a:ln>
                      </a:endParaRPr>
                    </a:p>
                  </a:txBody>
                  <a:tcPr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chemeClr val="accent1">
                        <a:lumMod val="50000"/>
                        <a:alpha val="7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">
                        <a:ln>
                          <a:noFill/>
                        </a:ln>
                      </a:endParaRPr>
                    </a:p>
                  </a:txBody>
                  <a:tcPr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">
                        <a:ln>
                          <a:noFill/>
                        </a:ln>
                      </a:endParaRPr>
                    </a:p>
                  </a:txBody>
                  <a:tcPr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">
                        <a:ln>
                          <a:noFill/>
                        </a:ln>
                      </a:endParaRPr>
                    </a:p>
                  </a:txBody>
                  <a:tcPr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chemeClr val="accent5">
                        <a:lumMod val="75000"/>
                        <a:alpha val="57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">
                        <a:ln>
                          <a:noFill/>
                        </a:ln>
                      </a:endParaRPr>
                    </a:p>
                  </a:txBody>
                  <a:tcPr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">
                        <a:ln>
                          <a:noFill/>
                        </a:ln>
                      </a:endParaRPr>
                    </a:p>
                  </a:txBody>
                  <a:tcPr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">
                        <a:ln>
                          <a:noFill/>
                        </a:ln>
                      </a:endParaRPr>
                    </a:p>
                  </a:txBody>
                  <a:tcPr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">
                        <a:ln>
                          <a:noFill/>
                        </a:ln>
                      </a:endParaRPr>
                    </a:p>
                  </a:txBody>
                  <a:tcPr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">
                        <a:ln>
                          <a:noFill/>
                        </a:ln>
                      </a:endParaRPr>
                    </a:p>
                  </a:txBody>
                  <a:tcPr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chemeClr val="accent5">
                        <a:lumMod val="75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">
                        <a:ln>
                          <a:noFill/>
                        </a:ln>
                      </a:endParaRPr>
                    </a:p>
                  </a:txBody>
                  <a:tcPr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6" name="表格 75"/>
          <p:cNvGraphicFramePr/>
          <p:nvPr>
            <p:custDataLst>
              <p:tags r:id="rId10"/>
            </p:custDataLst>
          </p:nvPr>
        </p:nvGraphicFramePr>
        <p:xfrm>
          <a:off x="4881880" y="266700"/>
          <a:ext cx="548640" cy="6400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82880"/>
                <a:gridCol w="182880"/>
              </a:tblGrid>
              <a:tr h="0"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">
                        <a:ln>
                          <a:noFill/>
                        </a:ln>
                      </a:endParaRPr>
                    </a:p>
                  </a:txBody>
                  <a:tcPr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">
                        <a:ln>
                          <a:noFill/>
                        </a:ln>
                      </a:endParaRPr>
                    </a:p>
                  </a:txBody>
                  <a:tcPr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">
                        <a:ln>
                          <a:noFill/>
                        </a:ln>
                      </a:endParaRPr>
                    </a:p>
                  </a:txBody>
                  <a:tcPr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">
                        <a:ln>
                          <a:noFill/>
                        </a:ln>
                      </a:endParaRPr>
                    </a:p>
                  </a:txBody>
                  <a:tcPr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">
                        <a:ln>
                          <a:noFill/>
                        </a:ln>
                      </a:endParaRPr>
                    </a:p>
                  </a:txBody>
                  <a:tcPr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">
                        <a:ln>
                          <a:noFill/>
                        </a:ln>
                      </a:endParaRPr>
                    </a:p>
                  </a:txBody>
                  <a:tcPr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chemeClr val="accent5">
                        <a:lumMod val="75000"/>
                        <a:alpha val="21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">
                        <a:ln>
                          <a:noFill/>
                        </a:ln>
                      </a:endParaRPr>
                    </a:p>
                  </a:txBody>
                  <a:tcPr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">
                        <a:ln>
                          <a:noFill/>
                        </a:ln>
                      </a:endParaRPr>
                    </a:p>
                  </a:txBody>
                  <a:tcPr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">
                        <a:ln>
                          <a:noFill/>
                        </a:ln>
                      </a:endParaRPr>
                    </a:p>
                  </a:txBody>
                  <a:tcPr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">
                        <a:ln>
                          <a:noFill/>
                        </a:ln>
                      </a:endParaRPr>
                    </a:p>
                  </a:txBody>
                  <a:tcPr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chemeClr val="accent1">
                        <a:lumMod val="75000"/>
                        <a:alpha val="65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">
                        <a:ln>
                          <a:noFill/>
                        </a:ln>
                      </a:endParaRPr>
                    </a:p>
                  </a:txBody>
                  <a:tcPr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">
                        <a:ln>
                          <a:noFill/>
                        </a:ln>
                      </a:endParaRPr>
                    </a:p>
                  </a:txBody>
                  <a:tcPr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78" name="下箭头 77"/>
          <p:cNvSpPr/>
          <p:nvPr/>
        </p:nvSpPr>
        <p:spPr>
          <a:xfrm>
            <a:off x="4442460" y="1094105"/>
            <a:ext cx="139700" cy="139700"/>
          </a:xfrm>
          <a:prstGeom prst="downArrow">
            <a:avLst/>
          </a:prstGeom>
          <a:solidFill>
            <a:srgbClr val="7030A0">
              <a:alpha val="50000"/>
            </a:srgbClr>
          </a:solidFill>
          <a:ln>
            <a:solidFill>
              <a:srgbClr val="B797C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79" name="表格 78"/>
          <p:cNvGraphicFramePr/>
          <p:nvPr>
            <p:custDataLst>
              <p:tags r:id="rId11"/>
            </p:custDataLst>
          </p:nvPr>
        </p:nvGraphicFramePr>
        <p:xfrm>
          <a:off x="3907790" y="1358900"/>
          <a:ext cx="834680" cy="8352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8800"/>
                <a:gridCol w="208800"/>
                <a:gridCol w="208800"/>
                <a:gridCol w="208280"/>
              </a:tblGrid>
              <a:tr h="208800"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">
                        <a:ln>
                          <a:noFill/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">
                        <a:ln>
                          <a:noFill/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030A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">
                        <a:ln>
                          <a:noFill/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2060">
                        <a:alpha val="65000"/>
                      </a:srgbClr>
                    </a:solidFill>
                  </a:tcPr>
                </a:tc>
              </a:tr>
              <a:tr h="208800"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">
                        <a:ln>
                          <a:noFill/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030A0">
                        <a:alpha val="34000"/>
                      </a:srgb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">
                        <a:ln>
                          <a:noFill/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">
                        <a:ln>
                          <a:noFill/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">
                        <a:ln>
                          <a:noFill/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030A0">
                        <a:alpha val="25000"/>
                      </a:srgbClr>
                    </a:solidFill>
                  </a:tcPr>
                </a:tc>
              </a:tr>
              <a:tr h="208800"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">
                        <a:ln>
                          <a:noFill/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">
                        <a:ln>
                          <a:noFill/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030A0">
                        <a:alpha val="32000"/>
                      </a:srgb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">
                        <a:ln>
                          <a:noFill/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">
                        <a:ln>
                          <a:noFill/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75000"/>
                        <a:alpha val="50000"/>
                      </a:schemeClr>
                    </a:solidFill>
                  </a:tcPr>
                </a:tc>
              </a:tr>
              <a:tr h="208800"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">
                        <a:ln>
                          <a:noFill/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50000"/>
                        <a:alpha val="5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">
                        <a:ln>
                          <a:noFill/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">
                        <a:ln>
                          <a:noFill/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030A0">
                        <a:alpha val="17000"/>
                      </a:srgb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">
                        <a:ln>
                          <a:noFill/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80" name="文本框 79"/>
          <p:cNvSpPr txBox="1"/>
          <p:nvPr/>
        </p:nvSpPr>
        <p:spPr>
          <a:xfrm>
            <a:off x="4092575" y="1228090"/>
            <a:ext cx="520065" cy="1162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>
              <a:lnSpc>
                <a:spcPct val="50000"/>
              </a:lnSpc>
            </a:pPr>
            <a:r>
              <a:rPr lang="en-US" altLang="zh-CN" sz="800"/>
              <a:t>Cells</a:t>
            </a:r>
            <a:endParaRPr lang="en-US" altLang="zh-CN" sz="800"/>
          </a:p>
        </p:txBody>
      </p:sp>
      <p:sp>
        <p:nvSpPr>
          <p:cNvPr id="81" name="文本框 80"/>
          <p:cNvSpPr txBox="1"/>
          <p:nvPr/>
        </p:nvSpPr>
        <p:spPr>
          <a:xfrm rot="10800000">
            <a:off x="3792855" y="1606550"/>
            <a:ext cx="114935" cy="339725"/>
          </a:xfrm>
          <a:prstGeom prst="rect">
            <a:avLst/>
          </a:prstGeom>
          <a:noFill/>
        </p:spPr>
        <p:txBody>
          <a:bodyPr vert="eaVert" wrap="square" rtlCol="0">
            <a:noAutofit/>
          </a:bodyPr>
          <a:p>
            <a:pPr algn="ctr">
              <a:lnSpc>
                <a:spcPct val="40000"/>
              </a:lnSpc>
            </a:pPr>
            <a:r>
              <a:rPr lang="en-US" altLang="zh-CN" sz="800"/>
              <a:t>Cells</a:t>
            </a:r>
            <a:endParaRPr lang="en-US" altLang="zh-CN" sz="800"/>
          </a:p>
        </p:txBody>
      </p:sp>
      <p:sp>
        <p:nvSpPr>
          <p:cNvPr id="82" name="文本框 81"/>
          <p:cNvSpPr txBox="1"/>
          <p:nvPr/>
        </p:nvSpPr>
        <p:spPr>
          <a:xfrm>
            <a:off x="3596640" y="2309495"/>
            <a:ext cx="1508125" cy="144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50000"/>
              </a:lnSpc>
            </a:pPr>
            <a:r>
              <a:rPr lang="en-US" altLang="zh-CN" sz="700" b="1"/>
              <a:t>Transition probability matrix</a:t>
            </a:r>
            <a:endParaRPr lang="en-US" altLang="zh-CN" sz="700" b="1"/>
          </a:p>
        </p:txBody>
      </p:sp>
      <p:sp>
        <p:nvSpPr>
          <p:cNvPr id="83" name="文本框 82"/>
          <p:cNvSpPr txBox="1"/>
          <p:nvPr/>
        </p:nvSpPr>
        <p:spPr>
          <a:xfrm>
            <a:off x="4959350" y="1616075"/>
            <a:ext cx="233680" cy="3302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/>
              <a:t>+</a:t>
            </a:r>
            <a:endParaRPr lang="en-US" altLang="zh-CN"/>
          </a:p>
        </p:txBody>
      </p:sp>
      <p:pic>
        <p:nvPicPr>
          <p:cNvPr id="84" name="图片 83"/>
          <p:cNvPicPr>
            <a:picLocks noChangeAspect="1"/>
          </p:cNvPicPr>
          <p:nvPr/>
        </p:nvPicPr>
        <p:blipFill>
          <a:blip r:embed="rId12"/>
          <a:srcRect l="4670" t="9698" r="4148" b="5396"/>
          <a:stretch>
            <a:fillRect/>
          </a:stretch>
        </p:blipFill>
        <p:spPr>
          <a:xfrm>
            <a:off x="5410835" y="1303655"/>
            <a:ext cx="1234440" cy="911225"/>
          </a:xfrm>
          <a:prstGeom prst="rect">
            <a:avLst/>
          </a:prstGeom>
        </p:spPr>
      </p:pic>
      <p:sp>
        <p:nvSpPr>
          <p:cNvPr id="85" name="下箭头 84"/>
          <p:cNvSpPr/>
          <p:nvPr/>
        </p:nvSpPr>
        <p:spPr>
          <a:xfrm rot="10800000">
            <a:off x="5881370" y="1088390"/>
            <a:ext cx="139700" cy="139700"/>
          </a:xfrm>
          <a:prstGeom prst="downArrow">
            <a:avLst/>
          </a:prstGeom>
          <a:solidFill>
            <a:srgbClr val="7030A0">
              <a:alpha val="50000"/>
            </a:srgbClr>
          </a:solidFill>
          <a:ln>
            <a:solidFill>
              <a:srgbClr val="B797C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6" name="文本框 85"/>
          <p:cNvSpPr txBox="1"/>
          <p:nvPr/>
        </p:nvSpPr>
        <p:spPr>
          <a:xfrm>
            <a:off x="5191125" y="2309495"/>
            <a:ext cx="1648460" cy="144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50000"/>
              </a:lnSpc>
            </a:pPr>
            <a:r>
              <a:rPr lang="en-US" altLang="zh-CN" sz="700" b="1"/>
              <a:t>Cell embedding(PCA,UMAP,TSNE)</a:t>
            </a:r>
            <a:endParaRPr lang="en-US" altLang="zh-CN" sz="700" b="1"/>
          </a:p>
        </p:txBody>
      </p:sp>
      <p:pic>
        <p:nvPicPr>
          <p:cNvPr id="87" name="图片 86"/>
          <p:cNvPicPr>
            <a:picLocks noChangeAspect="1"/>
          </p:cNvPicPr>
          <p:nvPr/>
        </p:nvPicPr>
        <p:blipFill>
          <a:blip r:embed="rId13"/>
          <a:srcRect t="7615" b="-2652"/>
          <a:stretch>
            <a:fillRect/>
          </a:stretch>
        </p:blipFill>
        <p:spPr>
          <a:xfrm>
            <a:off x="5448935" y="76910"/>
            <a:ext cx="1196340" cy="936000"/>
          </a:xfrm>
          <a:prstGeom prst="rect">
            <a:avLst/>
          </a:prstGeom>
        </p:spPr>
      </p:pic>
      <p:sp>
        <p:nvSpPr>
          <p:cNvPr id="88" name="文本框 87"/>
          <p:cNvSpPr txBox="1"/>
          <p:nvPr/>
        </p:nvSpPr>
        <p:spPr>
          <a:xfrm>
            <a:off x="5287010" y="962025"/>
            <a:ext cx="1508125" cy="144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50000"/>
              </a:lnSpc>
            </a:pPr>
            <a:r>
              <a:rPr lang="en-US" altLang="zh-CN" sz="700" b="1"/>
              <a:t>Streamline Plot</a:t>
            </a:r>
            <a:endParaRPr lang="en-US" altLang="zh-CN" sz="700" b="1"/>
          </a:p>
        </p:txBody>
      </p:sp>
      <p:sp>
        <p:nvSpPr>
          <p:cNvPr id="89" name="圆角矩形 88"/>
          <p:cNvSpPr/>
          <p:nvPr/>
        </p:nvSpPr>
        <p:spPr>
          <a:xfrm>
            <a:off x="76835" y="2655570"/>
            <a:ext cx="6717665" cy="2787015"/>
          </a:xfrm>
          <a:prstGeom prst="roundRect">
            <a:avLst>
              <a:gd name="adj" fmla="val 6234"/>
            </a:avLst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 altLang="zh-CN"/>
          </a:p>
        </p:txBody>
      </p:sp>
      <p:sp>
        <p:nvSpPr>
          <p:cNvPr id="90" name="文本框 89"/>
          <p:cNvSpPr txBox="1"/>
          <p:nvPr/>
        </p:nvSpPr>
        <p:spPr>
          <a:xfrm>
            <a:off x="-6985" y="2537460"/>
            <a:ext cx="83820" cy="3302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dist">
              <a:lnSpc>
                <a:spcPct val="40000"/>
              </a:lnSpc>
            </a:pPr>
            <a:r>
              <a:rPr lang="en-US" altLang="zh-CN" sz="1300" b="1"/>
              <a:t>b</a:t>
            </a:r>
            <a:endParaRPr lang="en-US" altLang="zh-CN" sz="1300" b="1"/>
          </a:p>
        </p:txBody>
      </p:sp>
      <p:sp>
        <p:nvSpPr>
          <p:cNvPr id="91" name="文本框 90"/>
          <p:cNvSpPr txBox="1"/>
          <p:nvPr/>
        </p:nvSpPr>
        <p:spPr>
          <a:xfrm>
            <a:off x="202565" y="2726690"/>
            <a:ext cx="1562100" cy="2419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800" b="1">
                <a:solidFill>
                  <a:schemeClr val="tx1"/>
                </a:solidFill>
              </a:rPr>
              <a:t>20 methods</a:t>
            </a:r>
            <a:endParaRPr lang="en-US" altLang="zh-CN" sz="800" b="1">
              <a:solidFill>
                <a:schemeClr val="tx1"/>
              </a:solidFill>
            </a:endParaRPr>
          </a:p>
        </p:txBody>
      </p:sp>
      <p:sp>
        <p:nvSpPr>
          <p:cNvPr id="94" name="圆角矩形 93"/>
          <p:cNvSpPr/>
          <p:nvPr/>
        </p:nvSpPr>
        <p:spPr>
          <a:xfrm>
            <a:off x="201930" y="2758440"/>
            <a:ext cx="1562735" cy="1003935"/>
          </a:xfrm>
          <a:prstGeom prst="roundRect">
            <a:avLst>
              <a:gd name="adj" fmla="val 6234"/>
            </a:avLst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 altLang="zh-CN"/>
          </a:p>
        </p:txBody>
      </p:sp>
      <p:sp>
        <p:nvSpPr>
          <p:cNvPr id="95" name="文本框 94"/>
          <p:cNvSpPr txBox="1"/>
          <p:nvPr/>
        </p:nvSpPr>
        <p:spPr>
          <a:xfrm>
            <a:off x="201930" y="2863215"/>
            <a:ext cx="1603375" cy="8991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700">
                <a:solidFill>
                  <a:srgbClr val="7030A0"/>
                </a:solidFill>
              </a:rPr>
              <a:t>scVelo(3),Multivelo</a:t>
            </a:r>
            <a:endParaRPr lang="en-US" altLang="zh-CN" sz="700">
              <a:solidFill>
                <a:srgbClr val="7030A0"/>
              </a:solidFill>
            </a:endParaRPr>
          </a:p>
          <a:p>
            <a:pPr algn="ctr"/>
            <a:r>
              <a:rPr lang="en-US" altLang="zh-CN" sz="700">
                <a:solidFill>
                  <a:srgbClr val="7030A0"/>
                </a:solidFill>
              </a:rPr>
              <a:t>cell2fate,Dynamo</a:t>
            </a:r>
            <a:endParaRPr lang="en-US" altLang="zh-CN" sz="700">
              <a:solidFill>
                <a:srgbClr val="7030A0"/>
              </a:solidFill>
            </a:endParaRPr>
          </a:p>
          <a:p>
            <a:pPr algn="ctr"/>
            <a:r>
              <a:rPr lang="en-US" altLang="zh-CN" sz="700">
                <a:solidFill>
                  <a:srgbClr val="7030A0"/>
                </a:solidFill>
              </a:rPr>
              <a:t>veloAE,</a:t>
            </a:r>
            <a:r>
              <a:rPr lang="en-US" altLang="zh-CN" sz="700">
                <a:solidFill>
                  <a:srgbClr val="7030A0"/>
                </a:solidFill>
                <a:sym typeface="+mn-ea"/>
              </a:rPr>
              <a:t>cellDancer</a:t>
            </a:r>
            <a:endParaRPr lang="en-US" altLang="zh-CN" sz="700">
              <a:solidFill>
                <a:srgbClr val="7030A0"/>
              </a:solidFill>
              <a:sym typeface="+mn-ea"/>
            </a:endParaRPr>
          </a:p>
          <a:p>
            <a:pPr algn="ctr"/>
            <a:r>
              <a:rPr lang="en-US" altLang="zh-CN" sz="700">
                <a:solidFill>
                  <a:srgbClr val="7030A0"/>
                </a:solidFill>
                <a:sym typeface="+mn-ea"/>
              </a:rPr>
              <a:t>DeepVelo,veloVI</a:t>
            </a:r>
            <a:endParaRPr lang="en-US" altLang="zh-CN" sz="700">
              <a:solidFill>
                <a:srgbClr val="7030A0"/>
              </a:solidFill>
              <a:sym typeface="+mn-ea"/>
            </a:endParaRPr>
          </a:p>
          <a:p>
            <a:pPr algn="ctr"/>
            <a:r>
              <a:rPr lang="en-US" altLang="zh-CN" sz="700">
                <a:solidFill>
                  <a:srgbClr val="7030A0"/>
                </a:solidFill>
                <a:sym typeface="+mn-ea"/>
              </a:rPr>
              <a:t>UnitVelo</a:t>
            </a:r>
            <a:r>
              <a:rPr lang="en-US" altLang="zh-CN" sz="700">
                <a:solidFill>
                  <a:srgbClr val="7030A0"/>
                </a:solidFill>
                <a:sym typeface="+mn-ea"/>
              </a:rPr>
              <a:t>(2)</a:t>
            </a:r>
            <a:r>
              <a:rPr lang="en-US" altLang="zh-CN" sz="700">
                <a:solidFill>
                  <a:srgbClr val="7030A0"/>
                </a:solidFill>
                <a:sym typeface="+mn-ea"/>
              </a:rPr>
              <a:t>,TSvelo</a:t>
            </a:r>
            <a:endParaRPr lang="en-US" altLang="zh-CN" sz="700">
              <a:solidFill>
                <a:srgbClr val="7030A0"/>
              </a:solidFill>
            </a:endParaRPr>
          </a:p>
          <a:p>
            <a:pPr algn="ctr"/>
            <a:r>
              <a:rPr lang="en-US" altLang="zh-CN" sz="700">
                <a:solidFill>
                  <a:srgbClr val="7030A0"/>
                </a:solidFill>
                <a:sym typeface="+mn-ea"/>
              </a:rPr>
              <a:t>DeepKINET,SDEvelo</a:t>
            </a:r>
            <a:endParaRPr lang="en-US" altLang="zh-CN" sz="700">
              <a:solidFill>
                <a:srgbClr val="7030A0"/>
              </a:solidFill>
              <a:sym typeface="+mn-ea"/>
            </a:endParaRPr>
          </a:p>
          <a:p>
            <a:pPr algn="ctr"/>
            <a:r>
              <a:rPr lang="en-US" altLang="zh-CN" sz="700">
                <a:solidFill>
                  <a:srgbClr val="7030A0"/>
                </a:solidFill>
              </a:rPr>
              <a:t>TFvelo,TIvelo</a:t>
            </a:r>
            <a:endParaRPr lang="en-US" altLang="zh-CN" sz="700">
              <a:solidFill>
                <a:srgbClr val="7030A0"/>
              </a:solidFill>
            </a:endParaRPr>
          </a:p>
          <a:p>
            <a:pPr algn="ctr"/>
            <a:r>
              <a:rPr lang="en-US" altLang="zh-CN" sz="700">
                <a:solidFill>
                  <a:srgbClr val="7030A0"/>
                </a:solidFill>
              </a:rPr>
              <a:t>Deepvelo(</a:t>
            </a:r>
            <a:r>
              <a:rPr lang="en-US" altLang="zh-CN" sz="700">
                <a:solidFill>
                  <a:srgbClr val="7030A0"/>
                </a:solidFill>
              </a:rPr>
              <a:t>scVelo),Graphvelo(2)</a:t>
            </a:r>
            <a:endParaRPr lang="en-US" altLang="zh-CN" sz="700">
              <a:solidFill>
                <a:srgbClr val="7030A0"/>
              </a:solidFill>
            </a:endParaRPr>
          </a:p>
        </p:txBody>
      </p:sp>
      <p:sp>
        <p:nvSpPr>
          <p:cNvPr id="99" name="文本框 98"/>
          <p:cNvSpPr txBox="1"/>
          <p:nvPr/>
        </p:nvSpPr>
        <p:spPr>
          <a:xfrm>
            <a:off x="889635" y="3651885"/>
            <a:ext cx="189865" cy="4089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/>
              <a:t>+</a:t>
            </a:r>
            <a:endParaRPr lang="en-US" altLang="zh-CN"/>
          </a:p>
        </p:txBody>
      </p:sp>
      <p:sp>
        <p:nvSpPr>
          <p:cNvPr id="100" name="圆角矩形 99"/>
          <p:cNvSpPr/>
          <p:nvPr/>
        </p:nvSpPr>
        <p:spPr>
          <a:xfrm>
            <a:off x="201930" y="3901440"/>
            <a:ext cx="1562735" cy="1460500"/>
          </a:xfrm>
          <a:prstGeom prst="roundRect">
            <a:avLst>
              <a:gd name="adj" fmla="val 6234"/>
            </a:avLst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 altLang="zh-CN"/>
          </a:p>
        </p:txBody>
      </p:sp>
      <p:sp>
        <p:nvSpPr>
          <p:cNvPr id="102" name="文本框 101"/>
          <p:cNvSpPr txBox="1"/>
          <p:nvPr/>
        </p:nvSpPr>
        <p:spPr>
          <a:xfrm>
            <a:off x="210185" y="3857625"/>
            <a:ext cx="1554480" cy="13582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800" b="1">
                <a:solidFill>
                  <a:schemeClr val="tx1"/>
                </a:solidFill>
              </a:rPr>
              <a:t>17 Datasets</a:t>
            </a:r>
            <a:endParaRPr lang="en-US" altLang="zh-CN" sz="800" b="1">
              <a:solidFill>
                <a:schemeClr val="tx1"/>
              </a:solidFill>
            </a:endParaRPr>
          </a:p>
          <a:p>
            <a:pPr algn="ctr"/>
            <a:r>
              <a:rPr lang="en-US" altLang="zh-CN" sz="800">
                <a:solidFill>
                  <a:srgbClr val="00B0F0"/>
                </a:solidFill>
              </a:rPr>
              <a:t>14 real datasets</a:t>
            </a:r>
            <a:endParaRPr lang="en-US" altLang="zh-CN" sz="800">
              <a:solidFill>
                <a:srgbClr val="00B0F0"/>
              </a:solidFill>
            </a:endParaRPr>
          </a:p>
          <a:p>
            <a:pPr algn="ctr"/>
            <a:endParaRPr lang="en-US" altLang="zh-CN" sz="800">
              <a:solidFill>
                <a:srgbClr val="00B0F0"/>
              </a:solidFill>
            </a:endParaRPr>
          </a:p>
          <a:p>
            <a:pPr algn="ctr"/>
            <a:endParaRPr lang="en-US" altLang="zh-CN" sz="800">
              <a:solidFill>
                <a:srgbClr val="00B0F0"/>
              </a:solidFill>
            </a:endParaRPr>
          </a:p>
          <a:p>
            <a:pPr algn="ctr"/>
            <a:endParaRPr lang="en-US" altLang="zh-CN" sz="800">
              <a:solidFill>
                <a:srgbClr val="00B0F0"/>
              </a:solidFill>
            </a:endParaRPr>
          </a:p>
          <a:p>
            <a:pPr algn="ctr"/>
            <a:endParaRPr lang="en-US" altLang="zh-CN" sz="800">
              <a:solidFill>
                <a:srgbClr val="00B0F0"/>
              </a:solidFill>
            </a:endParaRPr>
          </a:p>
          <a:p>
            <a:pPr algn="ctr"/>
            <a:endParaRPr lang="en-US" altLang="zh-CN" sz="800">
              <a:solidFill>
                <a:srgbClr val="00B0F0"/>
              </a:solidFill>
            </a:endParaRPr>
          </a:p>
          <a:p>
            <a:pPr algn="ctr"/>
            <a:endParaRPr lang="en-US" altLang="zh-CN" sz="800">
              <a:solidFill>
                <a:srgbClr val="00B0F0"/>
              </a:solidFill>
            </a:endParaRPr>
          </a:p>
          <a:p>
            <a:pPr algn="ctr"/>
            <a:endParaRPr lang="en-US" altLang="zh-CN" sz="800">
              <a:solidFill>
                <a:srgbClr val="00B0F0"/>
              </a:solidFill>
            </a:endParaRPr>
          </a:p>
          <a:p>
            <a:pPr algn="ctr"/>
            <a:endParaRPr lang="en-US" altLang="zh-CN" sz="800">
              <a:solidFill>
                <a:srgbClr val="00B0F0"/>
              </a:solidFill>
            </a:endParaRPr>
          </a:p>
          <a:p>
            <a:pPr algn="ctr"/>
            <a:endParaRPr lang="en-US" altLang="zh-CN" sz="800">
              <a:solidFill>
                <a:srgbClr val="00B0F0"/>
              </a:solidFill>
            </a:endParaRPr>
          </a:p>
          <a:p>
            <a:pPr algn="ctr"/>
            <a:r>
              <a:rPr lang="en-US" altLang="zh-CN" sz="800">
                <a:solidFill>
                  <a:srgbClr val="00B0F0"/>
                </a:solidFill>
              </a:rPr>
              <a:t>3 simulate</a:t>
            </a:r>
            <a:r>
              <a:rPr lang="en-US" altLang="zh-CN" sz="800">
                <a:solidFill>
                  <a:srgbClr val="00B0F0"/>
                </a:solidFill>
              </a:rPr>
              <a:t>d datasets</a:t>
            </a:r>
            <a:endParaRPr lang="en-US" altLang="zh-CN" sz="800">
              <a:solidFill>
                <a:srgbClr val="00B0F0"/>
              </a:solidFill>
            </a:endParaRPr>
          </a:p>
        </p:txBody>
      </p:sp>
      <p:sp>
        <p:nvSpPr>
          <p:cNvPr id="103" name="下箭头 102"/>
          <p:cNvSpPr/>
          <p:nvPr/>
        </p:nvSpPr>
        <p:spPr>
          <a:xfrm rot="16200000">
            <a:off x="1693545" y="3761105"/>
            <a:ext cx="139700" cy="139700"/>
          </a:xfrm>
          <a:prstGeom prst="downArrow">
            <a:avLst/>
          </a:prstGeom>
          <a:solidFill>
            <a:srgbClr val="7030A0">
              <a:alpha val="50000"/>
            </a:srgbClr>
          </a:solidFill>
          <a:ln>
            <a:solidFill>
              <a:srgbClr val="B797C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5" name="圆角矩形 104"/>
          <p:cNvSpPr/>
          <p:nvPr/>
        </p:nvSpPr>
        <p:spPr>
          <a:xfrm>
            <a:off x="1844675" y="2759075"/>
            <a:ext cx="2317750" cy="2602865"/>
          </a:xfrm>
          <a:prstGeom prst="roundRect">
            <a:avLst>
              <a:gd name="adj" fmla="val 6234"/>
            </a:avLst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 altLang="zh-CN"/>
          </a:p>
        </p:txBody>
      </p:sp>
      <p:sp>
        <p:nvSpPr>
          <p:cNvPr id="106" name="文本框 105"/>
          <p:cNvSpPr txBox="1"/>
          <p:nvPr/>
        </p:nvSpPr>
        <p:spPr>
          <a:xfrm>
            <a:off x="1912620" y="2758440"/>
            <a:ext cx="2249805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800" b="1"/>
              <a:t>Performance at Cell level</a:t>
            </a:r>
            <a:endParaRPr lang="en-US" altLang="zh-CN" sz="800" b="1"/>
          </a:p>
        </p:txBody>
      </p:sp>
      <p:sp>
        <p:nvSpPr>
          <p:cNvPr id="115" name="圆角矩形 114"/>
          <p:cNvSpPr/>
          <p:nvPr/>
        </p:nvSpPr>
        <p:spPr>
          <a:xfrm>
            <a:off x="4223385" y="2759075"/>
            <a:ext cx="2506980" cy="2602865"/>
          </a:xfrm>
          <a:prstGeom prst="roundRect">
            <a:avLst>
              <a:gd name="adj" fmla="val 6234"/>
            </a:avLst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 altLang="zh-CN"/>
          </a:p>
        </p:txBody>
      </p:sp>
      <p:sp>
        <p:nvSpPr>
          <p:cNvPr id="117" name="文本框 116"/>
          <p:cNvSpPr txBox="1"/>
          <p:nvPr/>
        </p:nvSpPr>
        <p:spPr>
          <a:xfrm>
            <a:off x="4223385" y="2759075"/>
            <a:ext cx="2507615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800" b="1"/>
              <a:t>Performance at G</a:t>
            </a:r>
            <a:r>
              <a:rPr lang="en-US" altLang="zh-CN" sz="800" b="1"/>
              <a:t>ene level</a:t>
            </a:r>
            <a:endParaRPr lang="en-US" altLang="zh-CN" sz="800" b="1"/>
          </a:p>
        </p:txBody>
      </p:sp>
      <p:sp>
        <p:nvSpPr>
          <p:cNvPr id="8" name="文本框 7"/>
          <p:cNvSpPr txBox="1"/>
          <p:nvPr/>
        </p:nvSpPr>
        <p:spPr>
          <a:xfrm>
            <a:off x="4223385" y="2916555"/>
            <a:ext cx="1306195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800">
                <a:sym typeface="+mn-ea"/>
              </a:rPr>
              <a:t>On G</a:t>
            </a:r>
            <a:r>
              <a:rPr lang="en-US" altLang="zh-CN" sz="800">
                <a:sym typeface="+mn-ea"/>
              </a:rPr>
              <a:t>ene u-s Phase map</a:t>
            </a:r>
            <a:endParaRPr lang="zh-CN" altLang="en-US" sz="800"/>
          </a:p>
        </p:txBody>
      </p:sp>
      <p:sp>
        <p:nvSpPr>
          <p:cNvPr id="9" name="文本框 8"/>
          <p:cNvSpPr txBox="1"/>
          <p:nvPr/>
        </p:nvSpPr>
        <p:spPr>
          <a:xfrm>
            <a:off x="4223385" y="3733165"/>
            <a:ext cx="120904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800">
                <a:sym typeface="+mn-ea"/>
              </a:rPr>
              <a:t>On Kinetic </a:t>
            </a:r>
            <a:r>
              <a:rPr lang="en-US" altLang="zh-CN" sz="800">
                <a:sym typeface="+mn-ea"/>
              </a:rPr>
              <a:t>parameters</a:t>
            </a:r>
            <a:endParaRPr lang="en-US" altLang="zh-CN" sz="800"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223000" y="2916555"/>
            <a:ext cx="50800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800"/>
              <a:t>Good</a:t>
            </a:r>
            <a:r>
              <a:rPr lang="zh-CN" altLang="en-US" sz="800"/>
              <a:t>？</a:t>
            </a:r>
            <a:endParaRPr lang="zh-CN" altLang="en-US" sz="800"/>
          </a:p>
        </p:txBody>
      </p:sp>
      <p:pic>
        <p:nvPicPr>
          <p:cNvPr id="17" name="图片 16" descr="Gemini_Generated_Image_ux8v02ux8v02ux8v(1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09995" y="3111500"/>
            <a:ext cx="279400" cy="251460"/>
          </a:xfrm>
          <a:prstGeom prst="rect">
            <a:avLst/>
          </a:prstGeom>
        </p:spPr>
      </p:pic>
      <p:pic>
        <p:nvPicPr>
          <p:cNvPr id="19" name="图片 18" descr="plot_CIT"/>
          <p:cNvPicPr>
            <a:picLocks noChangeAspect="1"/>
          </p:cNvPicPr>
          <p:nvPr/>
        </p:nvPicPr>
        <p:blipFill>
          <a:blip r:embed="rId15"/>
          <a:srcRect l="4102" t="1900" r="-1245" b="6796"/>
          <a:stretch>
            <a:fillRect/>
          </a:stretch>
        </p:blipFill>
        <p:spPr>
          <a:xfrm>
            <a:off x="4248785" y="3900805"/>
            <a:ext cx="1162050" cy="717550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5330825" y="3947160"/>
            <a:ext cx="13347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700"/>
              <a:t>Comparison of predicted kinetic parameters and </a:t>
            </a:r>
            <a:r>
              <a:rPr lang="en-US" altLang="zh-CN" sz="700"/>
              <a:t>kinetic models of genes with ground truth</a:t>
            </a:r>
            <a:endParaRPr lang="en-US" altLang="zh-CN" sz="700"/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16"/>
          <a:srcRect l="2261" t="10035" r="2354" b="6746"/>
          <a:stretch>
            <a:fillRect/>
          </a:stretch>
        </p:blipFill>
        <p:spPr>
          <a:xfrm>
            <a:off x="4486860" y="4664320"/>
            <a:ext cx="1980000" cy="576000"/>
          </a:xfrm>
          <a:prstGeom prst="rect">
            <a:avLst/>
          </a:prstGeom>
        </p:spPr>
      </p:pic>
      <p:grpSp>
        <p:nvGrpSpPr>
          <p:cNvPr id="33795" name="Group 63"/>
          <p:cNvGrpSpPr/>
          <p:nvPr/>
        </p:nvGrpSpPr>
        <p:grpSpPr bwMode="auto">
          <a:xfrm>
            <a:off x="394970" y="4129405"/>
            <a:ext cx="347345" cy="331470"/>
            <a:chOff x="3552" y="1873"/>
            <a:chExt cx="1915" cy="1953"/>
          </a:xfrm>
        </p:grpSpPr>
        <p:sp>
          <p:nvSpPr>
            <p:cNvPr id="33876" name="Freeform 64"/>
            <p:cNvSpPr/>
            <p:nvPr/>
          </p:nvSpPr>
          <p:spPr bwMode="auto">
            <a:xfrm>
              <a:off x="3552" y="1873"/>
              <a:ext cx="1915" cy="1953"/>
            </a:xfrm>
            <a:custGeom>
              <a:avLst/>
              <a:gdLst>
                <a:gd name="T0" fmla="*/ 1246 w 1818"/>
                <a:gd name="T1" fmla="*/ 91 h 1854"/>
                <a:gd name="T2" fmla="*/ 1255 w 1818"/>
                <a:gd name="T3" fmla="*/ 369 h 1854"/>
                <a:gd name="T4" fmla="*/ 1426 w 1818"/>
                <a:gd name="T5" fmla="*/ 146 h 1854"/>
                <a:gd name="T6" fmla="*/ 1511 w 1818"/>
                <a:gd name="T7" fmla="*/ 200 h 1854"/>
                <a:gd name="T8" fmla="*/ 1443 w 1818"/>
                <a:gd name="T9" fmla="*/ 246 h 1854"/>
                <a:gd name="T10" fmla="*/ 1055 w 1818"/>
                <a:gd name="T11" fmla="*/ 583 h 1854"/>
                <a:gd name="T12" fmla="*/ 1323 w 1818"/>
                <a:gd name="T13" fmla="*/ 879 h 1854"/>
                <a:gd name="T14" fmla="*/ 1731 w 1818"/>
                <a:gd name="T15" fmla="*/ 690 h 1854"/>
                <a:gd name="T16" fmla="*/ 1887 w 1818"/>
                <a:gd name="T17" fmla="*/ 645 h 1854"/>
                <a:gd name="T18" fmla="*/ 1583 w 1818"/>
                <a:gd name="T19" fmla="*/ 914 h 1854"/>
                <a:gd name="T20" fmla="*/ 1975 w 1818"/>
                <a:gd name="T21" fmla="*/ 902 h 1854"/>
                <a:gd name="T22" fmla="*/ 2107 w 1818"/>
                <a:gd name="T23" fmla="*/ 965 h 1854"/>
                <a:gd name="T24" fmla="*/ 1652 w 1818"/>
                <a:gd name="T25" fmla="*/ 980 h 1854"/>
                <a:gd name="T26" fmla="*/ 1332 w 1818"/>
                <a:gd name="T27" fmla="*/ 1029 h 1854"/>
                <a:gd name="T28" fmla="*/ 1520 w 1818"/>
                <a:gd name="T29" fmla="*/ 1249 h 1854"/>
                <a:gd name="T30" fmla="*/ 1712 w 1818"/>
                <a:gd name="T31" fmla="*/ 1152 h 1854"/>
                <a:gd name="T32" fmla="*/ 1838 w 1818"/>
                <a:gd name="T33" fmla="*/ 1230 h 1854"/>
                <a:gd name="T34" fmla="*/ 2038 w 1818"/>
                <a:gd name="T35" fmla="*/ 1286 h 1854"/>
                <a:gd name="T36" fmla="*/ 2019 w 1818"/>
                <a:gd name="T37" fmla="*/ 1375 h 1854"/>
                <a:gd name="T38" fmla="*/ 1814 w 1818"/>
                <a:gd name="T39" fmla="*/ 1271 h 1854"/>
                <a:gd name="T40" fmla="*/ 1862 w 1818"/>
                <a:gd name="T41" fmla="*/ 1381 h 1854"/>
                <a:gd name="T42" fmla="*/ 1855 w 1818"/>
                <a:gd name="T43" fmla="*/ 1404 h 1854"/>
                <a:gd name="T44" fmla="*/ 1539 w 1818"/>
                <a:gd name="T45" fmla="*/ 1330 h 1854"/>
                <a:gd name="T46" fmla="*/ 1297 w 1818"/>
                <a:gd name="T47" fmla="*/ 1431 h 1854"/>
                <a:gd name="T48" fmla="*/ 1563 w 1818"/>
                <a:gd name="T49" fmla="*/ 1755 h 1854"/>
                <a:gd name="T50" fmla="*/ 1308 w 1818"/>
                <a:gd name="T51" fmla="*/ 1603 h 1854"/>
                <a:gd name="T52" fmla="*/ 1472 w 1818"/>
                <a:gd name="T53" fmla="*/ 1994 h 1854"/>
                <a:gd name="T54" fmla="*/ 1578 w 1818"/>
                <a:gd name="T55" fmla="*/ 2110 h 1854"/>
                <a:gd name="T56" fmla="*/ 1482 w 1818"/>
                <a:gd name="T57" fmla="*/ 2164 h 1854"/>
                <a:gd name="T58" fmla="*/ 1361 w 1818"/>
                <a:gd name="T59" fmla="*/ 1947 h 1854"/>
                <a:gd name="T60" fmla="*/ 1163 w 1818"/>
                <a:gd name="T61" fmla="*/ 2036 h 1854"/>
                <a:gd name="T62" fmla="*/ 1259 w 1818"/>
                <a:gd name="T63" fmla="*/ 1887 h 1854"/>
                <a:gd name="T64" fmla="*/ 1058 w 1818"/>
                <a:gd name="T65" fmla="*/ 1541 h 1854"/>
                <a:gd name="T66" fmla="*/ 809 w 1818"/>
                <a:gd name="T67" fmla="*/ 1580 h 1854"/>
                <a:gd name="T68" fmla="*/ 436 w 1818"/>
                <a:gd name="T69" fmla="*/ 1832 h 1854"/>
                <a:gd name="T70" fmla="*/ 170 w 1818"/>
                <a:gd name="T71" fmla="*/ 1993 h 1854"/>
                <a:gd name="T72" fmla="*/ 201 w 1818"/>
                <a:gd name="T73" fmla="*/ 1882 h 1854"/>
                <a:gd name="T74" fmla="*/ 399 w 1818"/>
                <a:gd name="T75" fmla="*/ 1734 h 1854"/>
                <a:gd name="T76" fmla="*/ 176 w 1818"/>
                <a:gd name="T77" fmla="*/ 1674 h 1854"/>
                <a:gd name="T78" fmla="*/ 498 w 1818"/>
                <a:gd name="T79" fmla="*/ 1671 h 1854"/>
                <a:gd name="T80" fmla="*/ 710 w 1818"/>
                <a:gd name="T81" fmla="*/ 1507 h 1854"/>
                <a:gd name="T82" fmla="*/ 608 w 1818"/>
                <a:gd name="T83" fmla="*/ 1224 h 1854"/>
                <a:gd name="T84" fmla="*/ 366 w 1818"/>
                <a:gd name="T85" fmla="*/ 1186 h 1854"/>
                <a:gd name="T86" fmla="*/ 24 w 1818"/>
                <a:gd name="T87" fmla="*/ 1169 h 1854"/>
                <a:gd name="T88" fmla="*/ 37 w 1818"/>
                <a:gd name="T89" fmla="*/ 1084 h 1854"/>
                <a:gd name="T90" fmla="*/ 288 w 1818"/>
                <a:gd name="T91" fmla="*/ 1053 h 1854"/>
                <a:gd name="T92" fmla="*/ 216 w 1818"/>
                <a:gd name="T93" fmla="*/ 781 h 1854"/>
                <a:gd name="T94" fmla="*/ 465 w 1818"/>
                <a:gd name="T95" fmla="*/ 1129 h 1854"/>
                <a:gd name="T96" fmla="*/ 578 w 1818"/>
                <a:gd name="T97" fmla="*/ 948 h 1854"/>
                <a:gd name="T98" fmla="*/ 241 w 1818"/>
                <a:gd name="T99" fmla="*/ 431 h 1854"/>
                <a:gd name="T100" fmla="*/ 158 w 1818"/>
                <a:gd name="T101" fmla="*/ 368 h 1854"/>
                <a:gd name="T102" fmla="*/ 265 w 1818"/>
                <a:gd name="T103" fmla="*/ 277 h 1854"/>
                <a:gd name="T104" fmla="*/ 120 w 1818"/>
                <a:gd name="T105" fmla="*/ 149 h 1854"/>
                <a:gd name="T106" fmla="*/ 182 w 1818"/>
                <a:gd name="T107" fmla="*/ 102 h 1854"/>
                <a:gd name="T108" fmla="*/ 320 w 1818"/>
                <a:gd name="T109" fmla="*/ 276 h 1854"/>
                <a:gd name="T110" fmla="*/ 431 w 1818"/>
                <a:gd name="T111" fmla="*/ 539 h 1854"/>
                <a:gd name="T112" fmla="*/ 778 w 1818"/>
                <a:gd name="T113" fmla="*/ 486 h 1854"/>
                <a:gd name="T114" fmla="*/ 1184 w 1818"/>
                <a:gd name="T115" fmla="*/ 376 h 1854"/>
                <a:gd name="T116" fmla="*/ 1246 w 1818"/>
                <a:gd name="T117" fmla="*/ 33 h 1854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1818" h="1854">
                  <a:moveTo>
                    <a:pt x="1055" y="11"/>
                  </a:moveTo>
                  <a:cubicBezTo>
                    <a:pt x="1052" y="5"/>
                    <a:pt x="1057" y="0"/>
                    <a:pt x="1063" y="3"/>
                  </a:cubicBezTo>
                  <a:cubicBezTo>
                    <a:pt x="1068" y="6"/>
                    <a:pt x="1072" y="10"/>
                    <a:pt x="1076" y="15"/>
                  </a:cubicBezTo>
                  <a:cubicBezTo>
                    <a:pt x="1079" y="21"/>
                    <a:pt x="1081" y="26"/>
                    <a:pt x="1082" y="33"/>
                  </a:cubicBezTo>
                  <a:cubicBezTo>
                    <a:pt x="1084" y="41"/>
                    <a:pt x="1079" y="49"/>
                    <a:pt x="1075" y="57"/>
                  </a:cubicBezTo>
                  <a:cubicBezTo>
                    <a:pt x="1073" y="64"/>
                    <a:pt x="1070" y="71"/>
                    <a:pt x="1066" y="78"/>
                  </a:cubicBezTo>
                  <a:cubicBezTo>
                    <a:pt x="1062" y="87"/>
                    <a:pt x="1061" y="91"/>
                    <a:pt x="1062" y="100"/>
                  </a:cubicBezTo>
                  <a:cubicBezTo>
                    <a:pt x="1063" y="117"/>
                    <a:pt x="1065" y="133"/>
                    <a:pt x="1068" y="149"/>
                  </a:cubicBezTo>
                  <a:cubicBezTo>
                    <a:pt x="1073" y="181"/>
                    <a:pt x="1078" y="214"/>
                    <a:pt x="1072" y="245"/>
                  </a:cubicBezTo>
                  <a:cubicBezTo>
                    <a:pt x="1069" y="260"/>
                    <a:pt x="1063" y="274"/>
                    <a:pt x="1059" y="289"/>
                  </a:cubicBezTo>
                  <a:cubicBezTo>
                    <a:pt x="1058" y="295"/>
                    <a:pt x="1055" y="302"/>
                    <a:pt x="1058" y="307"/>
                  </a:cubicBezTo>
                  <a:cubicBezTo>
                    <a:pt x="1062" y="312"/>
                    <a:pt x="1068" y="315"/>
                    <a:pt x="1074" y="315"/>
                  </a:cubicBezTo>
                  <a:cubicBezTo>
                    <a:pt x="1086" y="315"/>
                    <a:pt x="1100" y="303"/>
                    <a:pt x="1109" y="296"/>
                  </a:cubicBezTo>
                  <a:cubicBezTo>
                    <a:pt x="1121" y="287"/>
                    <a:pt x="1133" y="280"/>
                    <a:pt x="1144" y="270"/>
                  </a:cubicBezTo>
                  <a:cubicBezTo>
                    <a:pt x="1163" y="250"/>
                    <a:pt x="1176" y="225"/>
                    <a:pt x="1184" y="200"/>
                  </a:cubicBezTo>
                  <a:cubicBezTo>
                    <a:pt x="1189" y="187"/>
                    <a:pt x="1193" y="174"/>
                    <a:pt x="1196" y="161"/>
                  </a:cubicBezTo>
                  <a:cubicBezTo>
                    <a:pt x="1197" y="155"/>
                    <a:pt x="1199" y="148"/>
                    <a:pt x="1200" y="142"/>
                  </a:cubicBezTo>
                  <a:cubicBezTo>
                    <a:pt x="1206" y="136"/>
                    <a:pt x="1212" y="129"/>
                    <a:pt x="1220" y="125"/>
                  </a:cubicBezTo>
                  <a:cubicBezTo>
                    <a:pt x="1230" y="118"/>
                    <a:pt x="1242" y="115"/>
                    <a:pt x="1249" y="126"/>
                  </a:cubicBezTo>
                  <a:cubicBezTo>
                    <a:pt x="1251" y="129"/>
                    <a:pt x="1252" y="132"/>
                    <a:pt x="1253" y="135"/>
                  </a:cubicBezTo>
                  <a:cubicBezTo>
                    <a:pt x="1257" y="134"/>
                    <a:pt x="1261" y="134"/>
                    <a:pt x="1264" y="133"/>
                  </a:cubicBezTo>
                  <a:cubicBezTo>
                    <a:pt x="1273" y="132"/>
                    <a:pt x="1282" y="131"/>
                    <a:pt x="1291" y="131"/>
                  </a:cubicBezTo>
                  <a:cubicBezTo>
                    <a:pt x="1302" y="131"/>
                    <a:pt x="1314" y="134"/>
                    <a:pt x="1313" y="147"/>
                  </a:cubicBezTo>
                  <a:cubicBezTo>
                    <a:pt x="1312" y="159"/>
                    <a:pt x="1302" y="167"/>
                    <a:pt x="1292" y="171"/>
                  </a:cubicBezTo>
                  <a:cubicBezTo>
                    <a:pt x="1290" y="172"/>
                    <a:pt x="1282" y="173"/>
                    <a:pt x="1282" y="175"/>
                  </a:cubicBezTo>
                  <a:cubicBezTo>
                    <a:pt x="1282" y="179"/>
                    <a:pt x="1282" y="182"/>
                    <a:pt x="1282" y="186"/>
                  </a:cubicBezTo>
                  <a:cubicBezTo>
                    <a:pt x="1282" y="189"/>
                    <a:pt x="1282" y="192"/>
                    <a:pt x="1282" y="195"/>
                  </a:cubicBezTo>
                  <a:cubicBezTo>
                    <a:pt x="1282" y="196"/>
                    <a:pt x="1272" y="204"/>
                    <a:pt x="1270" y="205"/>
                  </a:cubicBezTo>
                  <a:cubicBezTo>
                    <a:pt x="1266" y="207"/>
                    <a:pt x="1257" y="205"/>
                    <a:pt x="1252" y="206"/>
                  </a:cubicBezTo>
                  <a:cubicBezTo>
                    <a:pt x="1246" y="207"/>
                    <a:pt x="1240" y="208"/>
                    <a:pt x="1235" y="211"/>
                  </a:cubicBezTo>
                  <a:cubicBezTo>
                    <a:pt x="1225" y="215"/>
                    <a:pt x="1216" y="223"/>
                    <a:pt x="1209" y="232"/>
                  </a:cubicBezTo>
                  <a:cubicBezTo>
                    <a:pt x="1194" y="253"/>
                    <a:pt x="1185" y="276"/>
                    <a:pt x="1166" y="294"/>
                  </a:cubicBezTo>
                  <a:cubicBezTo>
                    <a:pt x="1145" y="314"/>
                    <a:pt x="1120" y="329"/>
                    <a:pt x="1096" y="344"/>
                  </a:cubicBezTo>
                  <a:cubicBezTo>
                    <a:pt x="1083" y="352"/>
                    <a:pt x="1073" y="366"/>
                    <a:pt x="1062" y="377"/>
                  </a:cubicBezTo>
                  <a:cubicBezTo>
                    <a:pt x="1049" y="389"/>
                    <a:pt x="1036" y="402"/>
                    <a:pt x="1023" y="413"/>
                  </a:cubicBezTo>
                  <a:cubicBezTo>
                    <a:pt x="981" y="434"/>
                    <a:pt x="898" y="432"/>
                    <a:pt x="903" y="498"/>
                  </a:cubicBezTo>
                  <a:cubicBezTo>
                    <a:pt x="905" y="511"/>
                    <a:pt x="912" y="520"/>
                    <a:pt x="921" y="530"/>
                  </a:cubicBezTo>
                  <a:cubicBezTo>
                    <a:pt x="931" y="542"/>
                    <a:pt x="943" y="553"/>
                    <a:pt x="953" y="565"/>
                  </a:cubicBezTo>
                  <a:cubicBezTo>
                    <a:pt x="974" y="589"/>
                    <a:pt x="987" y="619"/>
                    <a:pt x="1002" y="646"/>
                  </a:cubicBezTo>
                  <a:cubicBezTo>
                    <a:pt x="1018" y="674"/>
                    <a:pt x="1035" y="702"/>
                    <a:pt x="1056" y="726"/>
                  </a:cubicBezTo>
                  <a:cubicBezTo>
                    <a:pt x="1064" y="736"/>
                    <a:pt x="1073" y="748"/>
                    <a:pt x="1087" y="752"/>
                  </a:cubicBezTo>
                  <a:cubicBezTo>
                    <a:pt x="1101" y="756"/>
                    <a:pt x="1117" y="753"/>
                    <a:pt x="1132" y="752"/>
                  </a:cubicBezTo>
                  <a:cubicBezTo>
                    <a:pt x="1165" y="749"/>
                    <a:pt x="1198" y="752"/>
                    <a:pt x="1232" y="755"/>
                  </a:cubicBezTo>
                  <a:cubicBezTo>
                    <a:pt x="1248" y="757"/>
                    <a:pt x="1265" y="758"/>
                    <a:pt x="1281" y="761"/>
                  </a:cubicBezTo>
                  <a:cubicBezTo>
                    <a:pt x="1294" y="763"/>
                    <a:pt x="1310" y="756"/>
                    <a:pt x="1320" y="748"/>
                  </a:cubicBezTo>
                  <a:cubicBezTo>
                    <a:pt x="1340" y="733"/>
                    <a:pt x="1350" y="709"/>
                    <a:pt x="1365" y="688"/>
                  </a:cubicBezTo>
                  <a:cubicBezTo>
                    <a:pt x="1379" y="668"/>
                    <a:pt x="1396" y="648"/>
                    <a:pt x="1415" y="632"/>
                  </a:cubicBezTo>
                  <a:cubicBezTo>
                    <a:pt x="1435" y="615"/>
                    <a:pt x="1457" y="601"/>
                    <a:pt x="1481" y="590"/>
                  </a:cubicBezTo>
                  <a:cubicBezTo>
                    <a:pt x="1493" y="584"/>
                    <a:pt x="1505" y="579"/>
                    <a:pt x="1517" y="575"/>
                  </a:cubicBezTo>
                  <a:cubicBezTo>
                    <a:pt x="1532" y="570"/>
                    <a:pt x="1548" y="568"/>
                    <a:pt x="1562" y="562"/>
                  </a:cubicBezTo>
                  <a:cubicBezTo>
                    <a:pt x="1593" y="549"/>
                    <a:pt x="1622" y="535"/>
                    <a:pt x="1649" y="516"/>
                  </a:cubicBezTo>
                  <a:cubicBezTo>
                    <a:pt x="1652" y="514"/>
                    <a:pt x="1655" y="512"/>
                    <a:pt x="1658" y="516"/>
                  </a:cubicBezTo>
                  <a:cubicBezTo>
                    <a:pt x="1660" y="520"/>
                    <a:pt x="1652" y="525"/>
                    <a:pt x="1650" y="527"/>
                  </a:cubicBezTo>
                  <a:cubicBezTo>
                    <a:pt x="1639" y="537"/>
                    <a:pt x="1627" y="545"/>
                    <a:pt x="1614" y="552"/>
                  </a:cubicBezTo>
                  <a:cubicBezTo>
                    <a:pt x="1586" y="568"/>
                    <a:pt x="1556" y="579"/>
                    <a:pt x="1525" y="587"/>
                  </a:cubicBezTo>
                  <a:cubicBezTo>
                    <a:pt x="1497" y="595"/>
                    <a:pt x="1475" y="606"/>
                    <a:pt x="1455" y="628"/>
                  </a:cubicBezTo>
                  <a:cubicBezTo>
                    <a:pt x="1436" y="651"/>
                    <a:pt x="1423" y="677"/>
                    <a:pt x="1403" y="699"/>
                  </a:cubicBezTo>
                  <a:cubicBezTo>
                    <a:pt x="1398" y="705"/>
                    <a:pt x="1393" y="710"/>
                    <a:pt x="1387" y="715"/>
                  </a:cubicBezTo>
                  <a:cubicBezTo>
                    <a:pt x="1381" y="721"/>
                    <a:pt x="1378" y="727"/>
                    <a:pt x="1374" y="734"/>
                  </a:cubicBezTo>
                  <a:cubicBezTo>
                    <a:pt x="1366" y="749"/>
                    <a:pt x="1360" y="765"/>
                    <a:pt x="1355" y="782"/>
                  </a:cubicBezTo>
                  <a:cubicBezTo>
                    <a:pt x="1355" y="783"/>
                    <a:pt x="1354" y="784"/>
                    <a:pt x="1354" y="786"/>
                  </a:cubicBezTo>
                  <a:cubicBezTo>
                    <a:pt x="1384" y="794"/>
                    <a:pt x="1414" y="785"/>
                    <a:pt x="1444" y="781"/>
                  </a:cubicBezTo>
                  <a:cubicBezTo>
                    <a:pt x="1477" y="778"/>
                    <a:pt x="1510" y="775"/>
                    <a:pt x="1543" y="774"/>
                  </a:cubicBezTo>
                  <a:cubicBezTo>
                    <a:pt x="1577" y="773"/>
                    <a:pt x="1612" y="774"/>
                    <a:pt x="1646" y="776"/>
                  </a:cubicBezTo>
                  <a:cubicBezTo>
                    <a:pt x="1654" y="777"/>
                    <a:pt x="1662" y="778"/>
                    <a:pt x="1670" y="779"/>
                  </a:cubicBezTo>
                  <a:cubicBezTo>
                    <a:pt x="1677" y="779"/>
                    <a:pt x="1684" y="775"/>
                    <a:pt x="1690" y="772"/>
                  </a:cubicBezTo>
                  <a:cubicBezTo>
                    <a:pt x="1703" y="765"/>
                    <a:pt x="1717" y="757"/>
                    <a:pt x="1732" y="751"/>
                  </a:cubicBezTo>
                  <a:cubicBezTo>
                    <a:pt x="1744" y="746"/>
                    <a:pt x="1757" y="743"/>
                    <a:pt x="1768" y="752"/>
                  </a:cubicBezTo>
                  <a:cubicBezTo>
                    <a:pt x="1771" y="755"/>
                    <a:pt x="1775" y="760"/>
                    <a:pt x="1775" y="764"/>
                  </a:cubicBezTo>
                  <a:cubicBezTo>
                    <a:pt x="1775" y="770"/>
                    <a:pt x="1772" y="778"/>
                    <a:pt x="1778" y="778"/>
                  </a:cubicBezTo>
                  <a:cubicBezTo>
                    <a:pt x="1790" y="779"/>
                    <a:pt x="1806" y="778"/>
                    <a:pt x="1813" y="790"/>
                  </a:cubicBezTo>
                  <a:cubicBezTo>
                    <a:pt x="1818" y="798"/>
                    <a:pt x="1807" y="819"/>
                    <a:pt x="1803" y="826"/>
                  </a:cubicBezTo>
                  <a:cubicBezTo>
                    <a:pt x="1791" y="850"/>
                    <a:pt x="1770" y="863"/>
                    <a:pt x="1743" y="866"/>
                  </a:cubicBezTo>
                  <a:cubicBezTo>
                    <a:pt x="1734" y="867"/>
                    <a:pt x="1723" y="850"/>
                    <a:pt x="1717" y="845"/>
                  </a:cubicBezTo>
                  <a:cubicBezTo>
                    <a:pt x="1706" y="836"/>
                    <a:pt x="1694" y="830"/>
                    <a:pt x="1681" y="827"/>
                  </a:cubicBezTo>
                  <a:cubicBezTo>
                    <a:pt x="1649" y="817"/>
                    <a:pt x="1614" y="818"/>
                    <a:pt x="1581" y="815"/>
                  </a:cubicBezTo>
                  <a:cubicBezTo>
                    <a:pt x="1559" y="814"/>
                    <a:pt x="1534" y="821"/>
                    <a:pt x="1513" y="825"/>
                  </a:cubicBezTo>
                  <a:cubicBezTo>
                    <a:pt x="1480" y="830"/>
                    <a:pt x="1447" y="835"/>
                    <a:pt x="1414" y="838"/>
                  </a:cubicBezTo>
                  <a:cubicBezTo>
                    <a:pt x="1380" y="841"/>
                    <a:pt x="1344" y="843"/>
                    <a:pt x="1310" y="837"/>
                  </a:cubicBezTo>
                  <a:cubicBezTo>
                    <a:pt x="1296" y="835"/>
                    <a:pt x="1282" y="831"/>
                    <a:pt x="1268" y="826"/>
                  </a:cubicBezTo>
                  <a:cubicBezTo>
                    <a:pt x="1262" y="824"/>
                    <a:pt x="1255" y="822"/>
                    <a:pt x="1249" y="820"/>
                  </a:cubicBezTo>
                  <a:cubicBezTo>
                    <a:pt x="1240" y="816"/>
                    <a:pt x="1235" y="815"/>
                    <a:pt x="1225" y="816"/>
                  </a:cubicBezTo>
                  <a:cubicBezTo>
                    <a:pt x="1201" y="820"/>
                    <a:pt x="1173" y="827"/>
                    <a:pt x="1156" y="846"/>
                  </a:cubicBezTo>
                  <a:cubicBezTo>
                    <a:pt x="1148" y="856"/>
                    <a:pt x="1143" y="867"/>
                    <a:pt x="1140" y="880"/>
                  </a:cubicBezTo>
                  <a:cubicBezTo>
                    <a:pt x="1136" y="897"/>
                    <a:pt x="1143" y="912"/>
                    <a:pt x="1148" y="929"/>
                  </a:cubicBezTo>
                  <a:cubicBezTo>
                    <a:pt x="1154" y="945"/>
                    <a:pt x="1160" y="961"/>
                    <a:pt x="1165" y="977"/>
                  </a:cubicBezTo>
                  <a:cubicBezTo>
                    <a:pt x="1170" y="990"/>
                    <a:pt x="1173" y="999"/>
                    <a:pt x="1182" y="1008"/>
                  </a:cubicBezTo>
                  <a:cubicBezTo>
                    <a:pt x="1189" y="1015"/>
                    <a:pt x="1197" y="1018"/>
                    <a:pt x="1204" y="1022"/>
                  </a:cubicBezTo>
                  <a:cubicBezTo>
                    <a:pt x="1232" y="1037"/>
                    <a:pt x="1260" y="1052"/>
                    <a:pt x="1288" y="1067"/>
                  </a:cubicBezTo>
                  <a:cubicBezTo>
                    <a:pt x="1293" y="1069"/>
                    <a:pt x="1295" y="1069"/>
                    <a:pt x="1301" y="1069"/>
                  </a:cubicBezTo>
                  <a:cubicBezTo>
                    <a:pt x="1317" y="1070"/>
                    <a:pt x="1333" y="1071"/>
                    <a:pt x="1349" y="1075"/>
                  </a:cubicBezTo>
                  <a:cubicBezTo>
                    <a:pt x="1353" y="1074"/>
                    <a:pt x="1358" y="1069"/>
                    <a:pt x="1362" y="1067"/>
                  </a:cubicBezTo>
                  <a:cubicBezTo>
                    <a:pt x="1369" y="1063"/>
                    <a:pt x="1377" y="1058"/>
                    <a:pt x="1385" y="1054"/>
                  </a:cubicBezTo>
                  <a:cubicBezTo>
                    <a:pt x="1404" y="1043"/>
                    <a:pt x="1415" y="1029"/>
                    <a:pt x="1427" y="1011"/>
                  </a:cubicBezTo>
                  <a:cubicBezTo>
                    <a:pt x="1433" y="1002"/>
                    <a:pt x="1440" y="990"/>
                    <a:pt x="1450" y="984"/>
                  </a:cubicBezTo>
                  <a:cubicBezTo>
                    <a:pt x="1455" y="981"/>
                    <a:pt x="1461" y="981"/>
                    <a:pt x="1465" y="986"/>
                  </a:cubicBezTo>
                  <a:cubicBezTo>
                    <a:pt x="1470" y="992"/>
                    <a:pt x="1456" y="996"/>
                    <a:pt x="1453" y="999"/>
                  </a:cubicBezTo>
                  <a:cubicBezTo>
                    <a:pt x="1443" y="1006"/>
                    <a:pt x="1437" y="1018"/>
                    <a:pt x="1438" y="1031"/>
                  </a:cubicBezTo>
                  <a:cubicBezTo>
                    <a:pt x="1430" y="1046"/>
                    <a:pt x="1418" y="1059"/>
                    <a:pt x="1406" y="1071"/>
                  </a:cubicBezTo>
                  <a:cubicBezTo>
                    <a:pt x="1394" y="1084"/>
                    <a:pt x="1420" y="1074"/>
                    <a:pt x="1424" y="1072"/>
                  </a:cubicBezTo>
                  <a:cubicBezTo>
                    <a:pt x="1440" y="1067"/>
                    <a:pt x="1455" y="1062"/>
                    <a:pt x="1471" y="1058"/>
                  </a:cubicBezTo>
                  <a:cubicBezTo>
                    <a:pt x="1505" y="1051"/>
                    <a:pt x="1539" y="1048"/>
                    <a:pt x="1573" y="1053"/>
                  </a:cubicBezTo>
                  <a:cubicBezTo>
                    <a:pt x="1587" y="1060"/>
                    <a:pt x="1601" y="1068"/>
                    <a:pt x="1615" y="1075"/>
                  </a:cubicBezTo>
                  <a:cubicBezTo>
                    <a:pt x="1621" y="1079"/>
                    <a:pt x="1628" y="1083"/>
                    <a:pt x="1634" y="1086"/>
                  </a:cubicBezTo>
                  <a:cubicBezTo>
                    <a:pt x="1642" y="1091"/>
                    <a:pt x="1651" y="1091"/>
                    <a:pt x="1660" y="1092"/>
                  </a:cubicBezTo>
                  <a:cubicBezTo>
                    <a:pt x="1672" y="1094"/>
                    <a:pt x="1683" y="1096"/>
                    <a:pt x="1694" y="1091"/>
                  </a:cubicBezTo>
                  <a:cubicBezTo>
                    <a:pt x="1705" y="1086"/>
                    <a:pt x="1711" y="1081"/>
                    <a:pt x="1723" y="1081"/>
                  </a:cubicBezTo>
                  <a:cubicBezTo>
                    <a:pt x="1734" y="1082"/>
                    <a:pt x="1742" y="1089"/>
                    <a:pt x="1744" y="1100"/>
                  </a:cubicBezTo>
                  <a:cubicBezTo>
                    <a:pt x="1745" y="1107"/>
                    <a:pt x="1742" y="1115"/>
                    <a:pt x="1748" y="1119"/>
                  </a:cubicBezTo>
                  <a:cubicBezTo>
                    <a:pt x="1754" y="1124"/>
                    <a:pt x="1760" y="1130"/>
                    <a:pt x="1768" y="1132"/>
                  </a:cubicBezTo>
                  <a:cubicBezTo>
                    <a:pt x="1773" y="1133"/>
                    <a:pt x="1777" y="1142"/>
                    <a:pt x="1778" y="1147"/>
                  </a:cubicBezTo>
                  <a:cubicBezTo>
                    <a:pt x="1780" y="1153"/>
                    <a:pt x="1776" y="1158"/>
                    <a:pt x="1773" y="1162"/>
                  </a:cubicBezTo>
                  <a:cubicBezTo>
                    <a:pt x="1763" y="1172"/>
                    <a:pt x="1747" y="1177"/>
                    <a:pt x="1733" y="1172"/>
                  </a:cubicBezTo>
                  <a:cubicBezTo>
                    <a:pt x="1728" y="1171"/>
                    <a:pt x="1730" y="1172"/>
                    <a:pt x="1728" y="1176"/>
                  </a:cubicBezTo>
                  <a:cubicBezTo>
                    <a:pt x="1726" y="1179"/>
                    <a:pt x="1725" y="1182"/>
                    <a:pt x="1723" y="1184"/>
                  </a:cubicBezTo>
                  <a:cubicBezTo>
                    <a:pt x="1719" y="1188"/>
                    <a:pt x="1714" y="1191"/>
                    <a:pt x="1708" y="1190"/>
                  </a:cubicBezTo>
                  <a:cubicBezTo>
                    <a:pt x="1692" y="1186"/>
                    <a:pt x="1687" y="1170"/>
                    <a:pt x="1675" y="1161"/>
                  </a:cubicBezTo>
                  <a:cubicBezTo>
                    <a:pt x="1660" y="1150"/>
                    <a:pt x="1642" y="1143"/>
                    <a:pt x="1627" y="1131"/>
                  </a:cubicBezTo>
                  <a:cubicBezTo>
                    <a:pt x="1616" y="1122"/>
                    <a:pt x="1605" y="1112"/>
                    <a:pt x="1592" y="1105"/>
                  </a:cubicBezTo>
                  <a:cubicBezTo>
                    <a:pt x="1580" y="1097"/>
                    <a:pt x="1567" y="1090"/>
                    <a:pt x="1552" y="1088"/>
                  </a:cubicBezTo>
                  <a:cubicBezTo>
                    <a:pt x="1547" y="1087"/>
                    <a:pt x="1506" y="1090"/>
                    <a:pt x="1517" y="1102"/>
                  </a:cubicBezTo>
                  <a:cubicBezTo>
                    <a:pt x="1520" y="1106"/>
                    <a:pt x="1528" y="1108"/>
                    <a:pt x="1532" y="1112"/>
                  </a:cubicBezTo>
                  <a:cubicBezTo>
                    <a:pt x="1537" y="1115"/>
                    <a:pt x="1542" y="1119"/>
                    <a:pt x="1546" y="1124"/>
                  </a:cubicBezTo>
                  <a:cubicBezTo>
                    <a:pt x="1555" y="1134"/>
                    <a:pt x="1561" y="1145"/>
                    <a:pt x="1568" y="1156"/>
                  </a:cubicBezTo>
                  <a:cubicBezTo>
                    <a:pt x="1571" y="1161"/>
                    <a:pt x="1574" y="1166"/>
                    <a:pt x="1577" y="1171"/>
                  </a:cubicBezTo>
                  <a:cubicBezTo>
                    <a:pt x="1582" y="1175"/>
                    <a:pt x="1588" y="1179"/>
                    <a:pt x="1593" y="1182"/>
                  </a:cubicBezTo>
                  <a:cubicBezTo>
                    <a:pt x="1606" y="1190"/>
                    <a:pt x="1619" y="1197"/>
                    <a:pt x="1633" y="1201"/>
                  </a:cubicBezTo>
                  <a:cubicBezTo>
                    <a:pt x="1640" y="1203"/>
                    <a:pt x="1646" y="1204"/>
                    <a:pt x="1653" y="1205"/>
                  </a:cubicBezTo>
                  <a:cubicBezTo>
                    <a:pt x="1659" y="1206"/>
                    <a:pt x="1672" y="1203"/>
                    <a:pt x="1668" y="1211"/>
                  </a:cubicBezTo>
                  <a:cubicBezTo>
                    <a:pt x="1664" y="1219"/>
                    <a:pt x="1661" y="1218"/>
                    <a:pt x="1653" y="1218"/>
                  </a:cubicBezTo>
                  <a:cubicBezTo>
                    <a:pt x="1645" y="1217"/>
                    <a:pt x="1637" y="1216"/>
                    <a:pt x="1629" y="1214"/>
                  </a:cubicBezTo>
                  <a:cubicBezTo>
                    <a:pt x="1615" y="1211"/>
                    <a:pt x="1601" y="1206"/>
                    <a:pt x="1587" y="1201"/>
                  </a:cubicBezTo>
                  <a:cubicBezTo>
                    <a:pt x="1581" y="1199"/>
                    <a:pt x="1573" y="1197"/>
                    <a:pt x="1568" y="1192"/>
                  </a:cubicBezTo>
                  <a:cubicBezTo>
                    <a:pt x="1564" y="1188"/>
                    <a:pt x="1560" y="1183"/>
                    <a:pt x="1557" y="1178"/>
                  </a:cubicBezTo>
                  <a:cubicBezTo>
                    <a:pt x="1540" y="1156"/>
                    <a:pt x="1523" y="1135"/>
                    <a:pt x="1496" y="1125"/>
                  </a:cubicBezTo>
                  <a:cubicBezTo>
                    <a:pt x="1481" y="1120"/>
                    <a:pt x="1466" y="1117"/>
                    <a:pt x="1450" y="1118"/>
                  </a:cubicBezTo>
                  <a:cubicBezTo>
                    <a:pt x="1435" y="1119"/>
                    <a:pt x="1421" y="1124"/>
                    <a:pt x="1406" y="1128"/>
                  </a:cubicBezTo>
                  <a:cubicBezTo>
                    <a:pt x="1377" y="1136"/>
                    <a:pt x="1347" y="1139"/>
                    <a:pt x="1317" y="1138"/>
                  </a:cubicBezTo>
                  <a:cubicBezTo>
                    <a:pt x="1302" y="1138"/>
                    <a:pt x="1290" y="1135"/>
                    <a:pt x="1276" y="1131"/>
                  </a:cubicBezTo>
                  <a:cubicBezTo>
                    <a:pt x="1270" y="1130"/>
                    <a:pt x="1265" y="1131"/>
                    <a:pt x="1261" y="1127"/>
                  </a:cubicBezTo>
                  <a:cubicBezTo>
                    <a:pt x="1257" y="1124"/>
                    <a:pt x="1255" y="1120"/>
                    <a:pt x="1249" y="1118"/>
                  </a:cubicBezTo>
                  <a:cubicBezTo>
                    <a:pt x="1222" y="1110"/>
                    <a:pt x="1190" y="1113"/>
                    <a:pt x="1166" y="1130"/>
                  </a:cubicBezTo>
                  <a:cubicBezTo>
                    <a:pt x="1142" y="1146"/>
                    <a:pt x="1131" y="1176"/>
                    <a:pt x="1120" y="1202"/>
                  </a:cubicBezTo>
                  <a:cubicBezTo>
                    <a:pt x="1117" y="1210"/>
                    <a:pt x="1114" y="1217"/>
                    <a:pt x="1110" y="1224"/>
                  </a:cubicBezTo>
                  <a:cubicBezTo>
                    <a:pt x="1108" y="1230"/>
                    <a:pt x="1103" y="1234"/>
                    <a:pt x="1101" y="1240"/>
                  </a:cubicBezTo>
                  <a:cubicBezTo>
                    <a:pt x="1097" y="1253"/>
                    <a:pt x="1101" y="1267"/>
                    <a:pt x="1105" y="1278"/>
                  </a:cubicBezTo>
                  <a:cubicBezTo>
                    <a:pt x="1116" y="1307"/>
                    <a:pt x="1134" y="1332"/>
                    <a:pt x="1144" y="1361"/>
                  </a:cubicBezTo>
                  <a:cubicBezTo>
                    <a:pt x="1154" y="1390"/>
                    <a:pt x="1160" y="1422"/>
                    <a:pt x="1176" y="1450"/>
                  </a:cubicBezTo>
                  <a:cubicBezTo>
                    <a:pt x="1202" y="1494"/>
                    <a:pt x="1255" y="1510"/>
                    <a:pt x="1304" y="1504"/>
                  </a:cubicBezTo>
                  <a:cubicBezTo>
                    <a:pt x="1315" y="1503"/>
                    <a:pt x="1326" y="1500"/>
                    <a:pt x="1338" y="1502"/>
                  </a:cubicBezTo>
                  <a:cubicBezTo>
                    <a:pt x="1343" y="1503"/>
                    <a:pt x="1347" y="1508"/>
                    <a:pt x="1350" y="1512"/>
                  </a:cubicBezTo>
                  <a:cubicBezTo>
                    <a:pt x="1353" y="1519"/>
                    <a:pt x="1340" y="1521"/>
                    <a:pt x="1335" y="1522"/>
                  </a:cubicBezTo>
                  <a:cubicBezTo>
                    <a:pt x="1321" y="1524"/>
                    <a:pt x="1305" y="1522"/>
                    <a:pt x="1291" y="1522"/>
                  </a:cubicBezTo>
                  <a:cubicBezTo>
                    <a:pt x="1275" y="1522"/>
                    <a:pt x="1259" y="1522"/>
                    <a:pt x="1244" y="1521"/>
                  </a:cubicBezTo>
                  <a:cubicBezTo>
                    <a:pt x="1191" y="1514"/>
                    <a:pt x="1158" y="1471"/>
                    <a:pt x="1139" y="1424"/>
                  </a:cubicBezTo>
                  <a:cubicBezTo>
                    <a:pt x="1132" y="1406"/>
                    <a:pt x="1129" y="1388"/>
                    <a:pt x="1119" y="1372"/>
                  </a:cubicBezTo>
                  <a:cubicBezTo>
                    <a:pt x="1112" y="1361"/>
                    <a:pt x="1105" y="1350"/>
                    <a:pt x="1099" y="1339"/>
                  </a:cubicBezTo>
                  <a:cubicBezTo>
                    <a:pt x="1098" y="1373"/>
                    <a:pt x="1097" y="1408"/>
                    <a:pt x="1095" y="1443"/>
                  </a:cubicBezTo>
                  <a:cubicBezTo>
                    <a:pt x="1093" y="1473"/>
                    <a:pt x="1086" y="1505"/>
                    <a:pt x="1096" y="1534"/>
                  </a:cubicBezTo>
                  <a:cubicBezTo>
                    <a:pt x="1104" y="1558"/>
                    <a:pt x="1119" y="1578"/>
                    <a:pt x="1138" y="1595"/>
                  </a:cubicBezTo>
                  <a:cubicBezTo>
                    <a:pt x="1158" y="1612"/>
                    <a:pt x="1182" y="1624"/>
                    <a:pt x="1202" y="1641"/>
                  </a:cubicBezTo>
                  <a:cubicBezTo>
                    <a:pt x="1224" y="1660"/>
                    <a:pt x="1243" y="1682"/>
                    <a:pt x="1259" y="1706"/>
                  </a:cubicBezTo>
                  <a:cubicBezTo>
                    <a:pt x="1266" y="1717"/>
                    <a:pt x="1274" y="1730"/>
                    <a:pt x="1280" y="1742"/>
                  </a:cubicBezTo>
                  <a:cubicBezTo>
                    <a:pt x="1284" y="1748"/>
                    <a:pt x="1287" y="1755"/>
                    <a:pt x="1290" y="1761"/>
                  </a:cubicBezTo>
                  <a:cubicBezTo>
                    <a:pt x="1291" y="1765"/>
                    <a:pt x="1293" y="1768"/>
                    <a:pt x="1294" y="1771"/>
                  </a:cubicBezTo>
                  <a:cubicBezTo>
                    <a:pt x="1299" y="1772"/>
                    <a:pt x="1303" y="1772"/>
                    <a:pt x="1307" y="1772"/>
                  </a:cubicBezTo>
                  <a:cubicBezTo>
                    <a:pt x="1318" y="1773"/>
                    <a:pt x="1332" y="1773"/>
                    <a:pt x="1342" y="1779"/>
                  </a:cubicBezTo>
                  <a:cubicBezTo>
                    <a:pt x="1349" y="1783"/>
                    <a:pt x="1357" y="1798"/>
                    <a:pt x="1350" y="1805"/>
                  </a:cubicBezTo>
                  <a:cubicBezTo>
                    <a:pt x="1347" y="1809"/>
                    <a:pt x="1341" y="1810"/>
                    <a:pt x="1337" y="1813"/>
                  </a:cubicBezTo>
                  <a:cubicBezTo>
                    <a:pt x="1333" y="1816"/>
                    <a:pt x="1336" y="1822"/>
                    <a:pt x="1336" y="1826"/>
                  </a:cubicBezTo>
                  <a:cubicBezTo>
                    <a:pt x="1335" y="1839"/>
                    <a:pt x="1326" y="1851"/>
                    <a:pt x="1313" y="1850"/>
                  </a:cubicBezTo>
                  <a:cubicBezTo>
                    <a:pt x="1306" y="1850"/>
                    <a:pt x="1299" y="1847"/>
                    <a:pt x="1293" y="1843"/>
                  </a:cubicBezTo>
                  <a:cubicBezTo>
                    <a:pt x="1289" y="1840"/>
                    <a:pt x="1283" y="1835"/>
                    <a:pt x="1278" y="1840"/>
                  </a:cubicBezTo>
                  <a:cubicBezTo>
                    <a:pt x="1274" y="1844"/>
                    <a:pt x="1273" y="1849"/>
                    <a:pt x="1268" y="1851"/>
                  </a:cubicBezTo>
                  <a:cubicBezTo>
                    <a:pt x="1262" y="1854"/>
                    <a:pt x="1255" y="1854"/>
                    <a:pt x="1249" y="1853"/>
                  </a:cubicBezTo>
                  <a:cubicBezTo>
                    <a:pt x="1243" y="1851"/>
                    <a:pt x="1238" y="1849"/>
                    <a:pt x="1234" y="1845"/>
                  </a:cubicBezTo>
                  <a:cubicBezTo>
                    <a:pt x="1229" y="1841"/>
                    <a:pt x="1230" y="1839"/>
                    <a:pt x="1232" y="1833"/>
                  </a:cubicBezTo>
                  <a:cubicBezTo>
                    <a:pt x="1236" y="1819"/>
                    <a:pt x="1237" y="1804"/>
                    <a:pt x="1237" y="1789"/>
                  </a:cubicBezTo>
                  <a:cubicBezTo>
                    <a:pt x="1237" y="1763"/>
                    <a:pt x="1232" y="1736"/>
                    <a:pt x="1219" y="1713"/>
                  </a:cubicBezTo>
                  <a:cubicBezTo>
                    <a:pt x="1208" y="1694"/>
                    <a:pt x="1189" y="1668"/>
                    <a:pt x="1165" y="1665"/>
                  </a:cubicBezTo>
                  <a:cubicBezTo>
                    <a:pt x="1156" y="1664"/>
                    <a:pt x="1145" y="1664"/>
                    <a:pt x="1136" y="1668"/>
                  </a:cubicBezTo>
                  <a:cubicBezTo>
                    <a:pt x="1123" y="1675"/>
                    <a:pt x="1110" y="1681"/>
                    <a:pt x="1096" y="1686"/>
                  </a:cubicBezTo>
                  <a:cubicBezTo>
                    <a:pt x="1088" y="1689"/>
                    <a:pt x="1078" y="1690"/>
                    <a:pt x="1071" y="1695"/>
                  </a:cubicBezTo>
                  <a:cubicBezTo>
                    <a:pt x="1065" y="1699"/>
                    <a:pt x="1059" y="1703"/>
                    <a:pt x="1054" y="1707"/>
                  </a:cubicBezTo>
                  <a:cubicBezTo>
                    <a:pt x="1040" y="1716"/>
                    <a:pt x="1027" y="1725"/>
                    <a:pt x="1014" y="1734"/>
                  </a:cubicBezTo>
                  <a:cubicBezTo>
                    <a:pt x="1008" y="1738"/>
                    <a:pt x="1002" y="1741"/>
                    <a:pt x="995" y="1742"/>
                  </a:cubicBezTo>
                  <a:cubicBezTo>
                    <a:pt x="993" y="1742"/>
                    <a:pt x="978" y="1743"/>
                    <a:pt x="978" y="1741"/>
                  </a:cubicBezTo>
                  <a:cubicBezTo>
                    <a:pt x="978" y="1739"/>
                    <a:pt x="977" y="1733"/>
                    <a:pt x="978" y="1731"/>
                  </a:cubicBezTo>
                  <a:cubicBezTo>
                    <a:pt x="1005" y="1727"/>
                    <a:pt x="1026" y="1711"/>
                    <a:pt x="1046" y="1693"/>
                  </a:cubicBezTo>
                  <a:cubicBezTo>
                    <a:pt x="1054" y="1685"/>
                    <a:pt x="1062" y="1676"/>
                    <a:pt x="1072" y="1670"/>
                  </a:cubicBezTo>
                  <a:cubicBezTo>
                    <a:pt x="1085" y="1663"/>
                    <a:pt x="1091" y="1657"/>
                    <a:pt x="1090" y="1641"/>
                  </a:cubicBezTo>
                  <a:cubicBezTo>
                    <a:pt x="1089" y="1630"/>
                    <a:pt x="1084" y="1622"/>
                    <a:pt x="1077" y="1614"/>
                  </a:cubicBezTo>
                  <a:cubicBezTo>
                    <a:pt x="1069" y="1604"/>
                    <a:pt x="1062" y="1594"/>
                    <a:pt x="1056" y="1582"/>
                  </a:cubicBezTo>
                  <a:cubicBezTo>
                    <a:pt x="1042" y="1554"/>
                    <a:pt x="1034" y="1521"/>
                    <a:pt x="1040" y="1489"/>
                  </a:cubicBezTo>
                  <a:cubicBezTo>
                    <a:pt x="1046" y="1461"/>
                    <a:pt x="1027" y="1430"/>
                    <a:pt x="1013" y="1407"/>
                  </a:cubicBezTo>
                  <a:cubicBezTo>
                    <a:pt x="1005" y="1394"/>
                    <a:pt x="997" y="1381"/>
                    <a:pt x="990" y="1367"/>
                  </a:cubicBezTo>
                  <a:cubicBezTo>
                    <a:pt x="980" y="1351"/>
                    <a:pt x="966" y="1336"/>
                    <a:pt x="949" y="1327"/>
                  </a:cubicBezTo>
                  <a:cubicBezTo>
                    <a:pt x="936" y="1320"/>
                    <a:pt x="920" y="1322"/>
                    <a:pt x="905" y="1319"/>
                  </a:cubicBezTo>
                  <a:cubicBezTo>
                    <a:pt x="898" y="1318"/>
                    <a:pt x="890" y="1316"/>
                    <a:pt x="882" y="1315"/>
                  </a:cubicBezTo>
                  <a:cubicBezTo>
                    <a:pt x="873" y="1313"/>
                    <a:pt x="869" y="1309"/>
                    <a:pt x="864" y="1301"/>
                  </a:cubicBezTo>
                  <a:cubicBezTo>
                    <a:pt x="850" y="1281"/>
                    <a:pt x="838" y="1255"/>
                    <a:pt x="811" y="1251"/>
                  </a:cubicBezTo>
                  <a:cubicBezTo>
                    <a:pt x="801" y="1249"/>
                    <a:pt x="790" y="1250"/>
                    <a:pt x="783" y="1258"/>
                  </a:cubicBezTo>
                  <a:cubicBezTo>
                    <a:pt x="773" y="1270"/>
                    <a:pt x="759" y="1280"/>
                    <a:pt x="748" y="1292"/>
                  </a:cubicBezTo>
                  <a:cubicBezTo>
                    <a:pt x="730" y="1313"/>
                    <a:pt x="716" y="1336"/>
                    <a:pt x="692" y="1352"/>
                  </a:cubicBezTo>
                  <a:cubicBezTo>
                    <a:pt x="669" y="1367"/>
                    <a:pt x="641" y="1373"/>
                    <a:pt x="613" y="1369"/>
                  </a:cubicBezTo>
                  <a:cubicBezTo>
                    <a:pt x="586" y="1374"/>
                    <a:pt x="551" y="1373"/>
                    <a:pt x="533" y="1397"/>
                  </a:cubicBezTo>
                  <a:cubicBezTo>
                    <a:pt x="517" y="1420"/>
                    <a:pt x="511" y="1451"/>
                    <a:pt x="501" y="1476"/>
                  </a:cubicBezTo>
                  <a:cubicBezTo>
                    <a:pt x="491" y="1501"/>
                    <a:pt x="478" y="1527"/>
                    <a:pt x="457" y="1544"/>
                  </a:cubicBezTo>
                  <a:cubicBezTo>
                    <a:pt x="447" y="1552"/>
                    <a:pt x="434" y="1562"/>
                    <a:pt x="422" y="1565"/>
                  </a:cubicBezTo>
                  <a:cubicBezTo>
                    <a:pt x="407" y="1568"/>
                    <a:pt x="389" y="1566"/>
                    <a:pt x="373" y="1567"/>
                  </a:cubicBezTo>
                  <a:cubicBezTo>
                    <a:pt x="321" y="1571"/>
                    <a:pt x="271" y="1587"/>
                    <a:pt x="229" y="1618"/>
                  </a:cubicBezTo>
                  <a:cubicBezTo>
                    <a:pt x="220" y="1624"/>
                    <a:pt x="211" y="1632"/>
                    <a:pt x="203" y="1639"/>
                  </a:cubicBezTo>
                  <a:cubicBezTo>
                    <a:pt x="199" y="1643"/>
                    <a:pt x="195" y="1647"/>
                    <a:pt x="191" y="1652"/>
                  </a:cubicBezTo>
                  <a:cubicBezTo>
                    <a:pt x="189" y="1660"/>
                    <a:pt x="188" y="1668"/>
                    <a:pt x="186" y="1677"/>
                  </a:cubicBezTo>
                  <a:cubicBezTo>
                    <a:pt x="183" y="1686"/>
                    <a:pt x="177" y="1697"/>
                    <a:pt x="168" y="1701"/>
                  </a:cubicBezTo>
                  <a:cubicBezTo>
                    <a:pt x="161" y="1704"/>
                    <a:pt x="153" y="1708"/>
                    <a:pt x="145" y="1705"/>
                  </a:cubicBezTo>
                  <a:cubicBezTo>
                    <a:pt x="140" y="1703"/>
                    <a:pt x="137" y="1697"/>
                    <a:pt x="131" y="1695"/>
                  </a:cubicBezTo>
                  <a:cubicBezTo>
                    <a:pt x="122" y="1690"/>
                    <a:pt x="105" y="1705"/>
                    <a:pt x="99" y="1690"/>
                  </a:cubicBezTo>
                  <a:cubicBezTo>
                    <a:pt x="95" y="1679"/>
                    <a:pt x="99" y="1664"/>
                    <a:pt x="109" y="1659"/>
                  </a:cubicBezTo>
                  <a:cubicBezTo>
                    <a:pt x="119" y="1655"/>
                    <a:pt x="123" y="1651"/>
                    <a:pt x="116" y="1642"/>
                  </a:cubicBezTo>
                  <a:cubicBezTo>
                    <a:pt x="110" y="1634"/>
                    <a:pt x="124" y="1612"/>
                    <a:pt x="132" y="1610"/>
                  </a:cubicBezTo>
                  <a:cubicBezTo>
                    <a:pt x="144" y="1607"/>
                    <a:pt x="160" y="1610"/>
                    <a:pt x="172" y="1610"/>
                  </a:cubicBezTo>
                  <a:cubicBezTo>
                    <a:pt x="181" y="1610"/>
                    <a:pt x="194" y="1596"/>
                    <a:pt x="200" y="1591"/>
                  </a:cubicBezTo>
                  <a:cubicBezTo>
                    <a:pt x="212" y="1581"/>
                    <a:pt x="223" y="1571"/>
                    <a:pt x="236" y="1564"/>
                  </a:cubicBezTo>
                  <a:cubicBezTo>
                    <a:pt x="273" y="1544"/>
                    <a:pt x="314" y="1539"/>
                    <a:pt x="355" y="1536"/>
                  </a:cubicBezTo>
                  <a:cubicBezTo>
                    <a:pt x="390" y="1534"/>
                    <a:pt x="447" y="1527"/>
                    <a:pt x="438" y="1479"/>
                  </a:cubicBezTo>
                  <a:cubicBezTo>
                    <a:pt x="423" y="1483"/>
                    <a:pt x="408" y="1483"/>
                    <a:pt x="394" y="1484"/>
                  </a:cubicBezTo>
                  <a:cubicBezTo>
                    <a:pt x="377" y="1484"/>
                    <a:pt x="359" y="1486"/>
                    <a:pt x="342" y="1484"/>
                  </a:cubicBezTo>
                  <a:cubicBezTo>
                    <a:pt x="327" y="1483"/>
                    <a:pt x="312" y="1480"/>
                    <a:pt x="298" y="1475"/>
                  </a:cubicBezTo>
                  <a:cubicBezTo>
                    <a:pt x="284" y="1470"/>
                    <a:pt x="273" y="1460"/>
                    <a:pt x="261" y="1454"/>
                  </a:cubicBezTo>
                  <a:cubicBezTo>
                    <a:pt x="233" y="1440"/>
                    <a:pt x="201" y="1432"/>
                    <a:pt x="170" y="1438"/>
                  </a:cubicBezTo>
                  <a:cubicBezTo>
                    <a:pt x="162" y="1439"/>
                    <a:pt x="154" y="1441"/>
                    <a:pt x="147" y="1445"/>
                  </a:cubicBezTo>
                  <a:cubicBezTo>
                    <a:pt x="142" y="1446"/>
                    <a:pt x="141" y="1444"/>
                    <a:pt x="142" y="1440"/>
                  </a:cubicBezTo>
                  <a:cubicBezTo>
                    <a:pt x="143" y="1434"/>
                    <a:pt x="145" y="1434"/>
                    <a:pt x="151" y="1432"/>
                  </a:cubicBezTo>
                  <a:cubicBezTo>
                    <a:pt x="158" y="1429"/>
                    <a:pt x="166" y="1427"/>
                    <a:pt x="173" y="1426"/>
                  </a:cubicBezTo>
                  <a:cubicBezTo>
                    <a:pt x="188" y="1423"/>
                    <a:pt x="203" y="1422"/>
                    <a:pt x="218" y="1422"/>
                  </a:cubicBezTo>
                  <a:cubicBezTo>
                    <a:pt x="234" y="1422"/>
                    <a:pt x="251" y="1435"/>
                    <a:pt x="266" y="1442"/>
                  </a:cubicBezTo>
                  <a:cubicBezTo>
                    <a:pt x="295" y="1457"/>
                    <a:pt x="324" y="1468"/>
                    <a:pt x="356" y="1455"/>
                  </a:cubicBezTo>
                  <a:cubicBezTo>
                    <a:pt x="367" y="1450"/>
                    <a:pt x="373" y="1443"/>
                    <a:pt x="383" y="1436"/>
                  </a:cubicBezTo>
                  <a:cubicBezTo>
                    <a:pt x="393" y="1428"/>
                    <a:pt x="414" y="1430"/>
                    <a:pt x="426" y="1430"/>
                  </a:cubicBezTo>
                  <a:cubicBezTo>
                    <a:pt x="434" y="1430"/>
                    <a:pt x="443" y="1430"/>
                    <a:pt x="451" y="1430"/>
                  </a:cubicBezTo>
                  <a:cubicBezTo>
                    <a:pt x="460" y="1430"/>
                    <a:pt x="464" y="1428"/>
                    <a:pt x="471" y="1423"/>
                  </a:cubicBezTo>
                  <a:cubicBezTo>
                    <a:pt x="482" y="1414"/>
                    <a:pt x="493" y="1403"/>
                    <a:pt x="501" y="1391"/>
                  </a:cubicBezTo>
                  <a:cubicBezTo>
                    <a:pt x="517" y="1368"/>
                    <a:pt x="522" y="1339"/>
                    <a:pt x="540" y="1319"/>
                  </a:cubicBezTo>
                  <a:cubicBezTo>
                    <a:pt x="547" y="1310"/>
                    <a:pt x="556" y="1303"/>
                    <a:pt x="567" y="1298"/>
                  </a:cubicBezTo>
                  <a:cubicBezTo>
                    <a:pt x="580" y="1293"/>
                    <a:pt x="594" y="1292"/>
                    <a:pt x="608" y="1289"/>
                  </a:cubicBezTo>
                  <a:cubicBezTo>
                    <a:pt x="634" y="1282"/>
                    <a:pt x="654" y="1264"/>
                    <a:pt x="670" y="1244"/>
                  </a:cubicBezTo>
                  <a:cubicBezTo>
                    <a:pt x="678" y="1233"/>
                    <a:pt x="683" y="1224"/>
                    <a:pt x="683" y="1210"/>
                  </a:cubicBezTo>
                  <a:cubicBezTo>
                    <a:pt x="682" y="1195"/>
                    <a:pt x="679" y="1179"/>
                    <a:pt x="675" y="1164"/>
                  </a:cubicBezTo>
                  <a:cubicBezTo>
                    <a:pt x="662" y="1114"/>
                    <a:pt x="630" y="1075"/>
                    <a:pt x="590" y="1043"/>
                  </a:cubicBezTo>
                  <a:cubicBezTo>
                    <a:pt x="580" y="1036"/>
                    <a:pt x="571" y="1027"/>
                    <a:pt x="557" y="1031"/>
                  </a:cubicBezTo>
                  <a:cubicBezTo>
                    <a:pt x="544" y="1034"/>
                    <a:pt x="532" y="1041"/>
                    <a:pt x="520" y="1047"/>
                  </a:cubicBezTo>
                  <a:cubicBezTo>
                    <a:pt x="494" y="1060"/>
                    <a:pt x="466" y="1067"/>
                    <a:pt x="438" y="1056"/>
                  </a:cubicBezTo>
                  <a:cubicBezTo>
                    <a:pt x="430" y="1052"/>
                    <a:pt x="422" y="1051"/>
                    <a:pt x="416" y="1045"/>
                  </a:cubicBezTo>
                  <a:cubicBezTo>
                    <a:pt x="410" y="1039"/>
                    <a:pt x="404" y="1033"/>
                    <a:pt x="397" y="1027"/>
                  </a:cubicBezTo>
                  <a:cubicBezTo>
                    <a:pt x="393" y="1023"/>
                    <a:pt x="389" y="1018"/>
                    <a:pt x="384" y="1014"/>
                  </a:cubicBezTo>
                  <a:cubicBezTo>
                    <a:pt x="376" y="1006"/>
                    <a:pt x="361" y="1007"/>
                    <a:pt x="351" y="1006"/>
                  </a:cubicBezTo>
                  <a:cubicBezTo>
                    <a:pt x="338" y="1006"/>
                    <a:pt x="322" y="1006"/>
                    <a:pt x="312" y="1015"/>
                  </a:cubicBezTo>
                  <a:cubicBezTo>
                    <a:pt x="301" y="1024"/>
                    <a:pt x="290" y="1033"/>
                    <a:pt x="277" y="1041"/>
                  </a:cubicBezTo>
                  <a:cubicBezTo>
                    <a:pt x="255" y="1054"/>
                    <a:pt x="218" y="1067"/>
                    <a:pt x="193" y="1053"/>
                  </a:cubicBezTo>
                  <a:cubicBezTo>
                    <a:pt x="169" y="1040"/>
                    <a:pt x="144" y="1026"/>
                    <a:pt x="120" y="1012"/>
                  </a:cubicBezTo>
                  <a:cubicBezTo>
                    <a:pt x="111" y="1007"/>
                    <a:pt x="102" y="1002"/>
                    <a:pt x="94" y="998"/>
                  </a:cubicBezTo>
                  <a:cubicBezTo>
                    <a:pt x="86" y="993"/>
                    <a:pt x="76" y="994"/>
                    <a:pt x="68" y="996"/>
                  </a:cubicBezTo>
                  <a:cubicBezTo>
                    <a:pt x="57" y="999"/>
                    <a:pt x="33" y="1009"/>
                    <a:pt x="21" y="1001"/>
                  </a:cubicBezTo>
                  <a:cubicBezTo>
                    <a:pt x="13" y="996"/>
                    <a:pt x="9" y="984"/>
                    <a:pt x="10" y="975"/>
                  </a:cubicBezTo>
                  <a:cubicBezTo>
                    <a:pt x="10" y="973"/>
                    <a:pt x="10" y="971"/>
                    <a:pt x="11" y="969"/>
                  </a:cubicBezTo>
                  <a:cubicBezTo>
                    <a:pt x="13" y="965"/>
                    <a:pt x="12" y="964"/>
                    <a:pt x="9" y="960"/>
                  </a:cubicBezTo>
                  <a:cubicBezTo>
                    <a:pt x="7" y="955"/>
                    <a:pt x="4" y="950"/>
                    <a:pt x="2" y="945"/>
                  </a:cubicBezTo>
                  <a:cubicBezTo>
                    <a:pt x="0" y="937"/>
                    <a:pt x="2" y="928"/>
                    <a:pt x="8" y="923"/>
                  </a:cubicBezTo>
                  <a:cubicBezTo>
                    <a:pt x="15" y="915"/>
                    <a:pt x="24" y="923"/>
                    <a:pt x="31" y="927"/>
                  </a:cubicBezTo>
                  <a:cubicBezTo>
                    <a:pt x="27" y="912"/>
                    <a:pt x="42" y="907"/>
                    <a:pt x="54" y="911"/>
                  </a:cubicBezTo>
                  <a:cubicBezTo>
                    <a:pt x="67" y="916"/>
                    <a:pt x="74" y="932"/>
                    <a:pt x="82" y="942"/>
                  </a:cubicBezTo>
                  <a:cubicBezTo>
                    <a:pt x="101" y="965"/>
                    <a:pt x="124" y="985"/>
                    <a:pt x="150" y="999"/>
                  </a:cubicBezTo>
                  <a:cubicBezTo>
                    <a:pt x="174" y="1012"/>
                    <a:pt x="200" y="1018"/>
                    <a:pt x="228" y="1013"/>
                  </a:cubicBezTo>
                  <a:cubicBezTo>
                    <a:pt x="253" y="1009"/>
                    <a:pt x="270" y="995"/>
                    <a:pt x="270" y="969"/>
                  </a:cubicBezTo>
                  <a:cubicBezTo>
                    <a:pt x="270" y="943"/>
                    <a:pt x="255" y="923"/>
                    <a:pt x="246" y="901"/>
                  </a:cubicBezTo>
                  <a:cubicBezTo>
                    <a:pt x="235" y="875"/>
                    <a:pt x="229" y="848"/>
                    <a:pt x="228" y="819"/>
                  </a:cubicBezTo>
                  <a:cubicBezTo>
                    <a:pt x="228" y="789"/>
                    <a:pt x="223" y="763"/>
                    <a:pt x="205" y="738"/>
                  </a:cubicBezTo>
                  <a:cubicBezTo>
                    <a:pt x="188" y="714"/>
                    <a:pt x="176" y="692"/>
                    <a:pt x="172" y="663"/>
                  </a:cubicBezTo>
                  <a:cubicBezTo>
                    <a:pt x="172" y="657"/>
                    <a:pt x="167" y="628"/>
                    <a:pt x="181" y="631"/>
                  </a:cubicBezTo>
                  <a:cubicBezTo>
                    <a:pt x="185" y="632"/>
                    <a:pt x="183" y="639"/>
                    <a:pt x="183" y="642"/>
                  </a:cubicBezTo>
                  <a:cubicBezTo>
                    <a:pt x="183" y="650"/>
                    <a:pt x="184" y="659"/>
                    <a:pt x="185" y="667"/>
                  </a:cubicBezTo>
                  <a:cubicBezTo>
                    <a:pt x="189" y="692"/>
                    <a:pt x="201" y="714"/>
                    <a:pt x="217" y="733"/>
                  </a:cubicBezTo>
                  <a:cubicBezTo>
                    <a:pt x="223" y="742"/>
                    <a:pt x="231" y="750"/>
                    <a:pt x="238" y="758"/>
                  </a:cubicBezTo>
                  <a:cubicBezTo>
                    <a:pt x="247" y="770"/>
                    <a:pt x="251" y="782"/>
                    <a:pt x="254" y="796"/>
                  </a:cubicBezTo>
                  <a:cubicBezTo>
                    <a:pt x="260" y="825"/>
                    <a:pt x="258" y="854"/>
                    <a:pt x="265" y="882"/>
                  </a:cubicBezTo>
                  <a:cubicBezTo>
                    <a:pt x="275" y="925"/>
                    <a:pt x="310" y="965"/>
                    <a:pt x="357" y="966"/>
                  </a:cubicBezTo>
                  <a:cubicBezTo>
                    <a:pt x="371" y="966"/>
                    <a:pt x="384" y="966"/>
                    <a:pt x="398" y="966"/>
                  </a:cubicBezTo>
                  <a:cubicBezTo>
                    <a:pt x="409" y="966"/>
                    <a:pt x="421" y="974"/>
                    <a:pt x="432" y="976"/>
                  </a:cubicBezTo>
                  <a:cubicBezTo>
                    <a:pt x="440" y="978"/>
                    <a:pt x="446" y="979"/>
                    <a:pt x="454" y="976"/>
                  </a:cubicBezTo>
                  <a:cubicBezTo>
                    <a:pt x="461" y="973"/>
                    <a:pt x="467" y="969"/>
                    <a:pt x="473" y="964"/>
                  </a:cubicBezTo>
                  <a:cubicBezTo>
                    <a:pt x="483" y="957"/>
                    <a:pt x="489" y="945"/>
                    <a:pt x="496" y="935"/>
                  </a:cubicBezTo>
                  <a:cubicBezTo>
                    <a:pt x="503" y="922"/>
                    <a:pt x="509" y="909"/>
                    <a:pt x="511" y="894"/>
                  </a:cubicBezTo>
                  <a:cubicBezTo>
                    <a:pt x="515" y="866"/>
                    <a:pt x="508" y="835"/>
                    <a:pt x="495" y="811"/>
                  </a:cubicBezTo>
                  <a:cubicBezTo>
                    <a:pt x="484" y="788"/>
                    <a:pt x="467" y="768"/>
                    <a:pt x="448" y="751"/>
                  </a:cubicBezTo>
                  <a:cubicBezTo>
                    <a:pt x="434" y="739"/>
                    <a:pt x="433" y="727"/>
                    <a:pt x="429" y="710"/>
                  </a:cubicBezTo>
                  <a:cubicBezTo>
                    <a:pt x="423" y="685"/>
                    <a:pt x="427" y="657"/>
                    <a:pt x="425" y="632"/>
                  </a:cubicBezTo>
                  <a:cubicBezTo>
                    <a:pt x="423" y="599"/>
                    <a:pt x="417" y="570"/>
                    <a:pt x="398" y="544"/>
                  </a:cubicBezTo>
                  <a:cubicBezTo>
                    <a:pt x="360" y="493"/>
                    <a:pt x="304" y="463"/>
                    <a:pt x="258" y="421"/>
                  </a:cubicBezTo>
                  <a:cubicBezTo>
                    <a:pt x="239" y="405"/>
                    <a:pt x="224" y="385"/>
                    <a:pt x="206" y="368"/>
                  </a:cubicBezTo>
                  <a:cubicBezTo>
                    <a:pt x="188" y="350"/>
                    <a:pt x="167" y="342"/>
                    <a:pt x="141" y="342"/>
                  </a:cubicBezTo>
                  <a:cubicBezTo>
                    <a:pt x="117" y="342"/>
                    <a:pt x="91" y="331"/>
                    <a:pt x="68" y="323"/>
                  </a:cubicBezTo>
                  <a:cubicBezTo>
                    <a:pt x="52" y="316"/>
                    <a:pt x="23" y="307"/>
                    <a:pt x="20" y="287"/>
                  </a:cubicBezTo>
                  <a:cubicBezTo>
                    <a:pt x="18" y="275"/>
                    <a:pt x="33" y="290"/>
                    <a:pt x="37" y="293"/>
                  </a:cubicBezTo>
                  <a:cubicBezTo>
                    <a:pt x="46" y="300"/>
                    <a:pt x="55" y="305"/>
                    <a:pt x="66" y="309"/>
                  </a:cubicBezTo>
                  <a:cubicBezTo>
                    <a:pt x="88" y="317"/>
                    <a:pt x="112" y="313"/>
                    <a:pt x="135" y="314"/>
                  </a:cubicBezTo>
                  <a:cubicBezTo>
                    <a:pt x="148" y="314"/>
                    <a:pt x="160" y="314"/>
                    <a:pt x="172" y="316"/>
                  </a:cubicBezTo>
                  <a:cubicBezTo>
                    <a:pt x="183" y="317"/>
                    <a:pt x="194" y="324"/>
                    <a:pt x="203" y="330"/>
                  </a:cubicBezTo>
                  <a:cubicBezTo>
                    <a:pt x="225" y="342"/>
                    <a:pt x="245" y="358"/>
                    <a:pt x="262" y="377"/>
                  </a:cubicBezTo>
                  <a:cubicBezTo>
                    <a:pt x="252" y="344"/>
                    <a:pt x="247" y="311"/>
                    <a:pt x="242" y="277"/>
                  </a:cubicBezTo>
                  <a:cubicBezTo>
                    <a:pt x="240" y="270"/>
                    <a:pt x="239" y="262"/>
                    <a:pt x="237" y="255"/>
                  </a:cubicBezTo>
                  <a:cubicBezTo>
                    <a:pt x="236" y="246"/>
                    <a:pt x="234" y="243"/>
                    <a:pt x="227" y="237"/>
                  </a:cubicBezTo>
                  <a:cubicBezTo>
                    <a:pt x="215" y="226"/>
                    <a:pt x="203" y="216"/>
                    <a:pt x="191" y="205"/>
                  </a:cubicBezTo>
                  <a:cubicBezTo>
                    <a:pt x="184" y="200"/>
                    <a:pt x="178" y="195"/>
                    <a:pt x="172" y="190"/>
                  </a:cubicBezTo>
                  <a:cubicBezTo>
                    <a:pt x="167" y="185"/>
                    <a:pt x="161" y="177"/>
                    <a:pt x="155" y="175"/>
                  </a:cubicBezTo>
                  <a:cubicBezTo>
                    <a:pt x="144" y="170"/>
                    <a:pt x="131" y="169"/>
                    <a:pt x="119" y="165"/>
                  </a:cubicBezTo>
                  <a:cubicBezTo>
                    <a:pt x="109" y="162"/>
                    <a:pt x="97" y="155"/>
                    <a:pt x="98" y="143"/>
                  </a:cubicBezTo>
                  <a:cubicBezTo>
                    <a:pt x="99" y="138"/>
                    <a:pt x="101" y="132"/>
                    <a:pt x="103" y="127"/>
                  </a:cubicBezTo>
                  <a:cubicBezTo>
                    <a:pt x="107" y="121"/>
                    <a:pt x="115" y="121"/>
                    <a:pt x="121" y="118"/>
                  </a:cubicBezTo>
                  <a:cubicBezTo>
                    <a:pt x="125" y="116"/>
                    <a:pt x="128" y="116"/>
                    <a:pt x="126" y="112"/>
                  </a:cubicBezTo>
                  <a:cubicBezTo>
                    <a:pt x="125" y="109"/>
                    <a:pt x="124" y="106"/>
                    <a:pt x="124" y="103"/>
                  </a:cubicBezTo>
                  <a:cubicBezTo>
                    <a:pt x="123" y="97"/>
                    <a:pt x="124" y="91"/>
                    <a:pt x="127" y="85"/>
                  </a:cubicBezTo>
                  <a:cubicBezTo>
                    <a:pt x="129" y="81"/>
                    <a:pt x="135" y="74"/>
                    <a:pt x="140" y="75"/>
                  </a:cubicBezTo>
                  <a:cubicBezTo>
                    <a:pt x="146" y="77"/>
                    <a:pt x="151" y="84"/>
                    <a:pt x="156" y="87"/>
                  </a:cubicBezTo>
                  <a:cubicBezTo>
                    <a:pt x="166" y="97"/>
                    <a:pt x="177" y="92"/>
                    <a:pt x="189" y="93"/>
                  </a:cubicBezTo>
                  <a:cubicBezTo>
                    <a:pt x="196" y="94"/>
                    <a:pt x="202" y="96"/>
                    <a:pt x="203" y="103"/>
                  </a:cubicBezTo>
                  <a:cubicBezTo>
                    <a:pt x="205" y="111"/>
                    <a:pt x="205" y="120"/>
                    <a:pt x="206" y="129"/>
                  </a:cubicBezTo>
                  <a:cubicBezTo>
                    <a:pt x="208" y="143"/>
                    <a:pt x="208" y="161"/>
                    <a:pt x="219" y="172"/>
                  </a:cubicBezTo>
                  <a:cubicBezTo>
                    <a:pt x="230" y="184"/>
                    <a:pt x="243" y="195"/>
                    <a:pt x="255" y="208"/>
                  </a:cubicBezTo>
                  <a:cubicBezTo>
                    <a:pt x="261" y="215"/>
                    <a:pt x="274" y="225"/>
                    <a:pt x="274" y="236"/>
                  </a:cubicBezTo>
                  <a:cubicBezTo>
                    <a:pt x="274" y="253"/>
                    <a:pt x="274" y="270"/>
                    <a:pt x="274" y="287"/>
                  </a:cubicBezTo>
                  <a:cubicBezTo>
                    <a:pt x="274" y="300"/>
                    <a:pt x="273" y="318"/>
                    <a:pt x="279" y="330"/>
                  </a:cubicBezTo>
                  <a:cubicBezTo>
                    <a:pt x="287" y="344"/>
                    <a:pt x="292" y="360"/>
                    <a:pt x="295" y="375"/>
                  </a:cubicBezTo>
                  <a:cubicBezTo>
                    <a:pt x="298" y="389"/>
                    <a:pt x="298" y="404"/>
                    <a:pt x="306" y="416"/>
                  </a:cubicBezTo>
                  <a:cubicBezTo>
                    <a:pt x="314" y="427"/>
                    <a:pt x="324" y="437"/>
                    <a:pt x="335" y="444"/>
                  </a:cubicBezTo>
                  <a:cubicBezTo>
                    <a:pt x="345" y="451"/>
                    <a:pt x="356" y="457"/>
                    <a:pt x="368" y="461"/>
                  </a:cubicBezTo>
                  <a:cubicBezTo>
                    <a:pt x="374" y="463"/>
                    <a:pt x="381" y="464"/>
                    <a:pt x="387" y="466"/>
                  </a:cubicBezTo>
                  <a:cubicBezTo>
                    <a:pt x="396" y="467"/>
                    <a:pt x="404" y="472"/>
                    <a:pt x="413" y="476"/>
                  </a:cubicBezTo>
                  <a:cubicBezTo>
                    <a:pt x="442" y="488"/>
                    <a:pt x="471" y="499"/>
                    <a:pt x="503" y="498"/>
                  </a:cubicBezTo>
                  <a:cubicBezTo>
                    <a:pt x="518" y="498"/>
                    <a:pt x="532" y="488"/>
                    <a:pt x="544" y="480"/>
                  </a:cubicBezTo>
                  <a:cubicBezTo>
                    <a:pt x="558" y="471"/>
                    <a:pt x="571" y="461"/>
                    <a:pt x="584" y="451"/>
                  </a:cubicBezTo>
                  <a:cubicBezTo>
                    <a:pt x="609" y="433"/>
                    <a:pt x="634" y="417"/>
                    <a:pt x="666" y="416"/>
                  </a:cubicBezTo>
                  <a:cubicBezTo>
                    <a:pt x="700" y="414"/>
                    <a:pt x="736" y="419"/>
                    <a:pt x="768" y="427"/>
                  </a:cubicBezTo>
                  <a:cubicBezTo>
                    <a:pt x="792" y="412"/>
                    <a:pt x="818" y="401"/>
                    <a:pt x="845" y="394"/>
                  </a:cubicBezTo>
                  <a:cubicBezTo>
                    <a:pt x="867" y="387"/>
                    <a:pt x="891" y="384"/>
                    <a:pt x="914" y="382"/>
                  </a:cubicBezTo>
                  <a:cubicBezTo>
                    <a:pt x="937" y="381"/>
                    <a:pt x="962" y="382"/>
                    <a:pt x="984" y="373"/>
                  </a:cubicBezTo>
                  <a:cubicBezTo>
                    <a:pt x="993" y="370"/>
                    <a:pt x="1001" y="364"/>
                    <a:pt x="1007" y="356"/>
                  </a:cubicBezTo>
                  <a:cubicBezTo>
                    <a:pt x="1015" y="345"/>
                    <a:pt x="1013" y="335"/>
                    <a:pt x="1013" y="322"/>
                  </a:cubicBezTo>
                  <a:cubicBezTo>
                    <a:pt x="1013" y="300"/>
                    <a:pt x="1020" y="279"/>
                    <a:pt x="1028" y="259"/>
                  </a:cubicBezTo>
                  <a:cubicBezTo>
                    <a:pt x="1036" y="237"/>
                    <a:pt x="1042" y="214"/>
                    <a:pt x="1043" y="191"/>
                  </a:cubicBezTo>
                  <a:cubicBezTo>
                    <a:pt x="1044" y="164"/>
                    <a:pt x="1035" y="139"/>
                    <a:pt x="1037" y="112"/>
                  </a:cubicBezTo>
                  <a:cubicBezTo>
                    <a:pt x="1037" y="102"/>
                    <a:pt x="1046" y="91"/>
                    <a:pt x="1050" y="82"/>
                  </a:cubicBezTo>
                  <a:cubicBezTo>
                    <a:pt x="1055" y="70"/>
                    <a:pt x="1060" y="59"/>
                    <a:pt x="1066" y="48"/>
                  </a:cubicBezTo>
                  <a:cubicBezTo>
                    <a:pt x="1069" y="43"/>
                    <a:pt x="1067" y="33"/>
                    <a:pt x="1066" y="28"/>
                  </a:cubicBezTo>
                  <a:cubicBezTo>
                    <a:pt x="1065" y="21"/>
                    <a:pt x="1058" y="17"/>
                    <a:pt x="1055" y="11"/>
                  </a:cubicBezTo>
                </a:path>
              </a:pathLst>
            </a:custGeom>
            <a:solidFill>
              <a:srgbClr val="B5D281"/>
            </a:solidFill>
            <a:ln w="4763" cap="flat">
              <a:solidFill>
                <a:srgbClr val="343434"/>
              </a:solidFill>
              <a:prstDash val="solid"/>
              <a:miter lim="800000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877" name="Freeform 65"/>
            <p:cNvSpPr/>
            <p:nvPr/>
          </p:nvSpPr>
          <p:spPr bwMode="auto">
            <a:xfrm>
              <a:off x="3552" y="1873"/>
              <a:ext cx="1915" cy="1953"/>
            </a:xfrm>
            <a:custGeom>
              <a:avLst/>
              <a:gdLst>
                <a:gd name="T0" fmla="*/ 1246 w 1818"/>
                <a:gd name="T1" fmla="*/ 91 h 1854"/>
                <a:gd name="T2" fmla="*/ 1255 w 1818"/>
                <a:gd name="T3" fmla="*/ 369 h 1854"/>
                <a:gd name="T4" fmla="*/ 1426 w 1818"/>
                <a:gd name="T5" fmla="*/ 146 h 1854"/>
                <a:gd name="T6" fmla="*/ 1511 w 1818"/>
                <a:gd name="T7" fmla="*/ 200 h 1854"/>
                <a:gd name="T8" fmla="*/ 1443 w 1818"/>
                <a:gd name="T9" fmla="*/ 246 h 1854"/>
                <a:gd name="T10" fmla="*/ 1055 w 1818"/>
                <a:gd name="T11" fmla="*/ 583 h 1854"/>
                <a:gd name="T12" fmla="*/ 1323 w 1818"/>
                <a:gd name="T13" fmla="*/ 879 h 1854"/>
                <a:gd name="T14" fmla="*/ 1731 w 1818"/>
                <a:gd name="T15" fmla="*/ 690 h 1854"/>
                <a:gd name="T16" fmla="*/ 1887 w 1818"/>
                <a:gd name="T17" fmla="*/ 645 h 1854"/>
                <a:gd name="T18" fmla="*/ 1583 w 1818"/>
                <a:gd name="T19" fmla="*/ 914 h 1854"/>
                <a:gd name="T20" fmla="*/ 1975 w 1818"/>
                <a:gd name="T21" fmla="*/ 902 h 1854"/>
                <a:gd name="T22" fmla="*/ 2107 w 1818"/>
                <a:gd name="T23" fmla="*/ 965 h 1854"/>
                <a:gd name="T24" fmla="*/ 1652 w 1818"/>
                <a:gd name="T25" fmla="*/ 980 h 1854"/>
                <a:gd name="T26" fmla="*/ 1332 w 1818"/>
                <a:gd name="T27" fmla="*/ 1029 h 1854"/>
                <a:gd name="T28" fmla="*/ 1520 w 1818"/>
                <a:gd name="T29" fmla="*/ 1249 h 1854"/>
                <a:gd name="T30" fmla="*/ 1712 w 1818"/>
                <a:gd name="T31" fmla="*/ 1152 h 1854"/>
                <a:gd name="T32" fmla="*/ 1838 w 1818"/>
                <a:gd name="T33" fmla="*/ 1230 h 1854"/>
                <a:gd name="T34" fmla="*/ 2038 w 1818"/>
                <a:gd name="T35" fmla="*/ 1286 h 1854"/>
                <a:gd name="T36" fmla="*/ 2019 w 1818"/>
                <a:gd name="T37" fmla="*/ 1375 h 1854"/>
                <a:gd name="T38" fmla="*/ 1814 w 1818"/>
                <a:gd name="T39" fmla="*/ 1271 h 1854"/>
                <a:gd name="T40" fmla="*/ 1862 w 1818"/>
                <a:gd name="T41" fmla="*/ 1381 h 1854"/>
                <a:gd name="T42" fmla="*/ 1855 w 1818"/>
                <a:gd name="T43" fmla="*/ 1404 h 1854"/>
                <a:gd name="T44" fmla="*/ 1539 w 1818"/>
                <a:gd name="T45" fmla="*/ 1330 h 1854"/>
                <a:gd name="T46" fmla="*/ 1297 w 1818"/>
                <a:gd name="T47" fmla="*/ 1431 h 1854"/>
                <a:gd name="T48" fmla="*/ 1563 w 1818"/>
                <a:gd name="T49" fmla="*/ 1755 h 1854"/>
                <a:gd name="T50" fmla="*/ 1308 w 1818"/>
                <a:gd name="T51" fmla="*/ 1603 h 1854"/>
                <a:gd name="T52" fmla="*/ 1472 w 1818"/>
                <a:gd name="T53" fmla="*/ 1994 h 1854"/>
                <a:gd name="T54" fmla="*/ 1578 w 1818"/>
                <a:gd name="T55" fmla="*/ 2110 h 1854"/>
                <a:gd name="T56" fmla="*/ 1482 w 1818"/>
                <a:gd name="T57" fmla="*/ 2164 h 1854"/>
                <a:gd name="T58" fmla="*/ 1361 w 1818"/>
                <a:gd name="T59" fmla="*/ 1947 h 1854"/>
                <a:gd name="T60" fmla="*/ 1163 w 1818"/>
                <a:gd name="T61" fmla="*/ 2036 h 1854"/>
                <a:gd name="T62" fmla="*/ 1259 w 1818"/>
                <a:gd name="T63" fmla="*/ 1887 h 1854"/>
                <a:gd name="T64" fmla="*/ 1058 w 1818"/>
                <a:gd name="T65" fmla="*/ 1541 h 1854"/>
                <a:gd name="T66" fmla="*/ 809 w 1818"/>
                <a:gd name="T67" fmla="*/ 1580 h 1854"/>
                <a:gd name="T68" fmla="*/ 436 w 1818"/>
                <a:gd name="T69" fmla="*/ 1832 h 1854"/>
                <a:gd name="T70" fmla="*/ 170 w 1818"/>
                <a:gd name="T71" fmla="*/ 1993 h 1854"/>
                <a:gd name="T72" fmla="*/ 201 w 1818"/>
                <a:gd name="T73" fmla="*/ 1882 h 1854"/>
                <a:gd name="T74" fmla="*/ 399 w 1818"/>
                <a:gd name="T75" fmla="*/ 1734 h 1854"/>
                <a:gd name="T76" fmla="*/ 176 w 1818"/>
                <a:gd name="T77" fmla="*/ 1674 h 1854"/>
                <a:gd name="T78" fmla="*/ 498 w 1818"/>
                <a:gd name="T79" fmla="*/ 1671 h 1854"/>
                <a:gd name="T80" fmla="*/ 710 w 1818"/>
                <a:gd name="T81" fmla="*/ 1507 h 1854"/>
                <a:gd name="T82" fmla="*/ 608 w 1818"/>
                <a:gd name="T83" fmla="*/ 1224 h 1854"/>
                <a:gd name="T84" fmla="*/ 366 w 1818"/>
                <a:gd name="T85" fmla="*/ 1186 h 1854"/>
                <a:gd name="T86" fmla="*/ 24 w 1818"/>
                <a:gd name="T87" fmla="*/ 1169 h 1854"/>
                <a:gd name="T88" fmla="*/ 37 w 1818"/>
                <a:gd name="T89" fmla="*/ 1084 h 1854"/>
                <a:gd name="T90" fmla="*/ 288 w 1818"/>
                <a:gd name="T91" fmla="*/ 1053 h 1854"/>
                <a:gd name="T92" fmla="*/ 216 w 1818"/>
                <a:gd name="T93" fmla="*/ 781 h 1854"/>
                <a:gd name="T94" fmla="*/ 465 w 1818"/>
                <a:gd name="T95" fmla="*/ 1129 h 1854"/>
                <a:gd name="T96" fmla="*/ 578 w 1818"/>
                <a:gd name="T97" fmla="*/ 948 h 1854"/>
                <a:gd name="T98" fmla="*/ 241 w 1818"/>
                <a:gd name="T99" fmla="*/ 431 h 1854"/>
                <a:gd name="T100" fmla="*/ 158 w 1818"/>
                <a:gd name="T101" fmla="*/ 368 h 1854"/>
                <a:gd name="T102" fmla="*/ 265 w 1818"/>
                <a:gd name="T103" fmla="*/ 277 h 1854"/>
                <a:gd name="T104" fmla="*/ 120 w 1818"/>
                <a:gd name="T105" fmla="*/ 149 h 1854"/>
                <a:gd name="T106" fmla="*/ 182 w 1818"/>
                <a:gd name="T107" fmla="*/ 102 h 1854"/>
                <a:gd name="T108" fmla="*/ 320 w 1818"/>
                <a:gd name="T109" fmla="*/ 276 h 1854"/>
                <a:gd name="T110" fmla="*/ 431 w 1818"/>
                <a:gd name="T111" fmla="*/ 539 h 1854"/>
                <a:gd name="T112" fmla="*/ 778 w 1818"/>
                <a:gd name="T113" fmla="*/ 486 h 1854"/>
                <a:gd name="T114" fmla="*/ 1184 w 1818"/>
                <a:gd name="T115" fmla="*/ 376 h 1854"/>
                <a:gd name="T116" fmla="*/ 1246 w 1818"/>
                <a:gd name="T117" fmla="*/ 33 h 1854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1818" h="1854">
                  <a:moveTo>
                    <a:pt x="1055" y="11"/>
                  </a:moveTo>
                  <a:cubicBezTo>
                    <a:pt x="1052" y="5"/>
                    <a:pt x="1057" y="0"/>
                    <a:pt x="1063" y="3"/>
                  </a:cubicBezTo>
                  <a:cubicBezTo>
                    <a:pt x="1068" y="6"/>
                    <a:pt x="1072" y="10"/>
                    <a:pt x="1076" y="15"/>
                  </a:cubicBezTo>
                  <a:cubicBezTo>
                    <a:pt x="1079" y="21"/>
                    <a:pt x="1081" y="26"/>
                    <a:pt x="1082" y="33"/>
                  </a:cubicBezTo>
                  <a:cubicBezTo>
                    <a:pt x="1084" y="41"/>
                    <a:pt x="1079" y="49"/>
                    <a:pt x="1075" y="57"/>
                  </a:cubicBezTo>
                  <a:cubicBezTo>
                    <a:pt x="1073" y="64"/>
                    <a:pt x="1070" y="71"/>
                    <a:pt x="1066" y="78"/>
                  </a:cubicBezTo>
                  <a:cubicBezTo>
                    <a:pt x="1062" y="87"/>
                    <a:pt x="1061" y="91"/>
                    <a:pt x="1062" y="100"/>
                  </a:cubicBezTo>
                  <a:cubicBezTo>
                    <a:pt x="1063" y="117"/>
                    <a:pt x="1065" y="133"/>
                    <a:pt x="1068" y="149"/>
                  </a:cubicBezTo>
                  <a:cubicBezTo>
                    <a:pt x="1073" y="181"/>
                    <a:pt x="1078" y="214"/>
                    <a:pt x="1072" y="245"/>
                  </a:cubicBezTo>
                  <a:cubicBezTo>
                    <a:pt x="1069" y="260"/>
                    <a:pt x="1063" y="274"/>
                    <a:pt x="1059" y="289"/>
                  </a:cubicBezTo>
                  <a:cubicBezTo>
                    <a:pt x="1058" y="295"/>
                    <a:pt x="1055" y="302"/>
                    <a:pt x="1058" y="307"/>
                  </a:cubicBezTo>
                  <a:cubicBezTo>
                    <a:pt x="1062" y="312"/>
                    <a:pt x="1068" y="315"/>
                    <a:pt x="1074" y="315"/>
                  </a:cubicBezTo>
                  <a:cubicBezTo>
                    <a:pt x="1086" y="315"/>
                    <a:pt x="1100" y="303"/>
                    <a:pt x="1109" y="296"/>
                  </a:cubicBezTo>
                  <a:cubicBezTo>
                    <a:pt x="1121" y="287"/>
                    <a:pt x="1133" y="280"/>
                    <a:pt x="1144" y="270"/>
                  </a:cubicBezTo>
                  <a:cubicBezTo>
                    <a:pt x="1163" y="250"/>
                    <a:pt x="1176" y="225"/>
                    <a:pt x="1184" y="200"/>
                  </a:cubicBezTo>
                  <a:cubicBezTo>
                    <a:pt x="1189" y="187"/>
                    <a:pt x="1193" y="174"/>
                    <a:pt x="1196" y="161"/>
                  </a:cubicBezTo>
                  <a:cubicBezTo>
                    <a:pt x="1197" y="155"/>
                    <a:pt x="1199" y="148"/>
                    <a:pt x="1200" y="142"/>
                  </a:cubicBezTo>
                  <a:cubicBezTo>
                    <a:pt x="1206" y="136"/>
                    <a:pt x="1212" y="129"/>
                    <a:pt x="1220" y="125"/>
                  </a:cubicBezTo>
                  <a:cubicBezTo>
                    <a:pt x="1230" y="118"/>
                    <a:pt x="1242" y="115"/>
                    <a:pt x="1249" y="126"/>
                  </a:cubicBezTo>
                  <a:cubicBezTo>
                    <a:pt x="1251" y="129"/>
                    <a:pt x="1252" y="132"/>
                    <a:pt x="1253" y="135"/>
                  </a:cubicBezTo>
                  <a:cubicBezTo>
                    <a:pt x="1257" y="134"/>
                    <a:pt x="1261" y="134"/>
                    <a:pt x="1264" y="133"/>
                  </a:cubicBezTo>
                  <a:cubicBezTo>
                    <a:pt x="1273" y="132"/>
                    <a:pt x="1282" y="131"/>
                    <a:pt x="1291" y="131"/>
                  </a:cubicBezTo>
                  <a:cubicBezTo>
                    <a:pt x="1302" y="131"/>
                    <a:pt x="1314" y="134"/>
                    <a:pt x="1313" y="147"/>
                  </a:cubicBezTo>
                  <a:cubicBezTo>
                    <a:pt x="1312" y="159"/>
                    <a:pt x="1302" y="167"/>
                    <a:pt x="1292" y="171"/>
                  </a:cubicBezTo>
                  <a:cubicBezTo>
                    <a:pt x="1290" y="172"/>
                    <a:pt x="1282" y="173"/>
                    <a:pt x="1282" y="175"/>
                  </a:cubicBezTo>
                  <a:cubicBezTo>
                    <a:pt x="1282" y="179"/>
                    <a:pt x="1282" y="182"/>
                    <a:pt x="1282" y="186"/>
                  </a:cubicBezTo>
                  <a:cubicBezTo>
                    <a:pt x="1282" y="189"/>
                    <a:pt x="1282" y="192"/>
                    <a:pt x="1282" y="195"/>
                  </a:cubicBezTo>
                  <a:cubicBezTo>
                    <a:pt x="1282" y="196"/>
                    <a:pt x="1272" y="204"/>
                    <a:pt x="1270" y="205"/>
                  </a:cubicBezTo>
                  <a:cubicBezTo>
                    <a:pt x="1266" y="207"/>
                    <a:pt x="1257" y="205"/>
                    <a:pt x="1252" y="206"/>
                  </a:cubicBezTo>
                  <a:cubicBezTo>
                    <a:pt x="1246" y="207"/>
                    <a:pt x="1240" y="208"/>
                    <a:pt x="1235" y="211"/>
                  </a:cubicBezTo>
                  <a:cubicBezTo>
                    <a:pt x="1225" y="215"/>
                    <a:pt x="1216" y="223"/>
                    <a:pt x="1209" y="232"/>
                  </a:cubicBezTo>
                  <a:cubicBezTo>
                    <a:pt x="1194" y="253"/>
                    <a:pt x="1185" y="276"/>
                    <a:pt x="1166" y="294"/>
                  </a:cubicBezTo>
                  <a:cubicBezTo>
                    <a:pt x="1145" y="314"/>
                    <a:pt x="1120" y="329"/>
                    <a:pt x="1096" y="344"/>
                  </a:cubicBezTo>
                  <a:cubicBezTo>
                    <a:pt x="1083" y="352"/>
                    <a:pt x="1073" y="366"/>
                    <a:pt x="1062" y="377"/>
                  </a:cubicBezTo>
                  <a:cubicBezTo>
                    <a:pt x="1049" y="389"/>
                    <a:pt x="1036" y="402"/>
                    <a:pt x="1023" y="413"/>
                  </a:cubicBezTo>
                  <a:cubicBezTo>
                    <a:pt x="981" y="434"/>
                    <a:pt x="898" y="432"/>
                    <a:pt x="903" y="498"/>
                  </a:cubicBezTo>
                  <a:cubicBezTo>
                    <a:pt x="905" y="511"/>
                    <a:pt x="912" y="520"/>
                    <a:pt x="921" y="530"/>
                  </a:cubicBezTo>
                  <a:cubicBezTo>
                    <a:pt x="931" y="542"/>
                    <a:pt x="943" y="553"/>
                    <a:pt x="953" y="565"/>
                  </a:cubicBezTo>
                  <a:cubicBezTo>
                    <a:pt x="974" y="589"/>
                    <a:pt x="987" y="619"/>
                    <a:pt x="1002" y="646"/>
                  </a:cubicBezTo>
                  <a:cubicBezTo>
                    <a:pt x="1018" y="674"/>
                    <a:pt x="1035" y="702"/>
                    <a:pt x="1056" y="726"/>
                  </a:cubicBezTo>
                  <a:cubicBezTo>
                    <a:pt x="1064" y="736"/>
                    <a:pt x="1073" y="748"/>
                    <a:pt x="1087" y="752"/>
                  </a:cubicBezTo>
                  <a:cubicBezTo>
                    <a:pt x="1101" y="756"/>
                    <a:pt x="1117" y="753"/>
                    <a:pt x="1132" y="752"/>
                  </a:cubicBezTo>
                  <a:cubicBezTo>
                    <a:pt x="1165" y="749"/>
                    <a:pt x="1198" y="752"/>
                    <a:pt x="1232" y="755"/>
                  </a:cubicBezTo>
                  <a:cubicBezTo>
                    <a:pt x="1248" y="757"/>
                    <a:pt x="1265" y="758"/>
                    <a:pt x="1281" y="761"/>
                  </a:cubicBezTo>
                  <a:cubicBezTo>
                    <a:pt x="1294" y="763"/>
                    <a:pt x="1310" y="756"/>
                    <a:pt x="1320" y="748"/>
                  </a:cubicBezTo>
                  <a:cubicBezTo>
                    <a:pt x="1340" y="733"/>
                    <a:pt x="1350" y="709"/>
                    <a:pt x="1365" y="688"/>
                  </a:cubicBezTo>
                  <a:cubicBezTo>
                    <a:pt x="1379" y="668"/>
                    <a:pt x="1396" y="648"/>
                    <a:pt x="1415" y="632"/>
                  </a:cubicBezTo>
                  <a:cubicBezTo>
                    <a:pt x="1435" y="615"/>
                    <a:pt x="1457" y="601"/>
                    <a:pt x="1481" y="590"/>
                  </a:cubicBezTo>
                  <a:cubicBezTo>
                    <a:pt x="1493" y="584"/>
                    <a:pt x="1505" y="579"/>
                    <a:pt x="1517" y="575"/>
                  </a:cubicBezTo>
                  <a:cubicBezTo>
                    <a:pt x="1532" y="570"/>
                    <a:pt x="1548" y="568"/>
                    <a:pt x="1562" y="562"/>
                  </a:cubicBezTo>
                  <a:cubicBezTo>
                    <a:pt x="1593" y="549"/>
                    <a:pt x="1622" y="535"/>
                    <a:pt x="1649" y="516"/>
                  </a:cubicBezTo>
                  <a:cubicBezTo>
                    <a:pt x="1652" y="514"/>
                    <a:pt x="1655" y="512"/>
                    <a:pt x="1658" y="516"/>
                  </a:cubicBezTo>
                  <a:cubicBezTo>
                    <a:pt x="1660" y="520"/>
                    <a:pt x="1652" y="525"/>
                    <a:pt x="1650" y="527"/>
                  </a:cubicBezTo>
                  <a:cubicBezTo>
                    <a:pt x="1639" y="537"/>
                    <a:pt x="1627" y="545"/>
                    <a:pt x="1614" y="552"/>
                  </a:cubicBezTo>
                  <a:cubicBezTo>
                    <a:pt x="1586" y="568"/>
                    <a:pt x="1556" y="579"/>
                    <a:pt x="1525" y="587"/>
                  </a:cubicBezTo>
                  <a:cubicBezTo>
                    <a:pt x="1497" y="595"/>
                    <a:pt x="1475" y="606"/>
                    <a:pt x="1455" y="628"/>
                  </a:cubicBezTo>
                  <a:cubicBezTo>
                    <a:pt x="1436" y="651"/>
                    <a:pt x="1423" y="677"/>
                    <a:pt x="1403" y="699"/>
                  </a:cubicBezTo>
                  <a:cubicBezTo>
                    <a:pt x="1398" y="705"/>
                    <a:pt x="1393" y="710"/>
                    <a:pt x="1387" y="715"/>
                  </a:cubicBezTo>
                  <a:cubicBezTo>
                    <a:pt x="1381" y="721"/>
                    <a:pt x="1378" y="727"/>
                    <a:pt x="1374" y="734"/>
                  </a:cubicBezTo>
                  <a:cubicBezTo>
                    <a:pt x="1366" y="749"/>
                    <a:pt x="1360" y="765"/>
                    <a:pt x="1355" y="782"/>
                  </a:cubicBezTo>
                  <a:cubicBezTo>
                    <a:pt x="1355" y="783"/>
                    <a:pt x="1354" y="784"/>
                    <a:pt x="1354" y="786"/>
                  </a:cubicBezTo>
                  <a:cubicBezTo>
                    <a:pt x="1384" y="794"/>
                    <a:pt x="1414" y="785"/>
                    <a:pt x="1444" y="781"/>
                  </a:cubicBezTo>
                  <a:cubicBezTo>
                    <a:pt x="1477" y="778"/>
                    <a:pt x="1510" y="775"/>
                    <a:pt x="1543" y="774"/>
                  </a:cubicBezTo>
                  <a:cubicBezTo>
                    <a:pt x="1577" y="773"/>
                    <a:pt x="1612" y="774"/>
                    <a:pt x="1646" y="776"/>
                  </a:cubicBezTo>
                  <a:cubicBezTo>
                    <a:pt x="1654" y="777"/>
                    <a:pt x="1662" y="778"/>
                    <a:pt x="1670" y="779"/>
                  </a:cubicBezTo>
                  <a:cubicBezTo>
                    <a:pt x="1677" y="779"/>
                    <a:pt x="1684" y="775"/>
                    <a:pt x="1690" y="772"/>
                  </a:cubicBezTo>
                  <a:cubicBezTo>
                    <a:pt x="1703" y="765"/>
                    <a:pt x="1717" y="757"/>
                    <a:pt x="1732" y="751"/>
                  </a:cubicBezTo>
                  <a:cubicBezTo>
                    <a:pt x="1744" y="746"/>
                    <a:pt x="1757" y="743"/>
                    <a:pt x="1768" y="752"/>
                  </a:cubicBezTo>
                  <a:cubicBezTo>
                    <a:pt x="1771" y="755"/>
                    <a:pt x="1775" y="760"/>
                    <a:pt x="1775" y="764"/>
                  </a:cubicBezTo>
                  <a:cubicBezTo>
                    <a:pt x="1775" y="770"/>
                    <a:pt x="1772" y="778"/>
                    <a:pt x="1778" y="778"/>
                  </a:cubicBezTo>
                  <a:cubicBezTo>
                    <a:pt x="1790" y="779"/>
                    <a:pt x="1806" y="778"/>
                    <a:pt x="1813" y="790"/>
                  </a:cubicBezTo>
                  <a:cubicBezTo>
                    <a:pt x="1818" y="798"/>
                    <a:pt x="1807" y="819"/>
                    <a:pt x="1803" y="826"/>
                  </a:cubicBezTo>
                  <a:cubicBezTo>
                    <a:pt x="1791" y="850"/>
                    <a:pt x="1770" y="863"/>
                    <a:pt x="1743" y="866"/>
                  </a:cubicBezTo>
                  <a:cubicBezTo>
                    <a:pt x="1734" y="867"/>
                    <a:pt x="1723" y="850"/>
                    <a:pt x="1717" y="845"/>
                  </a:cubicBezTo>
                  <a:cubicBezTo>
                    <a:pt x="1706" y="836"/>
                    <a:pt x="1694" y="830"/>
                    <a:pt x="1681" y="827"/>
                  </a:cubicBezTo>
                  <a:cubicBezTo>
                    <a:pt x="1649" y="817"/>
                    <a:pt x="1614" y="818"/>
                    <a:pt x="1581" y="815"/>
                  </a:cubicBezTo>
                  <a:cubicBezTo>
                    <a:pt x="1559" y="814"/>
                    <a:pt x="1534" y="821"/>
                    <a:pt x="1513" y="825"/>
                  </a:cubicBezTo>
                  <a:cubicBezTo>
                    <a:pt x="1480" y="830"/>
                    <a:pt x="1447" y="835"/>
                    <a:pt x="1414" y="838"/>
                  </a:cubicBezTo>
                  <a:cubicBezTo>
                    <a:pt x="1380" y="841"/>
                    <a:pt x="1344" y="843"/>
                    <a:pt x="1310" y="837"/>
                  </a:cubicBezTo>
                  <a:cubicBezTo>
                    <a:pt x="1296" y="835"/>
                    <a:pt x="1282" y="831"/>
                    <a:pt x="1268" y="826"/>
                  </a:cubicBezTo>
                  <a:cubicBezTo>
                    <a:pt x="1262" y="824"/>
                    <a:pt x="1255" y="822"/>
                    <a:pt x="1249" y="820"/>
                  </a:cubicBezTo>
                  <a:cubicBezTo>
                    <a:pt x="1240" y="816"/>
                    <a:pt x="1235" y="815"/>
                    <a:pt x="1225" y="816"/>
                  </a:cubicBezTo>
                  <a:cubicBezTo>
                    <a:pt x="1201" y="820"/>
                    <a:pt x="1173" y="827"/>
                    <a:pt x="1156" y="846"/>
                  </a:cubicBezTo>
                  <a:cubicBezTo>
                    <a:pt x="1148" y="856"/>
                    <a:pt x="1143" y="867"/>
                    <a:pt x="1140" y="880"/>
                  </a:cubicBezTo>
                  <a:cubicBezTo>
                    <a:pt x="1136" y="897"/>
                    <a:pt x="1143" y="912"/>
                    <a:pt x="1148" y="929"/>
                  </a:cubicBezTo>
                  <a:cubicBezTo>
                    <a:pt x="1154" y="945"/>
                    <a:pt x="1160" y="961"/>
                    <a:pt x="1165" y="977"/>
                  </a:cubicBezTo>
                  <a:cubicBezTo>
                    <a:pt x="1170" y="990"/>
                    <a:pt x="1173" y="999"/>
                    <a:pt x="1182" y="1008"/>
                  </a:cubicBezTo>
                  <a:cubicBezTo>
                    <a:pt x="1189" y="1015"/>
                    <a:pt x="1197" y="1018"/>
                    <a:pt x="1204" y="1022"/>
                  </a:cubicBezTo>
                  <a:cubicBezTo>
                    <a:pt x="1232" y="1037"/>
                    <a:pt x="1260" y="1052"/>
                    <a:pt x="1288" y="1067"/>
                  </a:cubicBezTo>
                  <a:cubicBezTo>
                    <a:pt x="1293" y="1069"/>
                    <a:pt x="1295" y="1069"/>
                    <a:pt x="1301" y="1069"/>
                  </a:cubicBezTo>
                  <a:cubicBezTo>
                    <a:pt x="1317" y="1070"/>
                    <a:pt x="1333" y="1071"/>
                    <a:pt x="1349" y="1075"/>
                  </a:cubicBezTo>
                  <a:cubicBezTo>
                    <a:pt x="1353" y="1074"/>
                    <a:pt x="1358" y="1069"/>
                    <a:pt x="1362" y="1067"/>
                  </a:cubicBezTo>
                  <a:cubicBezTo>
                    <a:pt x="1369" y="1063"/>
                    <a:pt x="1377" y="1058"/>
                    <a:pt x="1385" y="1054"/>
                  </a:cubicBezTo>
                  <a:cubicBezTo>
                    <a:pt x="1404" y="1043"/>
                    <a:pt x="1415" y="1029"/>
                    <a:pt x="1427" y="1011"/>
                  </a:cubicBezTo>
                  <a:cubicBezTo>
                    <a:pt x="1433" y="1002"/>
                    <a:pt x="1440" y="990"/>
                    <a:pt x="1450" y="984"/>
                  </a:cubicBezTo>
                  <a:cubicBezTo>
                    <a:pt x="1455" y="981"/>
                    <a:pt x="1461" y="981"/>
                    <a:pt x="1465" y="986"/>
                  </a:cubicBezTo>
                  <a:cubicBezTo>
                    <a:pt x="1470" y="992"/>
                    <a:pt x="1456" y="996"/>
                    <a:pt x="1453" y="999"/>
                  </a:cubicBezTo>
                  <a:cubicBezTo>
                    <a:pt x="1443" y="1006"/>
                    <a:pt x="1437" y="1018"/>
                    <a:pt x="1438" y="1031"/>
                  </a:cubicBezTo>
                  <a:cubicBezTo>
                    <a:pt x="1430" y="1046"/>
                    <a:pt x="1418" y="1059"/>
                    <a:pt x="1406" y="1071"/>
                  </a:cubicBezTo>
                  <a:cubicBezTo>
                    <a:pt x="1394" y="1084"/>
                    <a:pt x="1420" y="1074"/>
                    <a:pt x="1424" y="1072"/>
                  </a:cubicBezTo>
                  <a:cubicBezTo>
                    <a:pt x="1440" y="1067"/>
                    <a:pt x="1455" y="1062"/>
                    <a:pt x="1471" y="1058"/>
                  </a:cubicBezTo>
                  <a:cubicBezTo>
                    <a:pt x="1505" y="1051"/>
                    <a:pt x="1539" y="1048"/>
                    <a:pt x="1573" y="1053"/>
                  </a:cubicBezTo>
                  <a:cubicBezTo>
                    <a:pt x="1587" y="1060"/>
                    <a:pt x="1601" y="1068"/>
                    <a:pt x="1615" y="1075"/>
                  </a:cubicBezTo>
                  <a:cubicBezTo>
                    <a:pt x="1621" y="1079"/>
                    <a:pt x="1628" y="1083"/>
                    <a:pt x="1634" y="1086"/>
                  </a:cubicBezTo>
                  <a:cubicBezTo>
                    <a:pt x="1642" y="1091"/>
                    <a:pt x="1651" y="1091"/>
                    <a:pt x="1660" y="1092"/>
                  </a:cubicBezTo>
                  <a:cubicBezTo>
                    <a:pt x="1672" y="1094"/>
                    <a:pt x="1683" y="1096"/>
                    <a:pt x="1694" y="1091"/>
                  </a:cubicBezTo>
                  <a:cubicBezTo>
                    <a:pt x="1705" y="1086"/>
                    <a:pt x="1711" y="1081"/>
                    <a:pt x="1723" y="1081"/>
                  </a:cubicBezTo>
                  <a:cubicBezTo>
                    <a:pt x="1734" y="1082"/>
                    <a:pt x="1742" y="1089"/>
                    <a:pt x="1744" y="1100"/>
                  </a:cubicBezTo>
                  <a:cubicBezTo>
                    <a:pt x="1745" y="1107"/>
                    <a:pt x="1742" y="1115"/>
                    <a:pt x="1748" y="1119"/>
                  </a:cubicBezTo>
                  <a:cubicBezTo>
                    <a:pt x="1754" y="1124"/>
                    <a:pt x="1760" y="1130"/>
                    <a:pt x="1768" y="1132"/>
                  </a:cubicBezTo>
                  <a:cubicBezTo>
                    <a:pt x="1773" y="1133"/>
                    <a:pt x="1777" y="1142"/>
                    <a:pt x="1778" y="1147"/>
                  </a:cubicBezTo>
                  <a:cubicBezTo>
                    <a:pt x="1780" y="1153"/>
                    <a:pt x="1776" y="1158"/>
                    <a:pt x="1773" y="1162"/>
                  </a:cubicBezTo>
                  <a:cubicBezTo>
                    <a:pt x="1763" y="1172"/>
                    <a:pt x="1747" y="1177"/>
                    <a:pt x="1733" y="1172"/>
                  </a:cubicBezTo>
                  <a:cubicBezTo>
                    <a:pt x="1728" y="1171"/>
                    <a:pt x="1730" y="1172"/>
                    <a:pt x="1728" y="1176"/>
                  </a:cubicBezTo>
                  <a:cubicBezTo>
                    <a:pt x="1726" y="1179"/>
                    <a:pt x="1725" y="1182"/>
                    <a:pt x="1723" y="1184"/>
                  </a:cubicBezTo>
                  <a:cubicBezTo>
                    <a:pt x="1719" y="1188"/>
                    <a:pt x="1714" y="1191"/>
                    <a:pt x="1708" y="1190"/>
                  </a:cubicBezTo>
                  <a:cubicBezTo>
                    <a:pt x="1692" y="1186"/>
                    <a:pt x="1687" y="1170"/>
                    <a:pt x="1675" y="1161"/>
                  </a:cubicBezTo>
                  <a:cubicBezTo>
                    <a:pt x="1660" y="1150"/>
                    <a:pt x="1642" y="1143"/>
                    <a:pt x="1627" y="1131"/>
                  </a:cubicBezTo>
                  <a:cubicBezTo>
                    <a:pt x="1616" y="1122"/>
                    <a:pt x="1605" y="1112"/>
                    <a:pt x="1592" y="1105"/>
                  </a:cubicBezTo>
                  <a:cubicBezTo>
                    <a:pt x="1580" y="1097"/>
                    <a:pt x="1567" y="1090"/>
                    <a:pt x="1552" y="1088"/>
                  </a:cubicBezTo>
                  <a:cubicBezTo>
                    <a:pt x="1547" y="1087"/>
                    <a:pt x="1506" y="1090"/>
                    <a:pt x="1517" y="1102"/>
                  </a:cubicBezTo>
                  <a:cubicBezTo>
                    <a:pt x="1520" y="1106"/>
                    <a:pt x="1528" y="1108"/>
                    <a:pt x="1532" y="1112"/>
                  </a:cubicBezTo>
                  <a:cubicBezTo>
                    <a:pt x="1537" y="1115"/>
                    <a:pt x="1542" y="1119"/>
                    <a:pt x="1546" y="1124"/>
                  </a:cubicBezTo>
                  <a:cubicBezTo>
                    <a:pt x="1555" y="1134"/>
                    <a:pt x="1561" y="1145"/>
                    <a:pt x="1568" y="1156"/>
                  </a:cubicBezTo>
                  <a:cubicBezTo>
                    <a:pt x="1571" y="1161"/>
                    <a:pt x="1574" y="1166"/>
                    <a:pt x="1577" y="1171"/>
                  </a:cubicBezTo>
                  <a:cubicBezTo>
                    <a:pt x="1582" y="1175"/>
                    <a:pt x="1588" y="1179"/>
                    <a:pt x="1593" y="1182"/>
                  </a:cubicBezTo>
                  <a:cubicBezTo>
                    <a:pt x="1606" y="1190"/>
                    <a:pt x="1619" y="1197"/>
                    <a:pt x="1633" y="1201"/>
                  </a:cubicBezTo>
                  <a:cubicBezTo>
                    <a:pt x="1640" y="1203"/>
                    <a:pt x="1646" y="1204"/>
                    <a:pt x="1653" y="1205"/>
                  </a:cubicBezTo>
                  <a:cubicBezTo>
                    <a:pt x="1659" y="1206"/>
                    <a:pt x="1672" y="1203"/>
                    <a:pt x="1668" y="1211"/>
                  </a:cubicBezTo>
                  <a:cubicBezTo>
                    <a:pt x="1664" y="1219"/>
                    <a:pt x="1661" y="1218"/>
                    <a:pt x="1653" y="1218"/>
                  </a:cubicBezTo>
                  <a:cubicBezTo>
                    <a:pt x="1645" y="1217"/>
                    <a:pt x="1637" y="1216"/>
                    <a:pt x="1629" y="1214"/>
                  </a:cubicBezTo>
                  <a:cubicBezTo>
                    <a:pt x="1615" y="1211"/>
                    <a:pt x="1601" y="1206"/>
                    <a:pt x="1587" y="1201"/>
                  </a:cubicBezTo>
                  <a:cubicBezTo>
                    <a:pt x="1581" y="1199"/>
                    <a:pt x="1573" y="1197"/>
                    <a:pt x="1568" y="1192"/>
                  </a:cubicBezTo>
                  <a:cubicBezTo>
                    <a:pt x="1564" y="1188"/>
                    <a:pt x="1560" y="1183"/>
                    <a:pt x="1557" y="1178"/>
                  </a:cubicBezTo>
                  <a:cubicBezTo>
                    <a:pt x="1540" y="1156"/>
                    <a:pt x="1523" y="1135"/>
                    <a:pt x="1496" y="1125"/>
                  </a:cubicBezTo>
                  <a:cubicBezTo>
                    <a:pt x="1481" y="1120"/>
                    <a:pt x="1466" y="1117"/>
                    <a:pt x="1450" y="1118"/>
                  </a:cubicBezTo>
                  <a:cubicBezTo>
                    <a:pt x="1435" y="1119"/>
                    <a:pt x="1421" y="1124"/>
                    <a:pt x="1406" y="1128"/>
                  </a:cubicBezTo>
                  <a:cubicBezTo>
                    <a:pt x="1377" y="1136"/>
                    <a:pt x="1347" y="1139"/>
                    <a:pt x="1317" y="1138"/>
                  </a:cubicBezTo>
                  <a:cubicBezTo>
                    <a:pt x="1302" y="1138"/>
                    <a:pt x="1290" y="1135"/>
                    <a:pt x="1276" y="1131"/>
                  </a:cubicBezTo>
                  <a:cubicBezTo>
                    <a:pt x="1270" y="1130"/>
                    <a:pt x="1265" y="1131"/>
                    <a:pt x="1261" y="1127"/>
                  </a:cubicBezTo>
                  <a:cubicBezTo>
                    <a:pt x="1257" y="1124"/>
                    <a:pt x="1255" y="1120"/>
                    <a:pt x="1249" y="1118"/>
                  </a:cubicBezTo>
                  <a:cubicBezTo>
                    <a:pt x="1222" y="1110"/>
                    <a:pt x="1190" y="1113"/>
                    <a:pt x="1166" y="1130"/>
                  </a:cubicBezTo>
                  <a:cubicBezTo>
                    <a:pt x="1142" y="1146"/>
                    <a:pt x="1131" y="1176"/>
                    <a:pt x="1120" y="1202"/>
                  </a:cubicBezTo>
                  <a:cubicBezTo>
                    <a:pt x="1117" y="1210"/>
                    <a:pt x="1114" y="1217"/>
                    <a:pt x="1110" y="1224"/>
                  </a:cubicBezTo>
                  <a:cubicBezTo>
                    <a:pt x="1108" y="1230"/>
                    <a:pt x="1103" y="1234"/>
                    <a:pt x="1101" y="1240"/>
                  </a:cubicBezTo>
                  <a:cubicBezTo>
                    <a:pt x="1097" y="1253"/>
                    <a:pt x="1101" y="1267"/>
                    <a:pt x="1105" y="1278"/>
                  </a:cubicBezTo>
                  <a:cubicBezTo>
                    <a:pt x="1116" y="1307"/>
                    <a:pt x="1134" y="1332"/>
                    <a:pt x="1144" y="1361"/>
                  </a:cubicBezTo>
                  <a:cubicBezTo>
                    <a:pt x="1154" y="1390"/>
                    <a:pt x="1160" y="1422"/>
                    <a:pt x="1176" y="1450"/>
                  </a:cubicBezTo>
                  <a:cubicBezTo>
                    <a:pt x="1202" y="1494"/>
                    <a:pt x="1255" y="1510"/>
                    <a:pt x="1304" y="1504"/>
                  </a:cubicBezTo>
                  <a:cubicBezTo>
                    <a:pt x="1315" y="1503"/>
                    <a:pt x="1326" y="1500"/>
                    <a:pt x="1338" y="1502"/>
                  </a:cubicBezTo>
                  <a:cubicBezTo>
                    <a:pt x="1343" y="1503"/>
                    <a:pt x="1347" y="1508"/>
                    <a:pt x="1350" y="1512"/>
                  </a:cubicBezTo>
                  <a:cubicBezTo>
                    <a:pt x="1353" y="1519"/>
                    <a:pt x="1340" y="1521"/>
                    <a:pt x="1335" y="1522"/>
                  </a:cubicBezTo>
                  <a:cubicBezTo>
                    <a:pt x="1321" y="1524"/>
                    <a:pt x="1305" y="1522"/>
                    <a:pt x="1291" y="1522"/>
                  </a:cubicBezTo>
                  <a:cubicBezTo>
                    <a:pt x="1275" y="1522"/>
                    <a:pt x="1259" y="1522"/>
                    <a:pt x="1244" y="1521"/>
                  </a:cubicBezTo>
                  <a:cubicBezTo>
                    <a:pt x="1191" y="1514"/>
                    <a:pt x="1158" y="1471"/>
                    <a:pt x="1139" y="1424"/>
                  </a:cubicBezTo>
                  <a:cubicBezTo>
                    <a:pt x="1132" y="1406"/>
                    <a:pt x="1129" y="1388"/>
                    <a:pt x="1119" y="1372"/>
                  </a:cubicBezTo>
                  <a:cubicBezTo>
                    <a:pt x="1112" y="1361"/>
                    <a:pt x="1105" y="1350"/>
                    <a:pt x="1099" y="1339"/>
                  </a:cubicBezTo>
                  <a:cubicBezTo>
                    <a:pt x="1098" y="1373"/>
                    <a:pt x="1097" y="1408"/>
                    <a:pt x="1095" y="1443"/>
                  </a:cubicBezTo>
                  <a:cubicBezTo>
                    <a:pt x="1093" y="1473"/>
                    <a:pt x="1086" y="1505"/>
                    <a:pt x="1096" y="1534"/>
                  </a:cubicBezTo>
                  <a:cubicBezTo>
                    <a:pt x="1104" y="1558"/>
                    <a:pt x="1119" y="1578"/>
                    <a:pt x="1138" y="1595"/>
                  </a:cubicBezTo>
                  <a:cubicBezTo>
                    <a:pt x="1158" y="1612"/>
                    <a:pt x="1182" y="1624"/>
                    <a:pt x="1202" y="1641"/>
                  </a:cubicBezTo>
                  <a:cubicBezTo>
                    <a:pt x="1224" y="1660"/>
                    <a:pt x="1243" y="1682"/>
                    <a:pt x="1259" y="1706"/>
                  </a:cubicBezTo>
                  <a:cubicBezTo>
                    <a:pt x="1266" y="1717"/>
                    <a:pt x="1274" y="1730"/>
                    <a:pt x="1280" y="1742"/>
                  </a:cubicBezTo>
                  <a:cubicBezTo>
                    <a:pt x="1284" y="1748"/>
                    <a:pt x="1287" y="1755"/>
                    <a:pt x="1290" y="1761"/>
                  </a:cubicBezTo>
                  <a:cubicBezTo>
                    <a:pt x="1291" y="1765"/>
                    <a:pt x="1293" y="1768"/>
                    <a:pt x="1294" y="1771"/>
                  </a:cubicBezTo>
                  <a:cubicBezTo>
                    <a:pt x="1299" y="1772"/>
                    <a:pt x="1303" y="1772"/>
                    <a:pt x="1307" y="1772"/>
                  </a:cubicBezTo>
                  <a:cubicBezTo>
                    <a:pt x="1318" y="1773"/>
                    <a:pt x="1332" y="1773"/>
                    <a:pt x="1342" y="1779"/>
                  </a:cubicBezTo>
                  <a:cubicBezTo>
                    <a:pt x="1349" y="1783"/>
                    <a:pt x="1357" y="1798"/>
                    <a:pt x="1350" y="1805"/>
                  </a:cubicBezTo>
                  <a:cubicBezTo>
                    <a:pt x="1347" y="1809"/>
                    <a:pt x="1341" y="1810"/>
                    <a:pt x="1337" y="1813"/>
                  </a:cubicBezTo>
                  <a:cubicBezTo>
                    <a:pt x="1333" y="1816"/>
                    <a:pt x="1336" y="1822"/>
                    <a:pt x="1336" y="1826"/>
                  </a:cubicBezTo>
                  <a:cubicBezTo>
                    <a:pt x="1335" y="1839"/>
                    <a:pt x="1326" y="1851"/>
                    <a:pt x="1313" y="1850"/>
                  </a:cubicBezTo>
                  <a:cubicBezTo>
                    <a:pt x="1306" y="1850"/>
                    <a:pt x="1299" y="1847"/>
                    <a:pt x="1293" y="1843"/>
                  </a:cubicBezTo>
                  <a:cubicBezTo>
                    <a:pt x="1289" y="1840"/>
                    <a:pt x="1283" y="1835"/>
                    <a:pt x="1278" y="1840"/>
                  </a:cubicBezTo>
                  <a:cubicBezTo>
                    <a:pt x="1274" y="1844"/>
                    <a:pt x="1273" y="1849"/>
                    <a:pt x="1268" y="1851"/>
                  </a:cubicBezTo>
                  <a:cubicBezTo>
                    <a:pt x="1262" y="1854"/>
                    <a:pt x="1255" y="1854"/>
                    <a:pt x="1249" y="1853"/>
                  </a:cubicBezTo>
                  <a:cubicBezTo>
                    <a:pt x="1243" y="1851"/>
                    <a:pt x="1238" y="1849"/>
                    <a:pt x="1234" y="1845"/>
                  </a:cubicBezTo>
                  <a:cubicBezTo>
                    <a:pt x="1229" y="1841"/>
                    <a:pt x="1230" y="1839"/>
                    <a:pt x="1232" y="1833"/>
                  </a:cubicBezTo>
                  <a:cubicBezTo>
                    <a:pt x="1236" y="1819"/>
                    <a:pt x="1237" y="1804"/>
                    <a:pt x="1237" y="1789"/>
                  </a:cubicBezTo>
                  <a:cubicBezTo>
                    <a:pt x="1237" y="1763"/>
                    <a:pt x="1232" y="1736"/>
                    <a:pt x="1219" y="1713"/>
                  </a:cubicBezTo>
                  <a:cubicBezTo>
                    <a:pt x="1208" y="1694"/>
                    <a:pt x="1189" y="1668"/>
                    <a:pt x="1165" y="1665"/>
                  </a:cubicBezTo>
                  <a:cubicBezTo>
                    <a:pt x="1156" y="1664"/>
                    <a:pt x="1145" y="1664"/>
                    <a:pt x="1136" y="1668"/>
                  </a:cubicBezTo>
                  <a:cubicBezTo>
                    <a:pt x="1123" y="1675"/>
                    <a:pt x="1110" y="1681"/>
                    <a:pt x="1096" y="1686"/>
                  </a:cubicBezTo>
                  <a:cubicBezTo>
                    <a:pt x="1088" y="1689"/>
                    <a:pt x="1078" y="1690"/>
                    <a:pt x="1071" y="1695"/>
                  </a:cubicBezTo>
                  <a:cubicBezTo>
                    <a:pt x="1065" y="1699"/>
                    <a:pt x="1059" y="1703"/>
                    <a:pt x="1054" y="1707"/>
                  </a:cubicBezTo>
                  <a:cubicBezTo>
                    <a:pt x="1040" y="1716"/>
                    <a:pt x="1027" y="1725"/>
                    <a:pt x="1014" y="1734"/>
                  </a:cubicBezTo>
                  <a:cubicBezTo>
                    <a:pt x="1008" y="1738"/>
                    <a:pt x="1002" y="1741"/>
                    <a:pt x="995" y="1742"/>
                  </a:cubicBezTo>
                  <a:cubicBezTo>
                    <a:pt x="993" y="1742"/>
                    <a:pt x="978" y="1743"/>
                    <a:pt x="978" y="1741"/>
                  </a:cubicBezTo>
                  <a:cubicBezTo>
                    <a:pt x="978" y="1739"/>
                    <a:pt x="977" y="1733"/>
                    <a:pt x="978" y="1731"/>
                  </a:cubicBezTo>
                  <a:cubicBezTo>
                    <a:pt x="1005" y="1727"/>
                    <a:pt x="1026" y="1711"/>
                    <a:pt x="1046" y="1693"/>
                  </a:cubicBezTo>
                  <a:cubicBezTo>
                    <a:pt x="1054" y="1685"/>
                    <a:pt x="1062" y="1676"/>
                    <a:pt x="1072" y="1670"/>
                  </a:cubicBezTo>
                  <a:cubicBezTo>
                    <a:pt x="1085" y="1663"/>
                    <a:pt x="1091" y="1657"/>
                    <a:pt x="1090" y="1641"/>
                  </a:cubicBezTo>
                  <a:cubicBezTo>
                    <a:pt x="1089" y="1630"/>
                    <a:pt x="1084" y="1622"/>
                    <a:pt x="1077" y="1614"/>
                  </a:cubicBezTo>
                  <a:cubicBezTo>
                    <a:pt x="1069" y="1604"/>
                    <a:pt x="1062" y="1594"/>
                    <a:pt x="1056" y="1582"/>
                  </a:cubicBezTo>
                  <a:cubicBezTo>
                    <a:pt x="1042" y="1554"/>
                    <a:pt x="1034" y="1521"/>
                    <a:pt x="1040" y="1489"/>
                  </a:cubicBezTo>
                  <a:cubicBezTo>
                    <a:pt x="1046" y="1461"/>
                    <a:pt x="1027" y="1430"/>
                    <a:pt x="1013" y="1407"/>
                  </a:cubicBezTo>
                  <a:cubicBezTo>
                    <a:pt x="1005" y="1394"/>
                    <a:pt x="997" y="1381"/>
                    <a:pt x="990" y="1367"/>
                  </a:cubicBezTo>
                  <a:cubicBezTo>
                    <a:pt x="980" y="1351"/>
                    <a:pt x="966" y="1336"/>
                    <a:pt x="949" y="1327"/>
                  </a:cubicBezTo>
                  <a:cubicBezTo>
                    <a:pt x="936" y="1320"/>
                    <a:pt x="920" y="1322"/>
                    <a:pt x="905" y="1319"/>
                  </a:cubicBezTo>
                  <a:cubicBezTo>
                    <a:pt x="898" y="1318"/>
                    <a:pt x="890" y="1316"/>
                    <a:pt x="882" y="1315"/>
                  </a:cubicBezTo>
                  <a:cubicBezTo>
                    <a:pt x="873" y="1313"/>
                    <a:pt x="869" y="1309"/>
                    <a:pt x="864" y="1301"/>
                  </a:cubicBezTo>
                  <a:cubicBezTo>
                    <a:pt x="850" y="1281"/>
                    <a:pt x="838" y="1255"/>
                    <a:pt x="811" y="1251"/>
                  </a:cubicBezTo>
                  <a:cubicBezTo>
                    <a:pt x="801" y="1249"/>
                    <a:pt x="790" y="1250"/>
                    <a:pt x="783" y="1258"/>
                  </a:cubicBezTo>
                  <a:cubicBezTo>
                    <a:pt x="773" y="1270"/>
                    <a:pt x="759" y="1280"/>
                    <a:pt x="748" y="1292"/>
                  </a:cubicBezTo>
                  <a:cubicBezTo>
                    <a:pt x="730" y="1313"/>
                    <a:pt x="716" y="1336"/>
                    <a:pt x="692" y="1352"/>
                  </a:cubicBezTo>
                  <a:cubicBezTo>
                    <a:pt x="669" y="1367"/>
                    <a:pt x="641" y="1373"/>
                    <a:pt x="613" y="1369"/>
                  </a:cubicBezTo>
                  <a:cubicBezTo>
                    <a:pt x="586" y="1374"/>
                    <a:pt x="551" y="1373"/>
                    <a:pt x="533" y="1397"/>
                  </a:cubicBezTo>
                  <a:cubicBezTo>
                    <a:pt x="517" y="1420"/>
                    <a:pt x="511" y="1451"/>
                    <a:pt x="501" y="1476"/>
                  </a:cubicBezTo>
                  <a:cubicBezTo>
                    <a:pt x="491" y="1501"/>
                    <a:pt x="478" y="1527"/>
                    <a:pt x="457" y="1544"/>
                  </a:cubicBezTo>
                  <a:cubicBezTo>
                    <a:pt x="447" y="1552"/>
                    <a:pt x="434" y="1562"/>
                    <a:pt x="422" y="1565"/>
                  </a:cubicBezTo>
                  <a:cubicBezTo>
                    <a:pt x="407" y="1568"/>
                    <a:pt x="389" y="1566"/>
                    <a:pt x="373" y="1567"/>
                  </a:cubicBezTo>
                  <a:cubicBezTo>
                    <a:pt x="321" y="1571"/>
                    <a:pt x="271" y="1587"/>
                    <a:pt x="229" y="1618"/>
                  </a:cubicBezTo>
                  <a:cubicBezTo>
                    <a:pt x="220" y="1624"/>
                    <a:pt x="211" y="1632"/>
                    <a:pt x="203" y="1639"/>
                  </a:cubicBezTo>
                  <a:cubicBezTo>
                    <a:pt x="199" y="1643"/>
                    <a:pt x="195" y="1647"/>
                    <a:pt x="191" y="1652"/>
                  </a:cubicBezTo>
                  <a:cubicBezTo>
                    <a:pt x="189" y="1660"/>
                    <a:pt x="188" y="1668"/>
                    <a:pt x="186" y="1677"/>
                  </a:cubicBezTo>
                  <a:cubicBezTo>
                    <a:pt x="183" y="1686"/>
                    <a:pt x="177" y="1697"/>
                    <a:pt x="168" y="1701"/>
                  </a:cubicBezTo>
                  <a:cubicBezTo>
                    <a:pt x="161" y="1704"/>
                    <a:pt x="153" y="1708"/>
                    <a:pt x="145" y="1705"/>
                  </a:cubicBezTo>
                  <a:cubicBezTo>
                    <a:pt x="140" y="1703"/>
                    <a:pt x="137" y="1697"/>
                    <a:pt x="131" y="1695"/>
                  </a:cubicBezTo>
                  <a:cubicBezTo>
                    <a:pt x="122" y="1690"/>
                    <a:pt x="105" y="1705"/>
                    <a:pt x="99" y="1690"/>
                  </a:cubicBezTo>
                  <a:cubicBezTo>
                    <a:pt x="95" y="1679"/>
                    <a:pt x="99" y="1664"/>
                    <a:pt x="109" y="1659"/>
                  </a:cubicBezTo>
                  <a:cubicBezTo>
                    <a:pt x="119" y="1655"/>
                    <a:pt x="123" y="1651"/>
                    <a:pt x="116" y="1642"/>
                  </a:cubicBezTo>
                  <a:cubicBezTo>
                    <a:pt x="110" y="1634"/>
                    <a:pt x="124" y="1612"/>
                    <a:pt x="132" y="1610"/>
                  </a:cubicBezTo>
                  <a:cubicBezTo>
                    <a:pt x="144" y="1607"/>
                    <a:pt x="160" y="1610"/>
                    <a:pt x="172" y="1610"/>
                  </a:cubicBezTo>
                  <a:cubicBezTo>
                    <a:pt x="181" y="1610"/>
                    <a:pt x="194" y="1596"/>
                    <a:pt x="200" y="1591"/>
                  </a:cubicBezTo>
                  <a:cubicBezTo>
                    <a:pt x="212" y="1581"/>
                    <a:pt x="223" y="1571"/>
                    <a:pt x="236" y="1564"/>
                  </a:cubicBezTo>
                  <a:cubicBezTo>
                    <a:pt x="273" y="1544"/>
                    <a:pt x="314" y="1539"/>
                    <a:pt x="355" y="1536"/>
                  </a:cubicBezTo>
                  <a:cubicBezTo>
                    <a:pt x="390" y="1534"/>
                    <a:pt x="447" y="1527"/>
                    <a:pt x="438" y="1479"/>
                  </a:cubicBezTo>
                  <a:cubicBezTo>
                    <a:pt x="423" y="1483"/>
                    <a:pt x="408" y="1483"/>
                    <a:pt x="394" y="1484"/>
                  </a:cubicBezTo>
                  <a:cubicBezTo>
                    <a:pt x="377" y="1484"/>
                    <a:pt x="359" y="1486"/>
                    <a:pt x="342" y="1484"/>
                  </a:cubicBezTo>
                  <a:cubicBezTo>
                    <a:pt x="327" y="1483"/>
                    <a:pt x="312" y="1480"/>
                    <a:pt x="298" y="1475"/>
                  </a:cubicBezTo>
                  <a:cubicBezTo>
                    <a:pt x="284" y="1470"/>
                    <a:pt x="273" y="1460"/>
                    <a:pt x="261" y="1454"/>
                  </a:cubicBezTo>
                  <a:cubicBezTo>
                    <a:pt x="233" y="1440"/>
                    <a:pt x="201" y="1432"/>
                    <a:pt x="170" y="1438"/>
                  </a:cubicBezTo>
                  <a:cubicBezTo>
                    <a:pt x="162" y="1439"/>
                    <a:pt x="154" y="1441"/>
                    <a:pt x="147" y="1445"/>
                  </a:cubicBezTo>
                  <a:cubicBezTo>
                    <a:pt x="142" y="1446"/>
                    <a:pt x="141" y="1444"/>
                    <a:pt x="142" y="1440"/>
                  </a:cubicBezTo>
                  <a:cubicBezTo>
                    <a:pt x="143" y="1434"/>
                    <a:pt x="145" y="1434"/>
                    <a:pt x="151" y="1432"/>
                  </a:cubicBezTo>
                  <a:cubicBezTo>
                    <a:pt x="158" y="1429"/>
                    <a:pt x="166" y="1427"/>
                    <a:pt x="173" y="1426"/>
                  </a:cubicBezTo>
                  <a:cubicBezTo>
                    <a:pt x="188" y="1423"/>
                    <a:pt x="203" y="1422"/>
                    <a:pt x="218" y="1422"/>
                  </a:cubicBezTo>
                  <a:cubicBezTo>
                    <a:pt x="234" y="1422"/>
                    <a:pt x="251" y="1435"/>
                    <a:pt x="266" y="1442"/>
                  </a:cubicBezTo>
                  <a:cubicBezTo>
                    <a:pt x="295" y="1457"/>
                    <a:pt x="324" y="1468"/>
                    <a:pt x="356" y="1455"/>
                  </a:cubicBezTo>
                  <a:cubicBezTo>
                    <a:pt x="367" y="1450"/>
                    <a:pt x="373" y="1443"/>
                    <a:pt x="383" y="1436"/>
                  </a:cubicBezTo>
                  <a:cubicBezTo>
                    <a:pt x="393" y="1428"/>
                    <a:pt x="414" y="1430"/>
                    <a:pt x="426" y="1430"/>
                  </a:cubicBezTo>
                  <a:cubicBezTo>
                    <a:pt x="434" y="1430"/>
                    <a:pt x="443" y="1430"/>
                    <a:pt x="451" y="1430"/>
                  </a:cubicBezTo>
                  <a:cubicBezTo>
                    <a:pt x="460" y="1430"/>
                    <a:pt x="464" y="1428"/>
                    <a:pt x="471" y="1423"/>
                  </a:cubicBezTo>
                  <a:cubicBezTo>
                    <a:pt x="482" y="1414"/>
                    <a:pt x="493" y="1403"/>
                    <a:pt x="501" y="1391"/>
                  </a:cubicBezTo>
                  <a:cubicBezTo>
                    <a:pt x="517" y="1368"/>
                    <a:pt x="522" y="1339"/>
                    <a:pt x="540" y="1319"/>
                  </a:cubicBezTo>
                  <a:cubicBezTo>
                    <a:pt x="547" y="1310"/>
                    <a:pt x="556" y="1303"/>
                    <a:pt x="567" y="1298"/>
                  </a:cubicBezTo>
                  <a:cubicBezTo>
                    <a:pt x="580" y="1293"/>
                    <a:pt x="594" y="1292"/>
                    <a:pt x="608" y="1289"/>
                  </a:cubicBezTo>
                  <a:cubicBezTo>
                    <a:pt x="634" y="1282"/>
                    <a:pt x="654" y="1264"/>
                    <a:pt x="670" y="1244"/>
                  </a:cubicBezTo>
                  <a:cubicBezTo>
                    <a:pt x="678" y="1233"/>
                    <a:pt x="683" y="1224"/>
                    <a:pt x="683" y="1210"/>
                  </a:cubicBezTo>
                  <a:cubicBezTo>
                    <a:pt x="682" y="1195"/>
                    <a:pt x="679" y="1179"/>
                    <a:pt x="675" y="1164"/>
                  </a:cubicBezTo>
                  <a:cubicBezTo>
                    <a:pt x="662" y="1114"/>
                    <a:pt x="630" y="1075"/>
                    <a:pt x="590" y="1043"/>
                  </a:cubicBezTo>
                  <a:cubicBezTo>
                    <a:pt x="580" y="1036"/>
                    <a:pt x="571" y="1027"/>
                    <a:pt x="557" y="1031"/>
                  </a:cubicBezTo>
                  <a:cubicBezTo>
                    <a:pt x="544" y="1034"/>
                    <a:pt x="532" y="1041"/>
                    <a:pt x="520" y="1047"/>
                  </a:cubicBezTo>
                  <a:cubicBezTo>
                    <a:pt x="494" y="1060"/>
                    <a:pt x="466" y="1067"/>
                    <a:pt x="438" y="1056"/>
                  </a:cubicBezTo>
                  <a:cubicBezTo>
                    <a:pt x="430" y="1052"/>
                    <a:pt x="422" y="1051"/>
                    <a:pt x="416" y="1045"/>
                  </a:cubicBezTo>
                  <a:cubicBezTo>
                    <a:pt x="410" y="1039"/>
                    <a:pt x="404" y="1033"/>
                    <a:pt x="397" y="1027"/>
                  </a:cubicBezTo>
                  <a:cubicBezTo>
                    <a:pt x="393" y="1023"/>
                    <a:pt x="389" y="1018"/>
                    <a:pt x="384" y="1014"/>
                  </a:cubicBezTo>
                  <a:cubicBezTo>
                    <a:pt x="376" y="1006"/>
                    <a:pt x="361" y="1007"/>
                    <a:pt x="351" y="1006"/>
                  </a:cubicBezTo>
                  <a:cubicBezTo>
                    <a:pt x="338" y="1006"/>
                    <a:pt x="322" y="1006"/>
                    <a:pt x="312" y="1015"/>
                  </a:cubicBezTo>
                  <a:cubicBezTo>
                    <a:pt x="301" y="1024"/>
                    <a:pt x="290" y="1033"/>
                    <a:pt x="277" y="1041"/>
                  </a:cubicBezTo>
                  <a:cubicBezTo>
                    <a:pt x="255" y="1054"/>
                    <a:pt x="218" y="1067"/>
                    <a:pt x="193" y="1053"/>
                  </a:cubicBezTo>
                  <a:cubicBezTo>
                    <a:pt x="169" y="1040"/>
                    <a:pt x="144" y="1026"/>
                    <a:pt x="120" y="1012"/>
                  </a:cubicBezTo>
                  <a:cubicBezTo>
                    <a:pt x="111" y="1007"/>
                    <a:pt x="102" y="1002"/>
                    <a:pt x="94" y="998"/>
                  </a:cubicBezTo>
                  <a:cubicBezTo>
                    <a:pt x="86" y="993"/>
                    <a:pt x="76" y="994"/>
                    <a:pt x="68" y="996"/>
                  </a:cubicBezTo>
                  <a:cubicBezTo>
                    <a:pt x="57" y="999"/>
                    <a:pt x="33" y="1009"/>
                    <a:pt x="21" y="1001"/>
                  </a:cubicBezTo>
                  <a:cubicBezTo>
                    <a:pt x="13" y="996"/>
                    <a:pt x="9" y="984"/>
                    <a:pt x="10" y="975"/>
                  </a:cubicBezTo>
                  <a:cubicBezTo>
                    <a:pt x="10" y="973"/>
                    <a:pt x="10" y="971"/>
                    <a:pt x="11" y="969"/>
                  </a:cubicBezTo>
                  <a:cubicBezTo>
                    <a:pt x="13" y="965"/>
                    <a:pt x="12" y="964"/>
                    <a:pt x="9" y="960"/>
                  </a:cubicBezTo>
                  <a:cubicBezTo>
                    <a:pt x="7" y="955"/>
                    <a:pt x="4" y="950"/>
                    <a:pt x="2" y="945"/>
                  </a:cubicBezTo>
                  <a:cubicBezTo>
                    <a:pt x="0" y="937"/>
                    <a:pt x="2" y="928"/>
                    <a:pt x="8" y="923"/>
                  </a:cubicBezTo>
                  <a:cubicBezTo>
                    <a:pt x="15" y="915"/>
                    <a:pt x="24" y="923"/>
                    <a:pt x="31" y="927"/>
                  </a:cubicBezTo>
                  <a:cubicBezTo>
                    <a:pt x="27" y="912"/>
                    <a:pt x="42" y="907"/>
                    <a:pt x="54" y="911"/>
                  </a:cubicBezTo>
                  <a:cubicBezTo>
                    <a:pt x="67" y="916"/>
                    <a:pt x="74" y="932"/>
                    <a:pt x="82" y="942"/>
                  </a:cubicBezTo>
                  <a:cubicBezTo>
                    <a:pt x="101" y="965"/>
                    <a:pt x="124" y="985"/>
                    <a:pt x="150" y="999"/>
                  </a:cubicBezTo>
                  <a:cubicBezTo>
                    <a:pt x="174" y="1012"/>
                    <a:pt x="200" y="1018"/>
                    <a:pt x="228" y="1013"/>
                  </a:cubicBezTo>
                  <a:cubicBezTo>
                    <a:pt x="253" y="1009"/>
                    <a:pt x="270" y="995"/>
                    <a:pt x="270" y="969"/>
                  </a:cubicBezTo>
                  <a:cubicBezTo>
                    <a:pt x="270" y="943"/>
                    <a:pt x="255" y="923"/>
                    <a:pt x="246" y="901"/>
                  </a:cubicBezTo>
                  <a:cubicBezTo>
                    <a:pt x="235" y="875"/>
                    <a:pt x="229" y="848"/>
                    <a:pt x="228" y="819"/>
                  </a:cubicBezTo>
                  <a:cubicBezTo>
                    <a:pt x="228" y="789"/>
                    <a:pt x="223" y="763"/>
                    <a:pt x="205" y="738"/>
                  </a:cubicBezTo>
                  <a:cubicBezTo>
                    <a:pt x="188" y="714"/>
                    <a:pt x="176" y="692"/>
                    <a:pt x="172" y="663"/>
                  </a:cubicBezTo>
                  <a:cubicBezTo>
                    <a:pt x="172" y="657"/>
                    <a:pt x="167" y="628"/>
                    <a:pt x="181" y="631"/>
                  </a:cubicBezTo>
                  <a:cubicBezTo>
                    <a:pt x="185" y="632"/>
                    <a:pt x="183" y="639"/>
                    <a:pt x="183" y="642"/>
                  </a:cubicBezTo>
                  <a:cubicBezTo>
                    <a:pt x="183" y="650"/>
                    <a:pt x="184" y="659"/>
                    <a:pt x="185" y="667"/>
                  </a:cubicBezTo>
                  <a:cubicBezTo>
                    <a:pt x="189" y="692"/>
                    <a:pt x="201" y="714"/>
                    <a:pt x="217" y="733"/>
                  </a:cubicBezTo>
                  <a:cubicBezTo>
                    <a:pt x="223" y="742"/>
                    <a:pt x="231" y="750"/>
                    <a:pt x="238" y="758"/>
                  </a:cubicBezTo>
                  <a:cubicBezTo>
                    <a:pt x="247" y="770"/>
                    <a:pt x="251" y="782"/>
                    <a:pt x="254" y="796"/>
                  </a:cubicBezTo>
                  <a:cubicBezTo>
                    <a:pt x="260" y="825"/>
                    <a:pt x="258" y="854"/>
                    <a:pt x="265" y="882"/>
                  </a:cubicBezTo>
                  <a:cubicBezTo>
                    <a:pt x="275" y="925"/>
                    <a:pt x="310" y="965"/>
                    <a:pt x="357" y="966"/>
                  </a:cubicBezTo>
                  <a:cubicBezTo>
                    <a:pt x="371" y="966"/>
                    <a:pt x="384" y="966"/>
                    <a:pt x="398" y="966"/>
                  </a:cubicBezTo>
                  <a:cubicBezTo>
                    <a:pt x="409" y="966"/>
                    <a:pt x="421" y="974"/>
                    <a:pt x="432" y="976"/>
                  </a:cubicBezTo>
                  <a:cubicBezTo>
                    <a:pt x="440" y="978"/>
                    <a:pt x="446" y="979"/>
                    <a:pt x="454" y="976"/>
                  </a:cubicBezTo>
                  <a:cubicBezTo>
                    <a:pt x="461" y="973"/>
                    <a:pt x="467" y="969"/>
                    <a:pt x="473" y="964"/>
                  </a:cubicBezTo>
                  <a:cubicBezTo>
                    <a:pt x="483" y="957"/>
                    <a:pt x="489" y="945"/>
                    <a:pt x="496" y="935"/>
                  </a:cubicBezTo>
                  <a:cubicBezTo>
                    <a:pt x="503" y="922"/>
                    <a:pt x="509" y="909"/>
                    <a:pt x="511" y="894"/>
                  </a:cubicBezTo>
                  <a:cubicBezTo>
                    <a:pt x="515" y="866"/>
                    <a:pt x="508" y="835"/>
                    <a:pt x="495" y="811"/>
                  </a:cubicBezTo>
                  <a:cubicBezTo>
                    <a:pt x="484" y="788"/>
                    <a:pt x="467" y="768"/>
                    <a:pt x="448" y="751"/>
                  </a:cubicBezTo>
                  <a:cubicBezTo>
                    <a:pt x="434" y="739"/>
                    <a:pt x="433" y="727"/>
                    <a:pt x="429" y="710"/>
                  </a:cubicBezTo>
                  <a:cubicBezTo>
                    <a:pt x="423" y="685"/>
                    <a:pt x="427" y="657"/>
                    <a:pt x="425" y="632"/>
                  </a:cubicBezTo>
                  <a:cubicBezTo>
                    <a:pt x="423" y="599"/>
                    <a:pt x="417" y="570"/>
                    <a:pt x="398" y="544"/>
                  </a:cubicBezTo>
                  <a:cubicBezTo>
                    <a:pt x="360" y="493"/>
                    <a:pt x="304" y="463"/>
                    <a:pt x="258" y="421"/>
                  </a:cubicBezTo>
                  <a:cubicBezTo>
                    <a:pt x="239" y="405"/>
                    <a:pt x="224" y="385"/>
                    <a:pt x="206" y="368"/>
                  </a:cubicBezTo>
                  <a:cubicBezTo>
                    <a:pt x="188" y="350"/>
                    <a:pt x="167" y="342"/>
                    <a:pt x="141" y="342"/>
                  </a:cubicBezTo>
                  <a:cubicBezTo>
                    <a:pt x="117" y="342"/>
                    <a:pt x="91" y="331"/>
                    <a:pt x="68" y="323"/>
                  </a:cubicBezTo>
                  <a:cubicBezTo>
                    <a:pt x="52" y="316"/>
                    <a:pt x="23" y="307"/>
                    <a:pt x="20" y="287"/>
                  </a:cubicBezTo>
                  <a:cubicBezTo>
                    <a:pt x="18" y="275"/>
                    <a:pt x="33" y="290"/>
                    <a:pt x="37" y="293"/>
                  </a:cubicBezTo>
                  <a:cubicBezTo>
                    <a:pt x="46" y="300"/>
                    <a:pt x="55" y="305"/>
                    <a:pt x="66" y="309"/>
                  </a:cubicBezTo>
                  <a:cubicBezTo>
                    <a:pt x="88" y="317"/>
                    <a:pt x="112" y="313"/>
                    <a:pt x="135" y="314"/>
                  </a:cubicBezTo>
                  <a:cubicBezTo>
                    <a:pt x="148" y="314"/>
                    <a:pt x="160" y="314"/>
                    <a:pt x="172" y="316"/>
                  </a:cubicBezTo>
                  <a:cubicBezTo>
                    <a:pt x="183" y="317"/>
                    <a:pt x="194" y="324"/>
                    <a:pt x="203" y="330"/>
                  </a:cubicBezTo>
                  <a:cubicBezTo>
                    <a:pt x="225" y="342"/>
                    <a:pt x="245" y="358"/>
                    <a:pt x="262" y="377"/>
                  </a:cubicBezTo>
                  <a:cubicBezTo>
                    <a:pt x="252" y="344"/>
                    <a:pt x="247" y="311"/>
                    <a:pt x="242" y="277"/>
                  </a:cubicBezTo>
                  <a:cubicBezTo>
                    <a:pt x="240" y="270"/>
                    <a:pt x="239" y="262"/>
                    <a:pt x="237" y="255"/>
                  </a:cubicBezTo>
                  <a:cubicBezTo>
                    <a:pt x="236" y="246"/>
                    <a:pt x="234" y="243"/>
                    <a:pt x="227" y="237"/>
                  </a:cubicBezTo>
                  <a:cubicBezTo>
                    <a:pt x="215" y="226"/>
                    <a:pt x="203" y="216"/>
                    <a:pt x="191" y="205"/>
                  </a:cubicBezTo>
                  <a:cubicBezTo>
                    <a:pt x="184" y="200"/>
                    <a:pt x="178" y="195"/>
                    <a:pt x="172" y="190"/>
                  </a:cubicBezTo>
                  <a:cubicBezTo>
                    <a:pt x="167" y="185"/>
                    <a:pt x="161" y="177"/>
                    <a:pt x="155" y="175"/>
                  </a:cubicBezTo>
                  <a:cubicBezTo>
                    <a:pt x="144" y="170"/>
                    <a:pt x="131" y="169"/>
                    <a:pt x="119" y="165"/>
                  </a:cubicBezTo>
                  <a:cubicBezTo>
                    <a:pt x="109" y="162"/>
                    <a:pt x="97" y="155"/>
                    <a:pt x="98" y="143"/>
                  </a:cubicBezTo>
                  <a:cubicBezTo>
                    <a:pt x="99" y="138"/>
                    <a:pt x="101" y="132"/>
                    <a:pt x="103" y="127"/>
                  </a:cubicBezTo>
                  <a:cubicBezTo>
                    <a:pt x="107" y="121"/>
                    <a:pt x="115" y="121"/>
                    <a:pt x="121" y="118"/>
                  </a:cubicBezTo>
                  <a:cubicBezTo>
                    <a:pt x="125" y="116"/>
                    <a:pt x="128" y="116"/>
                    <a:pt x="126" y="112"/>
                  </a:cubicBezTo>
                  <a:cubicBezTo>
                    <a:pt x="125" y="109"/>
                    <a:pt x="124" y="106"/>
                    <a:pt x="124" y="103"/>
                  </a:cubicBezTo>
                  <a:cubicBezTo>
                    <a:pt x="123" y="97"/>
                    <a:pt x="124" y="91"/>
                    <a:pt x="127" y="85"/>
                  </a:cubicBezTo>
                  <a:cubicBezTo>
                    <a:pt x="129" y="81"/>
                    <a:pt x="135" y="74"/>
                    <a:pt x="140" y="75"/>
                  </a:cubicBezTo>
                  <a:cubicBezTo>
                    <a:pt x="146" y="77"/>
                    <a:pt x="151" y="84"/>
                    <a:pt x="156" y="87"/>
                  </a:cubicBezTo>
                  <a:cubicBezTo>
                    <a:pt x="166" y="97"/>
                    <a:pt x="177" y="92"/>
                    <a:pt x="189" y="93"/>
                  </a:cubicBezTo>
                  <a:cubicBezTo>
                    <a:pt x="196" y="94"/>
                    <a:pt x="202" y="96"/>
                    <a:pt x="203" y="103"/>
                  </a:cubicBezTo>
                  <a:cubicBezTo>
                    <a:pt x="205" y="111"/>
                    <a:pt x="205" y="120"/>
                    <a:pt x="206" y="129"/>
                  </a:cubicBezTo>
                  <a:cubicBezTo>
                    <a:pt x="208" y="143"/>
                    <a:pt x="208" y="161"/>
                    <a:pt x="219" y="172"/>
                  </a:cubicBezTo>
                  <a:cubicBezTo>
                    <a:pt x="230" y="184"/>
                    <a:pt x="243" y="195"/>
                    <a:pt x="255" y="208"/>
                  </a:cubicBezTo>
                  <a:cubicBezTo>
                    <a:pt x="261" y="215"/>
                    <a:pt x="274" y="225"/>
                    <a:pt x="274" y="236"/>
                  </a:cubicBezTo>
                  <a:cubicBezTo>
                    <a:pt x="274" y="253"/>
                    <a:pt x="274" y="270"/>
                    <a:pt x="274" y="287"/>
                  </a:cubicBezTo>
                  <a:cubicBezTo>
                    <a:pt x="274" y="300"/>
                    <a:pt x="273" y="318"/>
                    <a:pt x="279" y="330"/>
                  </a:cubicBezTo>
                  <a:cubicBezTo>
                    <a:pt x="287" y="344"/>
                    <a:pt x="292" y="360"/>
                    <a:pt x="295" y="375"/>
                  </a:cubicBezTo>
                  <a:cubicBezTo>
                    <a:pt x="298" y="389"/>
                    <a:pt x="298" y="404"/>
                    <a:pt x="306" y="416"/>
                  </a:cubicBezTo>
                  <a:cubicBezTo>
                    <a:pt x="314" y="427"/>
                    <a:pt x="324" y="437"/>
                    <a:pt x="335" y="444"/>
                  </a:cubicBezTo>
                  <a:cubicBezTo>
                    <a:pt x="345" y="451"/>
                    <a:pt x="356" y="457"/>
                    <a:pt x="368" y="461"/>
                  </a:cubicBezTo>
                  <a:cubicBezTo>
                    <a:pt x="374" y="463"/>
                    <a:pt x="381" y="464"/>
                    <a:pt x="387" y="466"/>
                  </a:cubicBezTo>
                  <a:cubicBezTo>
                    <a:pt x="396" y="467"/>
                    <a:pt x="404" y="472"/>
                    <a:pt x="413" y="476"/>
                  </a:cubicBezTo>
                  <a:cubicBezTo>
                    <a:pt x="442" y="488"/>
                    <a:pt x="471" y="499"/>
                    <a:pt x="503" y="498"/>
                  </a:cubicBezTo>
                  <a:cubicBezTo>
                    <a:pt x="518" y="498"/>
                    <a:pt x="532" y="488"/>
                    <a:pt x="544" y="480"/>
                  </a:cubicBezTo>
                  <a:cubicBezTo>
                    <a:pt x="558" y="471"/>
                    <a:pt x="571" y="461"/>
                    <a:pt x="584" y="451"/>
                  </a:cubicBezTo>
                  <a:cubicBezTo>
                    <a:pt x="609" y="433"/>
                    <a:pt x="634" y="417"/>
                    <a:pt x="666" y="416"/>
                  </a:cubicBezTo>
                  <a:cubicBezTo>
                    <a:pt x="700" y="414"/>
                    <a:pt x="736" y="419"/>
                    <a:pt x="768" y="427"/>
                  </a:cubicBezTo>
                  <a:cubicBezTo>
                    <a:pt x="792" y="412"/>
                    <a:pt x="818" y="401"/>
                    <a:pt x="845" y="394"/>
                  </a:cubicBezTo>
                  <a:cubicBezTo>
                    <a:pt x="867" y="387"/>
                    <a:pt x="891" y="384"/>
                    <a:pt x="914" y="382"/>
                  </a:cubicBezTo>
                  <a:cubicBezTo>
                    <a:pt x="937" y="381"/>
                    <a:pt x="962" y="382"/>
                    <a:pt x="984" y="373"/>
                  </a:cubicBezTo>
                  <a:cubicBezTo>
                    <a:pt x="993" y="370"/>
                    <a:pt x="1001" y="364"/>
                    <a:pt x="1007" y="356"/>
                  </a:cubicBezTo>
                  <a:cubicBezTo>
                    <a:pt x="1015" y="345"/>
                    <a:pt x="1013" y="335"/>
                    <a:pt x="1013" y="322"/>
                  </a:cubicBezTo>
                  <a:cubicBezTo>
                    <a:pt x="1013" y="300"/>
                    <a:pt x="1020" y="279"/>
                    <a:pt x="1028" y="259"/>
                  </a:cubicBezTo>
                  <a:cubicBezTo>
                    <a:pt x="1036" y="237"/>
                    <a:pt x="1042" y="214"/>
                    <a:pt x="1043" y="191"/>
                  </a:cubicBezTo>
                  <a:cubicBezTo>
                    <a:pt x="1044" y="164"/>
                    <a:pt x="1035" y="139"/>
                    <a:pt x="1037" y="112"/>
                  </a:cubicBezTo>
                  <a:cubicBezTo>
                    <a:pt x="1037" y="102"/>
                    <a:pt x="1046" y="91"/>
                    <a:pt x="1050" y="82"/>
                  </a:cubicBezTo>
                  <a:cubicBezTo>
                    <a:pt x="1055" y="70"/>
                    <a:pt x="1060" y="59"/>
                    <a:pt x="1066" y="48"/>
                  </a:cubicBezTo>
                  <a:cubicBezTo>
                    <a:pt x="1069" y="43"/>
                    <a:pt x="1067" y="33"/>
                    <a:pt x="1066" y="28"/>
                  </a:cubicBezTo>
                  <a:cubicBezTo>
                    <a:pt x="1065" y="21"/>
                    <a:pt x="1058" y="17"/>
                    <a:pt x="1055" y="11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78" name="Freeform 66"/>
            <p:cNvSpPr/>
            <p:nvPr/>
          </p:nvSpPr>
          <p:spPr bwMode="auto">
            <a:xfrm>
              <a:off x="4085" y="2351"/>
              <a:ext cx="474" cy="724"/>
            </a:xfrm>
            <a:custGeom>
              <a:avLst/>
              <a:gdLst>
                <a:gd name="T0" fmla="*/ 277 w 450"/>
                <a:gd name="T1" fmla="*/ 66 h 687"/>
                <a:gd name="T2" fmla="*/ 59 w 450"/>
                <a:gd name="T3" fmla="*/ 100 h 687"/>
                <a:gd name="T4" fmla="*/ 87 w 450"/>
                <a:gd name="T5" fmla="*/ 387 h 687"/>
                <a:gd name="T6" fmla="*/ 122 w 450"/>
                <a:gd name="T7" fmla="*/ 523 h 687"/>
                <a:gd name="T8" fmla="*/ 190 w 450"/>
                <a:gd name="T9" fmla="*/ 645 h 687"/>
                <a:gd name="T10" fmla="*/ 395 w 450"/>
                <a:gd name="T11" fmla="*/ 798 h 687"/>
                <a:gd name="T12" fmla="*/ 452 w 450"/>
                <a:gd name="T13" fmla="*/ 722 h 687"/>
                <a:gd name="T14" fmla="*/ 421 w 450"/>
                <a:gd name="T15" fmla="*/ 565 h 687"/>
                <a:gd name="T16" fmla="*/ 480 w 450"/>
                <a:gd name="T17" fmla="*/ 445 h 687"/>
                <a:gd name="T18" fmla="*/ 521 w 450"/>
                <a:gd name="T19" fmla="*/ 306 h 687"/>
                <a:gd name="T20" fmla="*/ 362 w 450"/>
                <a:gd name="T21" fmla="*/ 89 h 687"/>
                <a:gd name="T22" fmla="*/ 283 w 450"/>
                <a:gd name="T23" fmla="*/ 64 h 68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450" h="687">
                  <a:moveTo>
                    <a:pt x="237" y="57"/>
                  </a:moveTo>
                  <a:cubicBezTo>
                    <a:pt x="196" y="0"/>
                    <a:pt x="81" y="36"/>
                    <a:pt x="50" y="85"/>
                  </a:cubicBezTo>
                  <a:cubicBezTo>
                    <a:pt x="0" y="165"/>
                    <a:pt x="50" y="251"/>
                    <a:pt x="75" y="330"/>
                  </a:cubicBezTo>
                  <a:cubicBezTo>
                    <a:pt x="88" y="368"/>
                    <a:pt x="88" y="409"/>
                    <a:pt x="104" y="447"/>
                  </a:cubicBezTo>
                  <a:cubicBezTo>
                    <a:pt x="119" y="485"/>
                    <a:pt x="137" y="519"/>
                    <a:pt x="162" y="551"/>
                  </a:cubicBezTo>
                  <a:cubicBezTo>
                    <a:pt x="211" y="612"/>
                    <a:pt x="245" y="687"/>
                    <a:pt x="338" y="681"/>
                  </a:cubicBezTo>
                  <a:cubicBezTo>
                    <a:pt x="370" y="678"/>
                    <a:pt x="386" y="648"/>
                    <a:pt x="386" y="617"/>
                  </a:cubicBezTo>
                  <a:cubicBezTo>
                    <a:pt x="385" y="568"/>
                    <a:pt x="349" y="536"/>
                    <a:pt x="361" y="483"/>
                  </a:cubicBezTo>
                  <a:cubicBezTo>
                    <a:pt x="371" y="445"/>
                    <a:pt x="392" y="414"/>
                    <a:pt x="411" y="380"/>
                  </a:cubicBezTo>
                  <a:cubicBezTo>
                    <a:pt x="434" y="339"/>
                    <a:pt x="443" y="308"/>
                    <a:pt x="446" y="261"/>
                  </a:cubicBezTo>
                  <a:cubicBezTo>
                    <a:pt x="450" y="175"/>
                    <a:pt x="398" y="92"/>
                    <a:pt x="310" y="76"/>
                  </a:cubicBezTo>
                  <a:cubicBezTo>
                    <a:pt x="286" y="71"/>
                    <a:pt x="263" y="58"/>
                    <a:pt x="242" y="55"/>
                  </a:cubicBezTo>
                </a:path>
              </a:pathLst>
            </a:custGeom>
            <a:solidFill>
              <a:srgbClr val="A9CC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79" name="Freeform 67"/>
            <p:cNvSpPr/>
            <p:nvPr/>
          </p:nvSpPr>
          <p:spPr bwMode="auto">
            <a:xfrm>
              <a:off x="4505" y="2620"/>
              <a:ext cx="248" cy="683"/>
            </a:xfrm>
            <a:custGeom>
              <a:avLst/>
              <a:gdLst>
                <a:gd name="T0" fmla="*/ 103 w 235"/>
                <a:gd name="T1" fmla="*/ 0 h 649"/>
                <a:gd name="T2" fmla="*/ 80 w 235"/>
                <a:gd name="T3" fmla="*/ 139 h 649"/>
                <a:gd name="T4" fmla="*/ 20 w 235"/>
                <a:gd name="T5" fmla="*/ 309 h 649"/>
                <a:gd name="T6" fmla="*/ 68 w 235"/>
                <a:gd name="T7" fmla="*/ 495 h 649"/>
                <a:gd name="T8" fmla="*/ 52 w 235"/>
                <a:gd name="T9" fmla="*/ 678 h 649"/>
                <a:gd name="T10" fmla="*/ 177 w 235"/>
                <a:gd name="T11" fmla="*/ 664 h 649"/>
                <a:gd name="T12" fmla="*/ 198 w 235"/>
                <a:gd name="T13" fmla="*/ 524 h 649"/>
                <a:gd name="T14" fmla="*/ 243 w 235"/>
                <a:gd name="T15" fmla="*/ 405 h 649"/>
                <a:gd name="T16" fmla="*/ 245 w 235"/>
                <a:gd name="T17" fmla="*/ 215 h 649"/>
                <a:gd name="T18" fmla="*/ 135 w 235"/>
                <a:gd name="T19" fmla="*/ 21 h 64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35" h="649">
                  <a:moveTo>
                    <a:pt x="88" y="0"/>
                  </a:moveTo>
                  <a:cubicBezTo>
                    <a:pt x="75" y="38"/>
                    <a:pt x="86" y="78"/>
                    <a:pt x="68" y="119"/>
                  </a:cubicBezTo>
                  <a:cubicBezTo>
                    <a:pt x="45" y="167"/>
                    <a:pt x="0" y="210"/>
                    <a:pt x="17" y="265"/>
                  </a:cubicBezTo>
                  <a:cubicBezTo>
                    <a:pt x="34" y="320"/>
                    <a:pt x="67" y="363"/>
                    <a:pt x="58" y="425"/>
                  </a:cubicBezTo>
                  <a:cubicBezTo>
                    <a:pt x="51" y="477"/>
                    <a:pt x="22" y="529"/>
                    <a:pt x="44" y="582"/>
                  </a:cubicBezTo>
                  <a:cubicBezTo>
                    <a:pt x="72" y="649"/>
                    <a:pt x="130" y="634"/>
                    <a:pt x="151" y="570"/>
                  </a:cubicBezTo>
                  <a:cubicBezTo>
                    <a:pt x="164" y="532"/>
                    <a:pt x="159" y="488"/>
                    <a:pt x="169" y="449"/>
                  </a:cubicBezTo>
                  <a:cubicBezTo>
                    <a:pt x="178" y="414"/>
                    <a:pt x="196" y="383"/>
                    <a:pt x="207" y="348"/>
                  </a:cubicBezTo>
                  <a:cubicBezTo>
                    <a:pt x="225" y="292"/>
                    <a:pt x="235" y="239"/>
                    <a:pt x="208" y="184"/>
                  </a:cubicBezTo>
                  <a:cubicBezTo>
                    <a:pt x="182" y="130"/>
                    <a:pt x="154" y="62"/>
                    <a:pt x="115" y="18"/>
                  </a:cubicBezTo>
                </a:path>
              </a:pathLst>
            </a:custGeom>
            <a:solidFill>
              <a:srgbClr val="AFCF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80" name="Freeform 68"/>
            <p:cNvSpPr/>
            <p:nvPr/>
          </p:nvSpPr>
          <p:spPr bwMode="auto">
            <a:xfrm>
              <a:off x="4154" y="2461"/>
              <a:ext cx="357" cy="474"/>
            </a:xfrm>
            <a:custGeom>
              <a:avLst/>
              <a:gdLst>
                <a:gd name="T0" fmla="*/ 97 w 339"/>
                <a:gd name="T1" fmla="*/ 6 h 450"/>
                <a:gd name="T2" fmla="*/ 197 w 339"/>
                <a:gd name="T3" fmla="*/ 22 h 450"/>
                <a:gd name="T4" fmla="*/ 233 w 339"/>
                <a:gd name="T5" fmla="*/ 50 h 450"/>
                <a:gd name="T6" fmla="*/ 276 w 339"/>
                <a:gd name="T7" fmla="*/ 87 h 450"/>
                <a:gd name="T8" fmla="*/ 346 w 339"/>
                <a:gd name="T9" fmla="*/ 163 h 450"/>
                <a:gd name="T10" fmla="*/ 378 w 339"/>
                <a:gd name="T11" fmla="*/ 243 h 450"/>
                <a:gd name="T12" fmla="*/ 369 w 339"/>
                <a:gd name="T13" fmla="*/ 429 h 450"/>
                <a:gd name="T14" fmla="*/ 196 w 339"/>
                <a:gd name="T15" fmla="*/ 522 h 450"/>
                <a:gd name="T16" fmla="*/ 29 w 339"/>
                <a:gd name="T17" fmla="*/ 316 h 450"/>
                <a:gd name="T18" fmla="*/ 9 w 339"/>
                <a:gd name="T19" fmla="*/ 124 h 450"/>
                <a:gd name="T20" fmla="*/ 20 w 339"/>
                <a:gd name="T21" fmla="*/ 83 h 450"/>
                <a:gd name="T22" fmla="*/ 26 w 339"/>
                <a:gd name="T23" fmla="*/ 63 h 450"/>
                <a:gd name="T24" fmla="*/ 40 w 339"/>
                <a:gd name="T25" fmla="*/ 45 h 450"/>
                <a:gd name="T26" fmla="*/ 97 w 339"/>
                <a:gd name="T27" fmla="*/ 6 h 45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339" h="450">
                  <a:moveTo>
                    <a:pt x="83" y="6"/>
                  </a:moveTo>
                  <a:cubicBezTo>
                    <a:pt x="112" y="0"/>
                    <a:pt x="143" y="4"/>
                    <a:pt x="169" y="19"/>
                  </a:cubicBezTo>
                  <a:cubicBezTo>
                    <a:pt x="180" y="25"/>
                    <a:pt x="189" y="35"/>
                    <a:pt x="199" y="43"/>
                  </a:cubicBezTo>
                  <a:cubicBezTo>
                    <a:pt x="211" y="54"/>
                    <a:pt x="224" y="64"/>
                    <a:pt x="236" y="75"/>
                  </a:cubicBezTo>
                  <a:cubicBezTo>
                    <a:pt x="258" y="94"/>
                    <a:pt x="281" y="114"/>
                    <a:pt x="296" y="140"/>
                  </a:cubicBezTo>
                  <a:cubicBezTo>
                    <a:pt x="309" y="161"/>
                    <a:pt x="318" y="184"/>
                    <a:pt x="324" y="208"/>
                  </a:cubicBezTo>
                  <a:cubicBezTo>
                    <a:pt x="337" y="259"/>
                    <a:pt x="339" y="318"/>
                    <a:pt x="315" y="366"/>
                  </a:cubicBezTo>
                  <a:cubicBezTo>
                    <a:pt x="288" y="420"/>
                    <a:pt x="228" y="450"/>
                    <a:pt x="168" y="447"/>
                  </a:cubicBezTo>
                  <a:cubicBezTo>
                    <a:pt x="75" y="443"/>
                    <a:pt x="47" y="347"/>
                    <a:pt x="26" y="271"/>
                  </a:cubicBezTo>
                  <a:cubicBezTo>
                    <a:pt x="11" y="218"/>
                    <a:pt x="0" y="161"/>
                    <a:pt x="9" y="106"/>
                  </a:cubicBezTo>
                  <a:cubicBezTo>
                    <a:pt x="11" y="94"/>
                    <a:pt x="14" y="83"/>
                    <a:pt x="17" y="71"/>
                  </a:cubicBezTo>
                  <a:cubicBezTo>
                    <a:pt x="19" y="65"/>
                    <a:pt x="21" y="60"/>
                    <a:pt x="23" y="54"/>
                  </a:cubicBezTo>
                  <a:cubicBezTo>
                    <a:pt x="25" y="49"/>
                    <a:pt x="31" y="44"/>
                    <a:pt x="34" y="39"/>
                  </a:cubicBezTo>
                  <a:cubicBezTo>
                    <a:pt x="48" y="21"/>
                    <a:pt x="61" y="10"/>
                    <a:pt x="83" y="6"/>
                  </a:cubicBezTo>
                </a:path>
              </a:pathLst>
            </a:custGeom>
            <a:solidFill>
              <a:srgbClr val="98C5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81" name="Freeform 69"/>
            <p:cNvSpPr/>
            <p:nvPr/>
          </p:nvSpPr>
          <p:spPr bwMode="auto">
            <a:xfrm>
              <a:off x="4129" y="2453"/>
              <a:ext cx="357" cy="474"/>
            </a:xfrm>
            <a:custGeom>
              <a:avLst/>
              <a:gdLst>
                <a:gd name="T0" fmla="*/ 97 w 339"/>
                <a:gd name="T1" fmla="*/ 5 h 450"/>
                <a:gd name="T2" fmla="*/ 197 w 339"/>
                <a:gd name="T3" fmla="*/ 21 h 450"/>
                <a:gd name="T4" fmla="*/ 233 w 339"/>
                <a:gd name="T5" fmla="*/ 50 h 450"/>
                <a:gd name="T6" fmla="*/ 276 w 339"/>
                <a:gd name="T7" fmla="*/ 86 h 450"/>
                <a:gd name="T8" fmla="*/ 346 w 339"/>
                <a:gd name="T9" fmla="*/ 162 h 450"/>
                <a:gd name="T10" fmla="*/ 378 w 339"/>
                <a:gd name="T11" fmla="*/ 242 h 450"/>
                <a:gd name="T12" fmla="*/ 369 w 339"/>
                <a:gd name="T13" fmla="*/ 426 h 450"/>
                <a:gd name="T14" fmla="*/ 196 w 339"/>
                <a:gd name="T15" fmla="*/ 522 h 450"/>
                <a:gd name="T16" fmla="*/ 28 w 339"/>
                <a:gd name="T17" fmla="*/ 316 h 450"/>
                <a:gd name="T18" fmla="*/ 9 w 339"/>
                <a:gd name="T19" fmla="*/ 123 h 450"/>
                <a:gd name="T20" fmla="*/ 20 w 339"/>
                <a:gd name="T21" fmla="*/ 82 h 450"/>
                <a:gd name="T22" fmla="*/ 26 w 339"/>
                <a:gd name="T23" fmla="*/ 63 h 450"/>
                <a:gd name="T24" fmla="*/ 40 w 339"/>
                <a:gd name="T25" fmla="*/ 44 h 450"/>
                <a:gd name="T26" fmla="*/ 97 w 339"/>
                <a:gd name="T27" fmla="*/ 5 h 45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339" h="450">
                  <a:moveTo>
                    <a:pt x="83" y="5"/>
                  </a:moveTo>
                  <a:cubicBezTo>
                    <a:pt x="112" y="0"/>
                    <a:pt x="143" y="3"/>
                    <a:pt x="169" y="18"/>
                  </a:cubicBezTo>
                  <a:cubicBezTo>
                    <a:pt x="180" y="25"/>
                    <a:pt x="189" y="34"/>
                    <a:pt x="199" y="43"/>
                  </a:cubicBezTo>
                  <a:cubicBezTo>
                    <a:pt x="211" y="53"/>
                    <a:pt x="224" y="64"/>
                    <a:pt x="236" y="74"/>
                  </a:cubicBezTo>
                  <a:cubicBezTo>
                    <a:pt x="258" y="93"/>
                    <a:pt x="281" y="114"/>
                    <a:pt x="296" y="139"/>
                  </a:cubicBezTo>
                  <a:cubicBezTo>
                    <a:pt x="309" y="160"/>
                    <a:pt x="318" y="183"/>
                    <a:pt x="324" y="207"/>
                  </a:cubicBezTo>
                  <a:cubicBezTo>
                    <a:pt x="337" y="258"/>
                    <a:pt x="339" y="317"/>
                    <a:pt x="315" y="365"/>
                  </a:cubicBezTo>
                  <a:cubicBezTo>
                    <a:pt x="287" y="420"/>
                    <a:pt x="228" y="450"/>
                    <a:pt x="168" y="447"/>
                  </a:cubicBezTo>
                  <a:cubicBezTo>
                    <a:pt x="75" y="442"/>
                    <a:pt x="46" y="346"/>
                    <a:pt x="25" y="271"/>
                  </a:cubicBezTo>
                  <a:cubicBezTo>
                    <a:pt x="11" y="217"/>
                    <a:pt x="0" y="161"/>
                    <a:pt x="9" y="105"/>
                  </a:cubicBezTo>
                  <a:cubicBezTo>
                    <a:pt x="11" y="94"/>
                    <a:pt x="13" y="82"/>
                    <a:pt x="17" y="70"/>
                  </a:cubicBezTo>
                  <a:cubicBezTo>
                    <a:pt x="19" y="65"/>
                    <a:pt x="21" y="59"/>
                    <a:pt x="23" y="54"/>
                  </a:cubicBezTo>
                  <a:cubicBezTo>
                    <a:pt x="25" y="48"/>
                    <a:pt x="31" y="43"/>
                    <a:pt x="34" y="38"/>
                  </a:cubicBezTo>
                  <a:cubicBezTo>
                    <a:pt x="48" y="20"/>
                    <a:pt x="61" y="10"/>
                    <a:pt x="83" y="5"/>
                  </a:cubicBezTo>
                </a:path>
              </a:pathLst>
            </a:custGeom>
            <a:solidFill>
              <a:srgbClr val="80BA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82" name="Freeform 70"/>
            <p:cNvSpPr/>
            <p:nvPr/>
          </p:nvSpPr>
          <p:spPr bwMode="auto">
            <a:xfrm>
              <a:off x="4170" y="2497"/>
              <a:ext cx="154" cy="421"/>
            </a:xfrm>
            <a:custGeom>
              <a:avLst/>
              <a:gdLst>
                <a:gd name="T0" fmla="*/ 124 w 146"/>
                <a:gd name="T1" fmla="*/ 0 h 400"/>
                <a:gd name="T2" fmla="*/ 18 w 146"/>
                <a:gd name="T3" fmla="*/ 215 h 400"/>
                <a:gd name="T4" fmla="*/ 171 w 146"/>
                <a:gd name="T5" fmla="*/ 466 h 400"/>
                <a:gd name="T6" fmla="*/ 121 w 146"/>
                <a:gd name="T7" fmla="*/ 14 h 40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6" h="400">
                  <a:moveTo>
                    <a:pt x="106" y="0"/>
                  </a:moveTo>
                  <a:cubicBezTo>
                    <a:pt x="3" y="0"/>
                    <a:pt x="11" y="105"/>
                    <a:pt x="15" y="184"/>
                  </a:cubicBezTo>
                  <a:cubicBezTo>
                    <a:pt x="20" y="277"/>
                    <a:pt x="53" y="369"/>
                    <a:pt x="146" y="400"/>
                  </a:cubicBezTo>
                  <a:cubicBezTo>
                    <a:pt x="64" y="315"/>
                    <a:pt x="0" y="106"/>
                    <a:pt x="103" y="11"/>
                  </a:cubicBezTo>
                </a:path>
              </a:pathLst>
            </a:custGeom>
            <a:solidFill>
              <a:srgbClr val="90C0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83" name="Freeform 71"/>
            <p:cNvSpPr/>
            <p:nvPr/>
          </p:nvSpPr>
          <p:spPr bwMode="auto">
            <a:xfrm>
              <a:off x="4196" y="2500"/>
              <a:ext cx="94" cy="353"/>
            </a:xfrm>
            <a:custGeom>
              <a:avLst/>
              <a:gdLst>
                <a:gd name="T0" fmla="*/ 91 w 90"/>
                <a:gd name="T1" fmla="*/ 0 h 335"/>
                <a:gd name="T2" fmla="*/ 17 w 90"/>
                <a:gd name="T3" fmla="*/ 174 h 335"/>
                <a:gd name="T4" fmla="*/ 102 w 90"/>
                <a:gd name="T5" fmla="*/ 392 h 335"/>
                <a:gd name="T6" fmla="*/ 77 w 90"/>
                <a:gd name="T7" fmla="*/ 8 h 33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0" h="335">
                  <a:moveTo>
                    <a:pt x="79" y="0"/>
                  </a:moveTo>
                  <a:cubicBezTo>
                    <a:pt x="26" y="13"/>
                    <a:pt x="12" y="106"/>
                    <a:pt x="14" y="149"/>
                  </a:cubicBezTo>
                  <a:cubicBezTo>
                    <a:pt x="17" y="228"/>
                    <a:pt x="56" y="267"/>
                    <a:pt x="90" y="335"/>
                  </a:cubicBezTo>
                  <a:cubicBezTo>
                    <a:pt x="0" y="253"/>
                    <a:pt x="8" y="99"/>
                    <a:pt x="68" y="8"/>
                  </a:cubicBezTo>
                </a:path>
              </a:pathLst>
            </a:custGeom>
            <a:solidFill>
              <a:srgbClr val="B5D0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84" name="Freeform 72"/>
            <p:cNvSpPr/>
            <p:nvPr/>
          </p:nvSpPr>
          <p:spPr bwMode="auto">
            <a:xfrm>
              <a:off x="4332" y="2515"/>
              <a:ext cx="150" cy="401"/>
            </a:xfrm>
            <a:custGeom>
              <a:avLst/>
              <a:gdLst>
                <a:gd name="T0" fmla="*/ 0 w 143"/>
                <a:gd name="T1" fmla="*/ 1 h 381"/>
                <a:gd name="T2" fmla="*/ 116 w 143"/>
                <a:gd name="T3" fmla="*/ 106 h 381"/>
                <a:gd name="T4" fmla="*/ 164 w 143"/>
                <a:gd name="T5" fmla="*/ 258 h 381"/>
                <a:gd name="T6" fmla="*/ 133 w 143"/>
                <a:gd name="T7" fmla="*/ 378 h 381"/>
                <a:gd name="T8" fmla="*/ 46 w 143"/>
                <a:gd name="T9" fmla="*/ 423 h 381"/>
                <a:gd name="T10" fmla="*/ 137 w 143"/>
                <a:gd name="T11" fmla="*/ 317 h 381"/>
                <a:gd name="T12" fmla="*/ 140 w 143"/>
                <a:gd name="T13" fmla="*/ 185 h 381"/>
                <a:gd name="T14" fmla="*/ 78 w 143"/>
                <a:gd name="T15" fmla="*/ 79 h 381"/>
                <a:gd name="T16" fmla="*/ 4 w 143"/>
                <a:gd name="T17" fmla="*/ 4 h 38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43" h="381">
                  <a:moveTo>
                    <a:pt x="0" y="1"/>
                  </a:moveTo>
                  <a:cubicBezTo>
                    <a:pt x="34" y="0"/>
                    <a:pt x="81" y="66"/>
                    <a:pt x="101" y="91"/>
                  </a:cubicBezTo>
                  <a:cubicBezTo>
                    <a:pt x="130" y="126"/>
                    <a:pt x="143" y="176"/>
                    <a:pt x="142" y="221"/>
                  </a:cubicBezTo>
                  <a:cubicBezTo>
                    <a:pt x="142" y="256"/>
                    <a:pt x="136" y="295"/>
                    <a:pt x="115" y="324"/>
                  </a:cubicBezTo>
                  <a:cubicBezTo>
                    <a:pt x="102" y="343"/>
                    <a:pt x="66" y="381"/>
                    <a:pt x="40" y="363"/>
                  </a:cubicBezTo>
                  <a:cubicBezTo>
                    <a:pt x="74" y="355"/>
                    <a:pt x="105" y="302"/>
                    <a:pt x="119" y="272"/>
                  </a:cubicBezTo>
                  <a:cubicBezTo>
                    <a:pt x="135" y="237"/>
                    <a:pt x="132" y="194"/>
                    <a:pt x="121" y="159"/>
                  </a:cubicBezTo>
                  <a:cubicBezTo>
                    <a:pt x="110" y="124"/>
                    <a:pt x="93" y="92"/>
                    <a:pt x="68" y="67"/>
                  </a:cubicBezTo>
                  <a:cubicBezTo>
                    <a:pt x="47" y="47"/>
                    <a:pt x="19" y="23"/>
                    <a:pt x="4" y="4"/>
                  </a:cubicBezTo>
                </a:path>
              </a:pathLst>
            </a:custGeom>
            <a:solidFill>
              <a:srgbClr val="63AE3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85" name="Freeform 73"/>
            <p:cNvSpPr/>
            <p:nvPr/>
          </p:nvSpPr>
          <p:spPr bwMode="auto">
            <a:xfrm>
              <a:off x="4248" y="2352"/>
              <a:ext cx="346" cy="240"/>
            </a:xfrm>
            <a:custGeom>
              <a:avLst/>
              <a:gdLst>
                <a:gd name="T0" fmla="*/ 39 w 328"/>
                <a:gd name="T1" fmla="*/ 81 h 228"/>
                <a:gd name="T2" fmla="*/ 377 w 328"/>
                <a:gd name="T3" fmla="*/ 266 h 228"/>
                <a:gd name="T4" fmla="*/ 271 w 328"/>
                <a:gd name="T5" fmla="*/ 119 h 228"/>
                <a:gd name="T6" fmla="*/ 173 w 328"/>
                <a:gd name="T7" fmla="*/ 24 h 228"/>
                <a:gd name="T8" fmla="*/ 44 w 328"/>
                <a:gd name="T9" fmla="*/ 14 h 228"/>
                <a:gd name="T10" fmla="*/ 39 w 328"/>
                <a:gd name="T11" fmla="*/ 85 h 22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28" h="228">
                  <a:moveTo>
                    <a:pt x="33" y="69"/>
                  </a:moveTo>
                  <a:cubicBezTo>
                    <a:pt x="170" y="25"/>
                    <a:pt x="207" y="208"/>
                    <a:pt x="320" y="228"/>
                  </a:cubicBezTo>
                  <a:cubicBezTo>
                    <a:pt x="328" y="175"/>
                    <a:pt x="263" y="134"/>
                    <a:pt x="231" y="102"/>
                  </a:cubicBezTo>
                  <a:cubicBezTo>
                    <a:pt x="204" y="74"/>
                    <a:pt x="184" y="36"/>
                    <a:pt x="147" y="21"/>
                  </a:cubicBezTo>
                  <a:cubicBezTo>
                    <a:pt x="123" y="12"/>
                    <a:pt x="62" y="0"/>
                    <a:pt x="38" y="11"/>
                  </a:cubicBezTo>
                  <a:cubicBezTo>
                    <a:pt x="6" y="25"/>
                    <a:pt x="0" y="53"/>
                    <a:pt x="33" y="73"/>
                  </a:cubicBezTo>
                </a:path>
              </a:pathLst>
            </a:custGeom>
            <a:solidFill>
              <a:srgbClr val="D7E5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86" name="Freeform 74"/>
            <p:cNvSpPr/>
            <p:nvPr/>
          </p:nvSpPr>
          <p:spPr bwMode="auto">
            <a:xfrm>
              <a:off x="4611" y="2747"/>
              <a:ext cx="120" cy="469"/>
            </a:xfrm>
            <a:custGeom>
              <a:avLst/>
              <a:gdLst>
                <a:gd name="T0" fmla="*/ 57 w 114"/>
                <a:gd name="T1" fmla="*/ 0 h 445"/>
                <a:gd name="T2" fmla="*/ 115 w 114"/>
                <a:gd name="T3" fmla="*/ 248 h 445"/>
                <a:gd name="T4" fmla="*/ 72 w 114"/>
                <a:gd name="T5" fmla="*/ 470 h 445"/>
                <a:gd name="T6" fmla="*/ 55 w 114"/>
                <a:gd name="T7" fmla="*/ 260 h 445"/>
                <a:gd name="T8" fmla="*/ 36 w 114"/>
                <a:gd name="T9" fmla="*/ 106 h 445"/>
                <a:gd name="T10" fmla="*/ 23 w 114"/>
                <a:gd name="T11" fmla="*/ 6 h 445"/>
                <a:gd name="T12" fmla="*/ 49 w 114"/>
                <a:gd name="T13" fmla="*/ 9 h 44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4" h="445">
                  <a:moveTo>
                    <a:pt x="48" y="0"/>
                  </a:moveTo>
                  <a:cubicBezTo>
                    <a:pt x="81" y="70"/>
                    <a:pt x="114" y="133"/>
                    <a:pt x="99" y="212"/>
                  </a:cubicBezTo>
                  <a:cubicBezTo>
                    <a:pt x="92" y="246"/>
                    <a:pt x="89" y="382"/>
                    <a:pt x="62" y="401"/>
                  </a:cubicBezTo>
                  <a:cubicBezTo>
                    <a:pt x="0" y="445"/>
                    <a:pt x="45" y="245"/>
                    <a:pt x="47" y="222"/>
                  </a:cubicBezTo>
                  <a:cubicBezTo>
                    <a:pt x="49" y="175"/>
                    <a:pt x="41" y="135"/>
                    <a:pt x="30" y="91"/>
                  </a:cubicBezTo>
                  <a:cubicBezTo>
                    <a:pt x="23" y="62"/>
                    <a:pt x="7" y="33"/>
                    <a:pt x="20" y="6"/>
                  </a:cubicBezTo>
                  <a:cubicBezTo>
                    <a:pt x="30" y="3"/>
                    <a:pt x="35" y="6"/>
                    <a:pt x="43" y="9"/>
                  </a:cubicBezTo>
                </a:path>
              </a:pathLst>
            </a:custGeom>
            <a:solidFill>
              <a:srgbClr val="D7E5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87" name="Freeform 75"/>
            <p:cNvSpPr/>
            <p:nvPr/>
          </p:nvSpPr>
          <p:spPr bwMode="auto">
            <a:xfrm>
              <a:off x="4197" y="2379"/>
              <a:ext cx="130" cy="606"/>
            </a:xfrm>
            <a:custGeom>
              <a:avLst/>
              <a:gdLst>
                <a:gd name="T0" fmla="*/ 139 w 124"/>
                <a:gd name="T1" fmla="*/ 9 h 576"/>
                <a:gd name="T2" fmla="*/ 20 w 124"/>
                <a:gd name="T3" fmla="*/ 337 h 576"/>
                <a:gd name="T4" fmla="*/ 143 w 124"/>
                <a:gd name="T5" fmla="*/ 671 h 576"/>
                <a:gd name="T6" fmla="*/ 30 w 124"/>
                <a:gd name="T7" fmla="*/ 522 h 576"/>
                <a:gd name="T8" fmla="*/ 0 w 124"/>
                <a:gd name="T9" fmla="*/ 332 h 576"/>
                <a:gd name="T10" fmla="*/ 35 w 124"/>
                <a:gd name="T11" fmla="*/ 121 h 576"/>
                <a:gd name="T12" fmla="*/ 130 w 124"/>
                <a:gd name="T13" fmla="*/ 0 h 5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4" h="576">
                  <a:moveTo>
                    <a:pt x="121" y="9"/>
                  </a:moveTo>
                  <a:cubicBezTo>
                    <a:pt x="30" y="35"/>
                    <a:pt x="19" y="214"/>
                    <a:pt x="17" y="289"/>
                  </a:cubicBezTo>
                  <a:cubicBezTo>
                    <a:pt x="14" y="378"/>
                    <a:pt x="49" y="518"/>
                    <a:pt x="124" y="576"/>
                  </a:cubicBezTo>
                  <a:cubicBezTo>
                    <a:pt x="78" y="561"/>
                    <a:pt x="41" y="491"/>
                    <a:pt x="27" y="448"/>
                  </a:cubicBezTo>
                  <a:cubicBezTo>
                    <a:pt x="9" y="396"/>
                    <a:pt x="0" y="340"/>
                    <a:pt x="0" y="285"/>
                  </a:cubicBezTo>
                  <a:cubicBezTo>
                    <a:pt x="0" y="222"/>
                    <a:pt x="7" y="163"/>
                    <a:pt x="30" y="104"/>
                  </a:cubicBezTo>
                  <a:cubicBezTo>
                    <a:pt x="42" y="72"/>
                    <a:pt x="72" y="0"/>
                    <a:pt x="11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88" name="Freeform 76"/>
            <p:cNvSpPr/>
            <p:nvPr/>
          </p:nvSpPr>
          <p:spPr bwMode="auto">
            <a:xfrm>
              <a:off x="4364" y="3010"/>
              <a:ext cx="52" cy="22"/>
            </a:xfrm>
            <a:custGeom>
              <a:avLst/>
              <a:gdLst>
                <a:gd name="T0" fmla="*/ 0 w 49"/>
                <a:gd name="T1" fmla="*/ 4 h 21"/>
                <a:gd name="T2" fmla="*/ 58 w 49"/>
                <a:gd name="T3" fmla="*/ 21 h 21"/>
                <a:gd name="T4" fmla="*/ 6 w 49"/>
                <a:gd name="T5" fmla="*/ 1 h 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9" h="21">
                  <a:moveTo>
                    <a:pt x="0" y="4"/>
                  </a:moveTo>
                  <a:cubicBezTo>
                    <a:pt x="13" y="18"/>
                    <a:pt x="31" y="21"/>
                    <a:pt x="49" y="18"/>
                  </a:cubicBezTo>
                  <a:cubicBezTo>
                    <a:pt x="42" y="5"/>
                    <a:pt x="21" y="0"/>
                    <a:pt x="6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89" name="Freeform 77"/>
            <p:cNvSpPr/>
            <p:nvPr/>
          </p:nvSpPr>
          <p:spPr bwMode="auto">
            <a:xfrm>
              <a:off x="4464" y="3056"/>
              <a:ext cx="62" cy="60"/>
            </a:xfrm>
            <a:custGeom>
              <a:avLst/>
              <a:gdLst>
                <a:gd name="T0" fmla="*/ 9 w 59"/>
                <a:gd name="T1" fmla="*/ 0 h 57"/>
                <a:gd name="T2" fmla="*/ 47 w 59"/>
                <a:gd name="T3" fmla="*/ 49 h 57"/>
                <a:gd name="T4" fmla="*/ 0 w 59"/>
                <a:gd name="T5" fmla="*/ 15 h 5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9" h="57">
                  <a:moveTo>
                    <a:pt x="9" y="0"/>
                  </a:moveTo>
                  <a:cubicBezTo>
                    <a:pt x="12" y="2"/>
                    <a:pt x="59" y="28"/>
                    <a:pt x="41" y="43"/>
                  </a:cubicBezTo>
                  <a:cubicBezTo>
                    <a:pt x="24" y="57"/>
                    <a:pt x="1" y="23"/>
                    <a:pt x="0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90" name="Freeform 78"/>
            <p:cNvSpPr/>
            <p:nvPr/>
          </p:nvSpPr>
          <p:spPr bwMode="auto">
            <a:xfrm>
              <a:off x="3661" y="1963"/>
              <a:ext cx="138" cy="139"/>
            </a:xfrm>
            <a:custGeom>
              <a:avLst/>
              <a:gdLst>
                <a:gd name="T0" fmla="*/ 22 w 131"/>
                <a:gd name="T1" fmla="*/ 83 h 132"/>
                <a:gd name="T2" fmla="*/ 7 w 131"/>
                <a:gd name="T3" fmla="*/ 60 h 132"/>
                <a:gd name="T4" fmla="*/ 39 w 131"/>
                <a:gd name="T5" fmla="*/ 38 h 132"/>
                <a:gd name="T6" fmla="*/ 45 w 131"/>
                <a:gd name="T7" fmla="*/ 2 h 132"/>
                <a:gd name="T8" fmla="*/ 82 w 131"/>
                <a:gd name="T9" fmla="*/ 25 h 132"/>
                <a:gd name="T10" fmla="*/ 109 w 131"/>
                <a:gd name="T11" fmla="*/ 35 h 132"/>
                <a:gd name="T12" fmla="*/ 113 w 131"/>
                <a:gd name="T13" fmla="*/ 84 h 132"/>
                <a:gd name="T14" fmla="*/ 141 w 131"/>
                <a:gd name="T15" fmla="*/ 130 h 132"/>
                <a:gd name="T16" fmla="*/ 151 w 131"/>
                <a:gd name="T17" fmla="*/ 146 h 132"/>
                <a:gd name="T18" fmla="*/ 130 w 131"/>
                <a:gd name="T19" fmla="*/ 134 h 132"/>
                <a:gd name="T20" fmla="*/ 101 w 131"/>
                <a:gd name="T21" fmla="*/ 83 h 132"/>
                <a:gd name="T22" fmla="*/ 87 w 131"/>
                <a:gd name="T23" fmla="*/ 55 h 132"/>
                <a:gd name="T24" fmla="*/ 64 w 131"/>
                <a:gd name="T25" fmla="*/ 57 h 132"/>
                <a:gd name="T26" fmla="*/ 48 w 131"/>
                <a:gd name="T27" fmla="*/ 28 h 132"/>
                <a:gd name="T28" fmla="*/ 43 w 131"/>
                <a:gd name="T29" fmla="*/ 70 h 132"/>
                <a:gd name="T30" fmla="*/ 26 w 131"/>
                <a:gd name="T31" fmla="*/ 66 h 132"/>
                <a:gd name="T32" fmla="*/ 36 w 131"/>
                <a:gd name="T33" fmla="*/ 84 h 132"/>
                <a:gd name="T34" fmla="*/ 21 w 131"/>
                <a:gd name="T35" fmla="*/ 82 h 132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131" h="132">
                  <a:moveTo>
                    <a:pt x="19" y="71"/>
                  </a:moveTo>
                  <a:cubicBezTo>
                    <a:pt x="10" y="70"/>
                    <a:pt x="0" y="60"/>
                    <a:pt x="7" y="51"/>
                  </a:cubicBezTo>
                  <a:cubicBezTo>
                    <a:pt x="13" y="42"/>
                    <a:pt x="29" y="46"/>
                    <a:pt x="33" y="32"/>
                  </a:cubicBezTo>
                  <a:cubicBezTo>
                    <a:pt x="35" y="25"/>
                    <a:pt x="29" y="5"/>
                    <a:pt x="39" y="2"/>
                  </a:cubicBezTo>
                  <a:cubicBezTo>
                    <a:pt x="46" y="0"/>
                    <a:pt x="61" y="20"/>
                    <a:pt x="70" y="22"/>
                  </a:cubicBezTo>
                  <a:cubicBezTo>
                    <a:pt x="80" y="25"/>
                    <a:pt x="89" y="18"/>
                    <a:pt x="93" y="29"/>
                  </a:cubicBezTo>
                  <a:cubicBezTo>
                    <a:pt x="99" y="42"/>
                    <a:pt x="94" y="59"/>
                    <a:pt x="97" y="72"/>
                  </a:cubicBezTo>
                  <a:cubicBezTo>
                    <a:pt x="102" y="87"/>
                    <a:pt x="112" y="99"/>
                    <a:pt x="121" y="111"/>
                  </a:cubicBezTo>
                  <a:cubicBezTo>
                    <a:pt x="123" y="114"/>
                    <a:pt x="131" y="122"/>
                    <a:pt x="129" y="125"/>
                  </a:cubicBezTo>
                  <a:cubicBezTo>
                    <a:pt x="125" y="132"/>
                    <a:pt x="113" y="118"/>
                    <a:pt x="111" y="115"/>
                  </a:cubicBezTo>
                  <a:cubicBezTo>
                    <a:pt x="101" y="103"/>
                    <a:pt x="90" y="86"/>
                    <a:pt x="86" y="71"/>
                  </a:cubicBezTo>
                  <a:cubicBezTo>
                    <a:pt x="84" y="61"/>
                    <a:pt x="88" y="43"/>
                    <a:pt x="75" y="47"/>
                  </a:cubicBezTo>
                  <a:cubicBezTo>
                    <a:pt x="67" y="50"/>
                    <a:pt x="64" y="61"/>
                    <a:pt x="55" y="48"/>
                  </a:cubicBezTo>
                  <a:cubicBezTo>
                    <a:pt x="50" y="40"/>
                    <a:pt x="49" y="31"/>
                    <a:pt x="42" y="25"/>
                  </a:cubicBezTo>
                  <a:cubicBezTo>
                    <a:pt x="37" y="34"/>
                    <a:pt x="51" y="58"/>
                    <a:pt x="37" y="60"/>
                  </a:cubicBezTo>
                  <a:cubicBezTo>
                    <a:pt x="32" y="60"/>
                    <a:pt x="27" y="53"/>
                    <a:pt x="23" y="57"/>
                  </a:cubicBezTo>
                  <a:cubicBezTo>
                    <a:pt x="20" y="62"/>
                    <a:pt x="30" y="67"/>
                    <a:pt x="30" y="72"/>
                  </a:cubicBezTo>
                  <a:cubicBezTo>
                    <a:pt x="26" y="72"/>
                    <a:pt x="21" y="72"/>
                    <a:pt x="18" y="70"/>
                  </a:cubicBezTo>
                </a:path>
              </a:pathLst>
            </a:custGeom>
            <a:solidFill>
              <a:srgbClr val="DFEB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91" name="Freeform 79"/>
            <p:cNvSpPr/>
            <p:nvPr/>
          </p:nvSpPr>
          <p:spPr bwMode="auto">
            <a:xfrm>
              <a:off x="4819" y="1995"/>
              <a:ext cx="115" cy="62"/>
            </a:xfrm>
            <a:custGeom>
              <a:avLst/>
              <a:gdLst>
                <a:gd name="T0" fmla="*/ 0 w 109"/>
                <a:gd name="T1" fmla="*/ 66 h 59"/>
                <a:gd name="T2" fmla="*/ 42 w 109"/>
                <a:gd name="T3" fmla="*/ 20 h 59"/>
                <a:gd name="T4" fmla="*/ 52 w 109"/>
                <a:gd name="T5" fmla="*/ 34 h 59"/>
                <a:gd name="T6" fmla="*/ 70 w 109"/>
                <a:gd name="T7" fmla="*/ 29 h 59"/>
                <a:gd name="T8" fmla="*/ 112 w 109"/>
                <a:gd name="T9" fmla="*/ 36 h 59"/>
                <a:gd name="T10" fmla="*/ 84 w 109"/>
                <a:gd name="T11" fmla="*/ 45 h 59"/>
                <a:gd name="T12" fmla="*/ 49 w 109"/>
                <a:gd name="T13" fmla="*/ 57 h 59"/>
                <a:gd name="T14" fmla="*/ 28 w 109"/>
                <a:gd name="T15" fmla="*/ 50 h 59"/>
                <a:gd name="T16" fmla="*/ 22 w 109"/>
                <a:gd name="T17" fmla="*/ 45 h 59"/>
                <a:gd name="T18" fmla="*/ 8 w 109"/>
                <a:gd name="T19" fmla="*/ 61 h 59"/>
                <a:gd name="T20" fmla="*/ 6 w 109"/>
                <a:gd name="T21" fmla="*/ 64 h 5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09" h="59">
                  <a:moveTo>
                    <a:pt x="0" y="57"/>
                  </a:moveTo>
                  <a:cubicBezTo>
                    <a:pt x="1" y="43"/>
                    <a:pt x="14" y="0"/>
                    <a:pt x="36" y="17"/>
                  </a:cubicBezTo>
                  <a:cubicBezTo>
                    <a:pt x="39" y="20"/>
                    <a:pt x="40" y="27"/>
                    <a:pt x="44" y="29"/>
                  </a:cubicBezTo>
                  <a:cubicBezTo>
                    <a:pt x="47" y="31"/>
                    <a:pt x="56" y="27"/>
                    <a:pt x="60" y="26"/>
                  </a:cubicBezTo>
                  <a:cubicBezTo>
                    <a:pt x="71" y="24"/>
                    <a:pt x="86" y="19"/>
                    <a:pt x="95" y="30"/>
                  </a:cubicBezTo>
                  <a:cubicBezTo>
                    <a:pt x="109" y="46"/>
                    <a:pt x="81" y="41"/>
                    <a:pt x="72" y="39"/>
                  </a:cubicBezTo>
                  <a:cubicBezTo>
                    <a:pt x="58" y="36"/>
                    <a:pt x="52" y="41"/>
                    <a:pt x="42" y="49"/>
                  </a:cubicBezTo>
                  <a:cubicBezTo>
                    <a:pt x="29" y="59"/>
                    <a:pt x="29" y="56"/>
                    <a:pt x="25" y="44"/>
                  </a:cubicBezTo>
                  <a:cubicBezTo>
                    <a:pt x="23" y="38"/>
                    <a:pt x="26" y="35"/>
                    <a:pt x="19" y="39"/>
                  </a:cubicBezTo>
                  <a:cubicBezTo>
                    <a:pt x="15" y="41"/>
                    <a:pt x="12" y="49"/>
                    <a:pt x="8" y="52"/>
                  </a:cubicBezTo>
                  <a:cubicBezTo>
                    <a:pt x="7" y="53"/>
                    <a:pt x="6" y="54"/>
                    <a:pt x="6" y="55"/>
                  </a:cubicBezTo>
                </a:path>
              </a:pathLst>
            </a:custGeom>
            <a:solidFill>
              <a:srgbClr val="DFEB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92" name="Freeform 80"/>
            <p:cNvSpPr/>
            <p:nvPr/>
          </p:nvSpPr>
          <p:spPr bwMode="auto">
            <a:xfrm>
              <a:off x="4652" y="2177"/>
              <a:ext cx="38" cy="45"/>
            </a:xfrm>
            <a:custGeom>
              <a:avLst/>
              <a:gdLst>
                <a:gd name="T0" fmla="*/ 7 w 36"/>
                <a:gd name="T1" fmla="*/ 0 h 42"/>
                <a:gd name="T2" fmla="*/ 14 w 36"/>
                <a:gd name="T3" fmla="*/ 33 h 42"/>
                <a:gd name="T4" fmla="*/ 42 w 36"/>
                <a:gd name="T5" fmla="*/ 44 h 42"/>
                <a:gd name="T6" fmla="*/ 7 w 36"/>
                <a:gd name="T7" fmla="*/ 44 h 42"/>
                <a:gd name="T8" fmla="*/ 5 w 36"/>
                <a:gd name="T9" fmla="*/ 5 h 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6" h="42">
                  <a:moveTo>
                    <a:pt x="7" y="0"/>
                  </a:moveTo>
                  <a:cubicBezTo>
                    <a:pt x="7" y="10"/>
                    <a:pt x="4" y="18"/>
                    <a:pt x="11" y="27"/>
                  </a:cubicBezTo>
                  <a:cubicBezTo>
                    <a:pt x="16" y="35"/>
                    <a:pt x="27" y="42"/>
                    <a:pt x="36" y="35"/>
                  </a:cubicBezTo>
                  <a:cubicBezTo>
                    <a:pt x="29" y="42"/>
                    <a:pt x="14" y="42"/>
                    <a:pt x="7" y="35"/>
                  </a:cubicBezTo>
                  <a:cubicBezTo>
                    <a:pt x="0" y="28"/>
                    <a:pt x="1" y="14"/>
                    <a:pt x="5" y="5"/>
                  </a:cubicBezTo>
                </a:path>
              </a:pathLst>
            </a:custGeom>
            <a:solidFill>
              <a:srgbClr val="DFEB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93" name="Freeform 81"/>
            <p:cNvSpPr/>
            <p:nvPr/>
          </p:nvSpPr>
          <p:spPr bwMode="auto">
            <a:xfrm>
              <a:off x="4479" y="2337"/>
              <a:ext cx="51" cy="119"/>
            </a:xfrm>
            <a:custGeom>
              <a:avLst/>
              <a:gdLst>
                <a:gd name="T0" fmla="*/ 57 w 48"/>
                <a:gd name="T1" fmla="*/ 0 h 113"/>
                <a:gd name="T2" fmla="*/ 13 w 48"/>
                <a:gd name="T3" fmla="*/ 61 h 113"/>
                <a:gd name="T4" fmla="*/ 54 w 48"/>
                <a:gd name="T5" fmla="*/ 132 h 113"/>
                <a:gd name="T6" fmla="*/ 0 w 48"/>
                <a:gd name="T7" fmla="*/ 65 h 113"/>
                <a:gd name="T8" fmla="*/ 44 w 48"/>
                <a:gd name="T9" fmla="*/ 3 h 1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8" h="113">
                  <a:moveTo>
                    <a:pt x="48" y="0"/>
                  </a:moveTo>
                  <a:cubicBezTo>
                    <a:pt x="25" y="0"/>
                    <a:pt x="9" y="33"/>
                    <a:pt x="10" y="52"/>
                  </a:cubicBezTo>
                  <a:cubicBezTo>
                    <a:pt x="10" y="80"/>
                    <a:pt x="29" y="92"/>
                    <a:pt x="45" y="113"/>
                  </a:cubicBezTo>
                  <a:cubicBezTo>
                    <a:pt x="24" y="108"/>
                    <a:pt x="0" y="77"/>
                    <a:pt x="0" y="56"/>
                  </a:cubicBezTo>
                  <a:cubicBezTo>
                    <a:pt x="0" y="36"/>
                    <a:pt x="18" y="9"/>
                    <a:pt x="37" y="3"/>
                  </a:cubicBezTo>
                </a:path>
              </a:pathLst>
            </a:custGeom>
            <a:solidFill>
              <a:srgbClr val="DFEB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94" name="Freeform 82"/>
            <p:cNvSpPr/>
            <p:nvPr/>
          </p:nvSpPr>
          <p:spPr bwMode="auto">
            <a:xfrm>
              <a:off x="5349" y="2673"/>
              <a:ext cx="108" cy="102"/>
            </a:xfrm>
            <a:custGeom>
              <a:avLst/>
              <a:gdLst>
                <a:gd name="T0" fmla="*/ 0 w 102"/>
                <a:gd name="T1" fmla="*/ 74 h 97"/>
                <a:gd name="T2" fmla="*/ 50 w 102"/>
                <a:gd name="T3" fmla="*/ 108 h 97"/>
                <a:gd name="T4" fmla="*/ 104 w 102"/>
                <a:gd name="T5" fmla="*/ 66 h 97"/>
                <a:gd name="T6" fmla="*/ 109 w 102"/>
                <a:gd name="T7" fmla="*/ 40 h 97"/>
                <a:gd name="T8" fmla="*/ 96 w 102"/>
                <a:gd name="T9" fmla="*/ 43 h 97"/>
                <a:gd name="T10" fmla="*/ 77 w 102"/>
                <a:gd name="T11" fmla="*/ 36 h 97"/>
                <a:gd name="T12" fmla="*/ 68 w 102"/>
                <a:gd name="T13" fmla="*/ 5 h 97"/>
                <a:gd name="T14" fmla="*/ 34 w 102"/>
                <a:gd name="T15" fmla="*/ 16 h 97"/>
                <a:gd name="T16" fmla="*/ 25 w 102"/>
                <a:gd name="T17" fmla="*/ 38 h 97"/>
                <a:gd name="T18" fmla="*/ 50 w 102"/>
                <a:gd name="T19" fmla="*/ 38 h 97"/>
                <a:gd name="T20" fmla="*/ 55 w 102"/>
                <a:gd name="T21" fmla="*/ 45 h 97"/>
                <a:gd name="T22" fmla="*/ 65 w 102"/>
                <a:gd name="T23" fmla="*/ 49 h 97"/>
                <a:gd name="T24" fmla="*/ 78 w 102"/>
                <a:gd name="T25" fmla="*/ 62 h 97"/>
                <a:gd name="T26" fmla="*/ 42 w 102"/>
                <a:gd name="T27" fmla="*/ 85 h 97"/>
                <a:gd name="T28" fmla="*/ 22 w 102"/>
                <a:gd name="T29" fmla="*/ 63 h 97"/>
                <a:gd name="T30" fmla="*/ 3 w 102"/>
                <a:gd name="T31" fmla="*/ 68 h 97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02" h="97">
                  <a:moveTo>
                    <a:pt x="0" y="64"/>
                  </a:moveTo>
                  <a:cubicBezTo>
                    <a:pt x="20" y="64"/>
                    <a:pt x="25" y="90"/>
                    <a:pt x="42" y="93"/>
                  </a:cubicBezTo>
                  <a:cubicBezTo>
                    <a:pt x="61" y="97"/>
                    <a:pt x="79" y="70"/>
                    <a:pt x="88" y="57"/>
                  </a:cubicBezTo>
                  <a:cubicBezTo>
                    <a:pt x="92" y="51"/>
                    <a:pt x="102" y="37"/>
                    <a:pt x="92" y="34"/>
                  </a:cubicBezTo>
                  <a:cubicBezTo>
                    <a:pt x="90" y="33"/>
                    <a:pt x="84" y="37"/>
                    <a:pt x="81" y="37"/>
                  </a:cubicBezTo>
                  <a:cubicBezTo>
                    <a:pt x="75" y="37"/>
                    <a:pt x="69" y="34"/>
                    <a:pt x="65" y="30"/>
                  </a:cubicBezTo>
                  <a:cubicBezTo>
                    <a:pt x="57" y="23"/>
                    <a:pt x="63" y="11"/>
                    <a:pt x="57" y="5"/>
                  </a:cubicBezTo>
                  <a:cubicBezTo>
                    <a:pt x="52" y="0"/>
                    <a:pt x="33" y="10"/>
                    <a:pt x="28" y="13"/>
                  </a:cubicBezTo>
                  <a:cubicBezTo>
                    <a:pt x="23" y="17"/>
                    <a:pt x="15" y="25"/>
                    <a:pt x="22" y="32"/>
                  </a:cubicBezTo>
                  <a:cubicBezTo>
                    <a:pt x="28" y="37"/>
                    <a:pt x="35" y="28"/>
                    <a:pt x="42" y="32"/>
                  </a:cubicBezTo>
                  <a:cubicBezTo>
                    <a:pt x="46" y="34"/>
                    <a:pt x="43" y="37"/>
                    <a:pt x="46" y="39"/>
                  </a:cubicBezTo>
                  <a:cubicBezTo>
                    <a:pt x="48" y="41"/>
                    <a:pt x="51" y="41"/>
                    <a:pt x="55" y="43"/>
                  </a:cubicBezTo>
                  <a:cubicBezTo>
                    <a:pt x="62" y="46"/>
                    <a:pt x="65" y="44"/>
                    <a:pt x="66" y="53"/>
                  </a:cubicBezTo>
                  <a:cubicBezTo>
                    <a:pt x="69" y="70"/>
                    <a:pt x="49" y="82"/>
                    <a:pt x="36" y="73"/>
                  </a:cubicBezTo>
                  <a:cubicBezTo>
                    <a:pt x="30" y="68"/>
                    <a:pt x="27" y="58"/>
                    <a:pt x="19" y="54"/>
                  </a:cubicBezTo>
                  <a:cubicBezTo>
                    <a:pt x="13" y="52"/>
                    <a:pt x="3" y="51"/>
                    <a:pt x="3" y="59"/>
                  </a:cubicBezTo>
                </a:path>
              </a:pathLst>
            </a:custGeom>
            <a:solidFill>
              <a:srgbClr val="DFEB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95" name="Freeform 83"/>
            <p:cNvSpPr/>
            <p:nvPr/>
          </p:nvSpPr>
          <p:spPr bwMode="auto">
            <a:xfrm>
              <a:off x="5306" y="3019"/>
              <a:ext cx="122" cy="99"/>
            </a:xfrm>
            <a:custGeom>
              <a:avLst/>
              <a:gdLst>
                <a:gd name="T0" fmla="*/ 37 w 116"/>
                <a:gd name="T1" fmla="*/ 16 h 94"/>
                <a:gd name="T2" fmla="*/ 72 w 116"/>
                <a:gd name="T3" fmla="*/ 4 h 94"/>
                <a:gd name="T4" fmla="*/ 82 w 116"/>
                <a:gd name="T5" fmla="*/ 35 h 94"/>
                <a:gd name="T6" fmla="*/ 113 w 116"/>
                <a:gd name="T7" fmla="*/ 83 h 94"/>
                <a:gd name="T8" fmla="*/ 81 w 116"/>
                <a:gd name="T9" fmla="*/ 88 h 94"/>
                <a:gd name="T10" fmla="*/ 65 w 116"/>
                <a:gd name="T11" fmla="*/ 90 h 94"/>
                <a:gd name="T12" fmla="*/ 56 w 116"/>
                <a:gd name="T13" fmla="*/ 104 h 94"/>
                <a:gd name="T14" fmla="*/ 17 w 116"/>
                <a:gd name="T15" fmla="*/ 81 h 94"/>
                <a:gd name="T16" fmla="*/ 4 w 116"/>
                <a:gd name="T17" fmla="*/ 59 h 94"/>
                <a:gd name="T18" fmla="*/ 29 w 116"/>
                <a:gd name="T19" fmla="*/ 65 h 94"/>
                <a:gd name="T20" fmla="*/ 53 w 116"/>
                <a:gd name="T21" fmla="*/ 71 h 94"/>
                <a:gd name="T22" fmla="*/ 65 w 116"/>
                <a:gd name="T23" fmla="*/ 60 h 94"/>
                <a:gd name="T24" fmla="*/ 56 w 116"/>
                <a:gd name="T25" fmla="*/ 47 h 94"/>
                <a:gd name="T26" fmla="*/ 53 w 116"/>
                <a:gd name="T27" fmla="*/ 41 h 94"/>
                <a:gd name="T28" fmla="*/ 58 w 116"/>
                <a:gd name="T29" fmla="*/ 35 h 94"/>
                <a:gd name="T30" fmla="*/ 38 w 116"/>
                <a:gd name="T31" fmla="*/ 17 h 94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16" h="94">
                  <a:moveTo>
                    <a:pt x="31" y="13"/>
                  </a:moveTo>
                  <a:cubicBezTo>
                    <a:pt x="39" y="8"/>
                    <a:pt x="54" y="0"/>
                    <a:pt x="62" y="4"/>
                  </a:cubicBezTo>
                  <a:cubicBezTo>
                    <a:pt x="71" y="9"/>
                    <a:pt x="67" y="21"/>
                    <a:pt x="70" y="29"/>
                  </a:cubicBezTo>
                  <a:cubicBezTo>
                    <a:pt x="75" y="41"/>
                    <a:pt x="116" y="51"/>
                    <a:pt x="97" y="71"/>
                  </a:cubicBezTo>
                  <a:cubicBezTo>
                    <a:pt x="89" y="79"/>
                    <a:pt x="79" y="77"/>
                    <a:pt x="69" y="76"/>
                  </a:cubicBezTo>
                  <a:cubicBezTo>
                    <a:pt x="66" y="76"/>
                    <a:pt x="59" y="75"/>
                    <a:pt x="56" y="77"/>
                  </a:cubicBezTo>
                  <a:cubicBezTo>
                    <a:pt x="52" y="79"/>
                    <a:pt x="52" y="87"/>
                    <a:pt x="48" y="89"/>
                  </a:cubicBezTo>
                  <a:cubicBezTo>
                    <a:pt x="38" y="94"/>
                    <a:pt x="19" y="74"/>
                    <a:pt x="14" y="69"/>
                  </a:cubicBezTo>
                  <a:cubicBezTo>
                    <a:pt x="11" y="66"/>
                    <a:pt x="0" y="55"/>
                    <a:pt x="4" y="50"/>
                  </a:cubicBezTo>
                  <a:cubicBezTo>
                    <a:pt x="7" y="45"/>
                    <a:pt x="22" y="54"/>
                    <a:pt x="26" y="56"/>
                  </a:cubicBezTo>
                  <a:cubicBezTo>
                    <a:pt x="33" y="59"/>
                    <a:pt x="39" y="66"/>
                    <a:pt x="46" y="61"/>
                  </a:cubicBezTo>
                  <a:cubicBezTo>
                    <a:pt x="50" y="57"/>
                    <a:pt x="45" y="49"/>
                    <a:pt x="56" y="51"/>
                  </a:cubicBezTo>
                  <a:cubicBezTo>
                    <a:pt x="54" y="47"/>
                    <a:pt x="49" y="44"/>
                    <a:pt x="48" y="41"/>
                  </a:cubicBezTo>
                  <a:cubicBezTo>
                    <a:pt x="47" y="39"/>
                    <a:pt x="46" y="38"/>
                    <a:pt x="46" y="35"/>
                  </a:cubicBezTo>
                  <a:cubicBezTo>
                    <a:pt x="45" y="32"/>
                    <a:pt x="49" y="31"/>
                    <a:pt x="49" y="29"/>
                  </a:cubicBezTo>
                  <a:cubicBezTo>
                    <a:pt x="48" y="22"/>
                    <a:pt x="39" y="18"/>
                    <a:pt x="32" y="14"/>
                  </a:cubicBezTo>
                </a:path>
              </a:pathLst>
            </a:custGeom>
            <a:solidFill>
              <a:srgbClr val="DFEB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96" name="Freeform 84"/>
            <p:cNvSpPr/>
            <p:nvPr/>
          </p:nvSpPr>
          <p:spPr bwMode="auto">
            <a:xfrm>
              <a:off x="4012" y="2775"/>
              <a:ext cx="110" cy="169"/>
            </a:xfrm>
            <a:custGeom>
              <a:avLst/>
              <a:gdLst>
                <a:gd name="T0" fmla="*/ 98 w 104"/>
                <a:gd name="T1" fmla="*/ 0 h 161"/>
                <a:gd name="T2" fmla="*/ 0 w 104"/>
                <a:gd name="T3" fmla="*/ 161 h 161"/>
                <a:gd name="T4" fmla="*/ 108 w 104"/>
                <a:gd name="T5" fmla="*/ 102 h 161"/>
                <a:gd name="T6" fmla="*/ 104 w 104"/>
                <a:gd name="T7" fmla="*/ 6 h 16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4" h="161">
                  <a:moveTo>
                    <a:pt x="83" y="0"/>
                  </a:moveTo>
                  <a:cubicBezTo>
                    <a:pt x="104" y="50"/>
                    <a:pt x="67" y="145"/>
                    <a:pt x="0" y="139"/>
                  </a:cubicBezTo>
                  <a:cubicBezTo>
                    <a:pt x="37" y="161"/>
                    <a:pt x="84" y="122"/>
                    <a:pt x="91" y="88"/>
                  </a:cubicBezTo>
                  <a:cubicBezTo>
                    <a:pt x="96" y="63"/>
                    <a:pt x="97" y="30"/>
                    <a:pt x="88" y="6"/>
                  </a:cubicBezTo>
                </a:path>
              </a:pathLst>
            </a:custGeom>
            <a:solidFill>
              <a:srgbClr val="DFEB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97" name="Freeform 85"/>
            <p:cNvSpPr/>
            <p:nvPr/>
          </p:nvSpPr>
          <p:spPr bwMode="auto">
            <a:xfrm>
              <a:off x="4226" y="3117"/>
              <a:ext cx="69" cy="123"/>
            </a:xfrm>
            <a:custGeom>
              <a:avLst/>
              <a:gdLst>
                <a:gd name="T0" fmla="*/ 61 w 65"/>
                <a:gd name="T1" fmla="*/ 0 h 117"/>
                <a:gd name="T2" fmla="*/ 55 w 65"/>
                <a:gd name="T3" fmla="*/ 87 h 117"/>
                <a:gd name="T4" fmla="*/ 0 w 65"/>
                <a:gd name="T5" fmla="*/ 126 h 117"/>
                <a:gd name="T6" fmla="*/ 72 w 65"/>
                <a:gd name="T7" fmla="*/ 81 h 117"/>
                <a:gd name="T8" fmla="*/ 61 w 65"/>
                <a:gd name="T9" fmla="*/ 7 h 1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5" h="117">
                  <a:moveTo>
                    <a:pt x="51" y="0"/>
                  </a:moveTo>
                  <a:cubicBezTo>
                    <a:pt x="62" y="23"/>
                    <a:pt x="59" y="53"/>
                    <a:pt x="46" y="75"/>
                  </a:cubicBezTo>
                  <a:cubicBezTo>
                    <a:pt x="38" y="89"/>
                    <a:pt x="17" y="110"/>
                    <a:pt x="0" y="108"/>
                  </a:cubicBezTo>
                  <a:cubicBezTo>
                    <a:pt x="22" y="117"/>
                    <a:pt x="54" y="90"/>
                    <a:pt x="60" y="69"/>
                  </a:cubicBezTo>
                  <a:cubicBezTo>
                    <a:pt x="65" y="48"/>
                    <a:pt x="53" y="23"/>
                    <a:pt x="51" y="7"/>
                  </a:cubicBezTo>
                </a:path>
              </a:pathLst>
            </a:custGeom>
            <a:solidFill>
              <a:srgbClr val="DFEB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98" name="Freeform 86"/>
            <p:cNvSpPr/>
            <p:nvPr/>
          </p:nvSpPr>
          <p:spPr bwMode="auto">
            <a:xfrm>
              <a:off x="3695" y="2021"/>
              <a:ext cx="55" cy="48"/>
            </a:xfrm>
            <a:custGeom>
              <a:avLst/>
              <a:gdLst>
                <a:gd name="T0" fmla="*/ 0 w 52"/>
                <a:gd name="T1" fmla="*/ 11 h 46"/>
                <a:gd name="T2" fmla="*/ 19 w 52"/>
                <a:gd name="T3" fmla="*/ 0 h 46"/>
                <a:gd name="T4" fmla="*/ 35 w 52"/>
                <a:gd name="T5" fmla="*/ 8 h 46"/>
                <a:gd name="T6" fmla="*/ 54 w 52"/>
                <a:gd name="T7" fmla="*/ 2 h 46"/>
                <a:gd name="T8" fmla="*/ 54 w 52"/>
                <a:gd name="T9" fmla="*/ 27 h 46"/>
                <a:gd name="T10" fmla="*/ 60 w 52"/>
                <a:gd name="T11" fmla="*/ 52 h 46"/>
                <a:gd name="T12" fmla="*/ 3 w 52"/>
                <a:gd name="T13" fmla="*/ 23 h 4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2" h="46">
                  <a:moveTo>
                    <a:pt x="0" y="11"/>
                  </a:moveTo>
                  <a:cubicBezTo>
                    <a:pt x="20" y="25"/>
                    <a:pt x="7" y="1"/>
                    <a:pt x="16" y="0"/>
                  </a:cubicBezTo>
                  <a:cubicBezTo>
                    <a:pt x="20" y="0"/>
                    <a:pt x="23" y="9"/>
                    <a:pt x="29" y="8"/>
                  </a:cubicBezTo>
                  <a:cubicBezTo>
                    <a:pt x="35" y="7"/>
                    <a:pt x="38" y="1"/>
                    <a:pt x="45" y="2"/>
                  </a:cubicBezTo>
                  <a:cubicBezTo>
                    <a:pt x="46" y="9"/>
                    <a:pt x="44" y="17"/>
                    <a:pt x="45" y="24"/>
                  </a:cubicBezTo>
                  <a:cubicBezTo>
                    <a:pt x="46" y="31"/>
                    <a:pt x="52" y="38"/>
                    <a:pt x="51" y="46"/>
                  </a:cubicBezTo>
                  <a:cubicBezTo>
                    <a:pt x="34" y="42"/>
                    <a:pt x="19" y="24"/>
                    <a:pt x="3" y="20"/>
                  </a:cubicBezTo>
                </a:path>
              </a:pathLst>
            </a:custGeom>
            <a:solidFill>
              <a:srgbClr val="A9CC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99" name="Freeform 87"/>
            <p:cNvSpPr/>
            <p:nvPr/>
          </p:nvSpPr>
          <p:spPr bwMode="auto">
            <a:xfrm>
              <a:off x="3715" y="2225"/>
              <a:ext cx="139" cy="106"/>
            </a:xfrm>
            <a:custGeom>
              <a:avLst/>
              <a:gdLst>
                <a:gd name="T0" fmla="*/ 0 w 132"/>
                <a:gd name="T1" fmla="*/ 0 h 101"/>
                <a:gd name="T2" fmla="*/ 72 w 132"/>
                <a:gd name="T3" fmla="*/ 42 h 101"/>
                <a:gd name="T4" fmla="*/ 111 w 132"/>
                <a:gd name="T5" fmla="*/ 79 h 101"/>
                <a:gd name="T6" fmla="*/ 133 w 132"/>
                <a:gd name="T7" fmla="*/ 99 h 101"/>
                <a:gd name="T8" fmla="*/ 154 w 132"/>
                <a:gd name="T9" fmla="*/ 116 h 101"/>
                <a:gd name="T10" fmla="*/ 82 w 132"/>
                <a:gd name="T11" fmla="*/ 41 h 101"/>
                <a:gd name="T12" fmla="*/ 52 w 132"/>
                <a:gd name="T13" fmla="*/ 19 h 101"/>
                <a:gd name="T14" fmla="*/ 31 w 132"/>
                <a:gd name="T15" fmla="*/ 6 h 101"/>
                <a:gd name="T16" fmla="*/ 13 w 132"/>
                <a:gd name="T17" fmla="*/ 4 h 10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32" h="101">
                  <a:moveTo>
                    <a:pt x="0" y="0"/>
                  </a:moveTo>
                  <a:cubicBezTo>
                    <a:pt x="25" y="4"/>
                    <a:pt x="45" y="17"/>
                    <a:pt x="62" y="36"/>
                  </a:cubicBezTo>
                  <a:cubicBezTo>
                    <a:pt x="73" y="47"/>
                    <a:pt x="84" y="57"/>
                    <a:pt x="95" y="68"/>
                  </a:cubicBezTo>
                  <a:cubicBezTo>
                    <a:pt x="102" y="74"/>
                    <a:pt x="107" y="81"/>
                    <a:pt x="114" y="86"/>
                  </a:cubicBezTo>
                  <a:cubicBezTo>
                    <a:pt x="120" y="91"/>
                    <a:pt x="127" y="95"/>
                    <a:pt x="132" y="101"/>
                  </a:cubicBezTo>
                  <a:cubicBezTo>
                    <a:pt x="107" y="88"/>
                    <a:pt x="88" y="56"/>
                    <a:pt x="70" y="35"/>
                  </a:cubicBezTo>
                  <a:cubicBezTo>
                    <a:pt x="63" y="27"/>
                    <a:pt x="54" y="22"/>
                    <a:pt x="45" y="16"/>
                  </a:cubicBezTo>
                  <a:cubicBezTo>
                    <a:pt x="39" y="12"/>
                    <a:pt x="34" y="7"/>
                    <a:pt x="27" y="6"/>
                  </a:cubicBezTo>
                  <a:cubicBezTo>
                    <a:pt x="22" y="4"/>
                    <a:pt x="16" y="6"/>
                    <a:pt x="10" y="4"/>
                  </a:cubicBezTo>
                </a:path>
              </a:pathLst>
            </a:custGeom>
            <a:solidFill>
              <a:srgbClr val="A9CC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00" name="Freeform 88"/>
            <p:cNvSpPr/>
            <p:nvPr/>
          </p:nvSpPr>
          <p:spPr bwMode="auto">
            <a:xfrm>
              <a:off x="3954" y="2409"/>
              <a:ext cx="150" cy="356"/>
            </a:xfrm>
            <a:custGeom>
              <a:avLst/>
              <a:gdLst>
                <a:gd name="T0" fmla="*/ 0 w 142"/>
                <a:gd name="T1" fmla="*/ 0 h 338"/>
                <a:gd name="T2" fmla="*/ 59 w 142"/>
                <a:gd name="T3" fmla="*/ 102 h 338"/>
                <a:gd name="T4" fmla="*/ 61 w 142"/>
                <a:gd name="T5" fmla="*/ 197 h 338"/>
                <a:gd name="T6" fmla="*/ 101 w 142"/>
                <a:gd name="T7" fmla="*/ 295 h 338"/>
                <a:gd name="T8" fmla="*/ 167 w 142"/>
                <a:gd name="T9" fmla="*/ 395 h 338"/>
                <a:gd name="T10" fmla="*/ 144 w 142"/>
                <a:gd name="T11" fmla="*/ 300 h 338"/>
                <a:gd name="T12" fmla="*/ 93 w 142"/>
                <a:gd name="T13" fmla="*/ 221 h 338"/>
                <a:gd name="T14" fmla="*/ 87 w 142"/>
                <a:gd name="T15" fmla="*/ 118 h 338"/>
                <a:gd name="T16" fmla="*/ 69 w 142"/>
                <a:gd name="T17" fmla="*/ 68 h 338"/>
                <a:gd name="T18" fmla="*/ 29 w 142"/>
                <a:gd name="T19" fmla="*/ 18 h 33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42" h="338">
                  <a:moveTo>
                    <a:pt x="0" y="0"/>
                  </a:moveTo>
                  <a:cubicBezTo>
                    <a:pt x="24" y="20"/>
                    <a:pt x="45" y="57"/>
                    <a:pt x="50" y="87"/>
                  </a:cubicBezTo>
                  <a:cubicBezTo>
                    <a:pt x="55" y="114"/>
                    <a:pt x="52" y="142"/>
                    <a:pt x="52" y="169"/>
                  </a:cubicBezTo>
                  <a:cubicBezTo>
                    <a:pt x="52" y="204"/>
                    <a:pt x="63" y="227"/>
                    <a:pt x="86" y="253"/>
                  </a:cubicBezTo>
                  <a:cubicBezTo>
                    <a:pt x="110" y="279"/>
                    <a:pt x="129" y="304"/>
                    <a:pt x="142" y="338"/>
                  </a:cubicBezTo>
                  <a:cubicBezTo>
                    <a:pt x="131" y="312"/>
                    <a:pt x="133" y="283"/>
                    <a:pt x="122" y="257"/>
                  </a:cubicBezTo>
                  <a:cubicBezTo>
                    <a:pt x="111" y="233"/>
                    <a:pt x="86" y="215"/>
                    <a:pt x="79" y="189"/>
                  </a:cubicBezTo>
                  <a:cubicBezTo>
                    <a:pt x="71" y="160"/>
                    <a:pt x="79" y="130"/>
                    <a:pt x="74" y="101"/>
                  </a:cubicBezTo>
                  <a:cubicBezTo>
                    <a:pt x="72" y="86"/>
                    <a:pt x="66" y="72"/>
                    <a:pt x="59" y="59"/>
                  </a:cubicBezTo>
                  <a:cubicBezTo>
                    <a:pt x="50" y="43"/>
                    <a:pt x="35" y="31"/>
                    <a:pt x="25" y="15"/>
                  </a:cubicBezTo>
                </a:path>
              </a:pathLst>
            </a:custGeom>
            <a:solidFill>
              <a:srgbClr val="A9CC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01" name="Freeform 89"/>
            <p:cNvSpPr/>
            <p:nvPr/>
          </p:nvSpPr>
          <p:spPr bwMode="auto">
            <a:xfrm>
              <a:off x="4297" y="2307"/>
              <a:ext cx="131" cy="43"/>
            </a:xfrm>
            <a:custGeom>
              <a:avLst/>
              <a:gdLst>
                <a:gd name="T0" fmla="*/ 0 w 125"/>
                <a:gd name="T1" fmla="*/ 18 h 41"/>
                <a:gd name="T2" fmla="*/ 69 w 125"/>
                <a:gd name="T3" fmla="*/ 28 h 41"/>
                <a:gd name="T4" fmla="*/ 144 w 125"/>
                <a:gd name="T5" fmla="*/ 0 h 41"/>
                <a:gd name="T6" fmla="*/ 94 w 125"/>
                <a:gd name="T7" fmla="*/ 40 h 41"/>
                <a:gd name="T8" fmla="*/ 16 w 125"/>
                <a:gd name="T9" fmla="*/ 28 h 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5" h="41">
                  <a:moveTo>
                    <a:pt x="0" y="15"/>
                  </a:moveTo>
                  <a:cubicBezTo>
                    <a:pt x="20" y="18"/>
                    <a:pt x="40" y="24"/>
                    <a:pt x="60" y="25"/>
                  </a:cubicBezTo>
                  <a:cubicBezTo>
                    <a:pt x="83" y="27"/>
                    <a:pt x="106" y="11"/>
                    <a:pt x="125" y="0"/>
                  </a:cubicBezTo>
                  <a:cubicBezTo>
                    <a:pt x="119" y="16"/>
                    <a:pt x="98" y="29"/>
                    <a:pt x="82" y="34"/>
                  </a:cubicBezTo>
                  <a:cubicBezTo>
                    <a:pt x="56" y="41"/>
                    <a:pt x="37" y="32"/>
                    <a:pt x="13" y="25"/>
                  </a:cubicBezTo>
                </a:path>
              </a:pathLst>
            </a:custGeom>
            <a:solidFill>
              <a:srgbClr val="A9CC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02" name="Freeform 90"/>
            <p:cNvSpPr/>
            <p:nvPr/>
          </p:nvSpPr>
          <p:spPr bwMode="auto">
            <a:xfrm>
              <a:off x="4792" y="2038"/>
              <a:ext cx="93" cy="88"/>
            </a:xfrm>
            <a:custGeom>
              <a:avLst/>
              <a:gdLst>
                <a:gd name="T0" fmla="*/ 104 w 88"/>
                <a:gd name="T1" fmla="*/ 4 h 83"/>
                <a:gd name="T2" fmla="*/ 75 w 88"/>
                <a:gd name="T3" fmla="*/ 21 h 83"/>
                <a:gd name="T4" fmla="*/ 56 w 88"/>
                <a:gd name="T5" fmla="*/ 7 h 83"/>
                <a:gd name="T6" fmla="*/ 27 w 88"/>
                <a:gd name="T7" fmla="*/ 37 h 83"/>
                <a:gd name="T8" fmla="*/ 0 w 88"/>
                <a:gd name="T9" fmla="*/ 99 h 83"/>
                <a:gd name="T10" fmla="*/ 25 w 88"/>
                <a:gd name="T11" fmla="*/ 61 h 83"/>
                <a:gd name="T12" fmla="*/ 53 w 88"/>
                <a:gd name="T13" fmla="*/ 31 h 83"/>
                <a:gd name="T14" fmla="*/ 71 w 88"/>
                <a:gd name="T15" fmla="*/ 35 h 83"/>
                <a:gd name="T16" fmla="*/ 98 w 88"/>
                <a:gd name="T17" fmla="*/ 12 h 8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8" h="83">
                  <a:moveTo>
                    <a:pt x="88" y="4"/>
                  </a:moveTo>
                  <a:cubicBezTo>
                    <a:pt x="78" y="0"/>
                    <a:pt x="71" y="14"/>
                    <a:pt x="63" y="18"/>
                  </a:cubicBezTo>
                  <a:cubicBezTo>
                    <a:pt x="52" y="23"/>
                    <a:pt x="51" y="16"/>
                    <a:pt x="47" y="7"/>
                  </a:cubicBezTo>
                  <a:cubicBezTo>
                    <a:pt x="35" y="6"/>
                    <a:pt x="27" y="23"/>
                    <a:pt x="24" y="31"/>
                  </a:cubicBezTo>
                  <a:cubicBezTo>
                    <a:pt x="18" y="48"/>
                    <a:pt x="11" y="69"/>
                    <a:pt x="0" y="83"/>
                  </a:cubicBezTo>
                  <a:cubicBezTo>
                    <a:pt x="10" y="75"/>
                    <a:pt x="15" y="63"/>
                    <a:pt x="22" y="52"/>
                  </a:cubicBezTo>
                  <a:cubicBezTo>
                    <a:pt x="26" y="46"/>
                    <a:pt x="36" y="26"/>
                    <a:pt x="44" y="25"/>
                  </a:cubicBezTo>
                  <a:cubicBezTo>
                    <a:pt x="51" y="24"/>
                    <a:pt x="53" y="32"/>
                    <a:pt x="60" y="29"/>
                  </a:cubicBezTo>
                  <a:cubicBezTo>
                    <a:pt x="67" y="27"/>
                    <a:pt x="77" y="14"/>
                    <a:pt x="83" y="9"/>
                  </a:cubicBezTo>
                </a:path>
              </a:pathLst>
            </a:custGeom>
            <a:solidFill>
              <a:srgbClr val="A9CC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03" name="Freeform 91"/>
            <p:cNvSpPr/>
            <p:nvPr/>
          </p:nvSpPr>
          <p:spPr bwMode="auto">
            <a:xfrm>
              <a:off x="4723" y="2735"/>
              <a:ext cx="71" cy="219"/>
            </a:xfrm>
            <a:custGeom>
              <a:avLst/>
              <a:gdLst>
                <a:gd name="T0" fmla="*/ 79 w 67"/>
                <a:gd name="T1" fmla="*/ 2 h 208"/>
                <a:gd name="T2" fmla="*/ 37 w 67"/>
                <a:gd name="T3" fmla="*/ 27 h 208"/>
                <a:gd name="T4" fmla="*/ 22 w 67"/>
                <a:gd name="T5" fmla="*/ 102 h 208"/>
                <a:gd name="T6" fmla="*/ 58 w 67"/>
                <a:gd name="T7" fmla="*/ 243 h 208"/>
                <a:gd name="T8" fmla="*/ 2 w 67"/>
                <a:gd name="T9" fmla="*/ 107 h 208"/>
                <a:gd name="T10" fmla="*/ 16 w 67"/>
                <a:gd name="T11" fmla="*/ 36 h 208"/>
                <a:gd name="T12" fmla="*/ 46 w 67"/>
                <a:gd name="T13" fmla="*/ 6 h 208"/>
                <a:gd name="T14" fmla="*/ 79 w 67"/>
                <a:gd name="T15" fmla="*/ 0 h 20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7" h="208">
                  <a:moveTo>
                    <a:pt x="67" y="2"/>
                  </a:moveTo>
                  <a:cubicBezTo>
                    <a:pt x="57" y="9"/>
                    <a:pt x="40" y="12"/>
                    <a:pt x="31" y="24"/>
                  </a:cubicBezTo>
                  <a:cubicBezTo>
                    <a:pt x="19" y="40"/>
                    <a:pt x="16" y="67"/>
                    <a:pt x="19" y="87"/>
                  </a:cubicBezTo>
                  <a:cubicBezTo>
                    <a:pt x="23" y="129"/>
                    <a:pt x="43" y="166"/>
                    <a:pt x="49" y="208"/>
                  </a:cubicBezTo>
                  <a:cubicBezTo>
                    <a:pt x="27" y="173"/>
                    <a:pt x="8" y="134"/>
                    <a:pt x="2" y="92"/>
                  </a:cubicBezTo>
                  <a:cubicBezTo>
                    <a:pt x="0" y="71"/>
                    <a:pt x="1" y="47"/>
                    <a:pt x="13" y="30"/>
                  </a:cubicBezTo>
                  <a:cubicBezTo>
                    <a:pt x="19" y="20"/>
                    <a:pt x="29" y="10"/>
                    <a:pt x="39" y="6"/>
                  </a:cubicBezTo>
                  <a:cubicBezTo>
                    <a:pt x="48" y="2"/>
                    <a:pt x="59" y="5"/>
                    <a:pt x="67" y="0"/>
                  </a:cubicBezTo>
                </a:path>
              </a:pathLst>
            </a:custGeom>
            <a:solidFill>
              <a:srgbClr val="A9CC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04" name="Freeform 92"/>
            <p:cNvSpPr/>
            <p:nvPr/>
          </p:nvSpPr>
          <p:spPr bwMode="auto">
            <a:xfrm>
              <a:off x="5190" y="2705"/>
              <a:ext cx="212" cy="43"/>
            </a:xfrm>
            <a:custGeom>
              <a:avLst/>
              <a:gdLst>
                <a:gd name="T0" fmla="*/ 159 w 201"/>
                <a:gd name="T1" fmla="*/ 38 h 41"/>
                <a:gd name="T2" fmla="*/ 195 w 201"/>
                <a:gd name="T3" fmla="*/ 25 h 41"/>
                <a:gd name="T4" fmla="*/ 228 w 201"/>
                <a:gd name="T5" fmla="*/ 46 h 41"/>
                <a:gd name="T6" fmla="*/ 195 w 201"/>
                <a:gd name="T7" fmla="*/ 9 h 41"/>
                <a:gd name="T8" fmla="*/ 143 w 201"/>
                <a:gd name="T9" fmla="*/ 15 h 41"/>
                <a:gd name="T10" fmla="*/ 120 w 201"/>
                <a:gd name="T11" fmla="*/ 2 h 41"/>
                <a:gd name="T12" fmla="*/ 83 w 201"/>
                <a:gd name="T13" fmla="*/ 3 h 41"/>
                <a:gd name="T14" fmla="*/ 40 w 201"/>
                <a:gd name="T15" fmla="*/ 6 h 41"/>
                <a:gd name="T16" fmla="*/ 0 w 201"/>
                <a:gd name="T17" fmla="*/ 20 h 41"/>
                <a:gd name="T18" fmla="*/ 27 w 201"/>
                <a:gd name="T19" fmla="*/ 19 h 41"/>
                <a:gd name="T20" fmla="*/ 52 w 201"/>
                <a:gd name="T21" fmla="*/ 21 h 41"/>
                <a:gd name="T22" fmla="*/ 98 w 201"/>
                <a:gd name="T23" fmla="*/ 21 h 41"/>
                <a:gd name="T24" fmla="*/ 156 w 201"/>
                <a:gd name="T25" fmla="*/ 35 h 41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01" h="41">
                  <a:moveTo>
                    <a:pt x="136" y="32"/>
                  </a:moveTo>
                  <a:cubicBezTo>
                    <a:pt x="142" y="21"/>
                    <a:pt x="153" y="19"/>
                    <a:pt x="166" y="22"/>
                  </a:cubicBezTo>
                  <a:cubicBezTo>
                    <a:pt x="175" y="25"/>
                    <a:pt x="185" y="41"/>
                    <a:pt x="194" y="40"/>
                  </a:cubicBezTo>
                  <a:cubicBezTo>
                    <a:pt x="201" y="23"/>
                    <a:pt x="180" y="11"/>
                    <a:pt x="166" y="9"/>
                  </a:cubicBezTo>
                  <a:cubicBezTo>
                    <a:pt x="151" y="6"/>
                    <a:pt x="137" y="15"/>
                    <a:pt x="122" y="12"/>
                  </a:cubicBezTo>
                  <a:cubicBezTo>
                    <a:pt x="115" y="10"/>
                    <a:pt x="109" y="4"/>
                    <a:pt x="102" y="2"/>
                  </a:cubicBezTo>
                  <a:cubicBezTo>
                    <a:pt x="92" y="0"/>
                    <a:pt x="80" y="2"/>
                    <a:pt x="71" y="3"/>
                  </a:cubicBezTo>
                  <a:cubicBezTo>
                    <a:pt x="59" y="5"/>
                    <a:pt x="46" y="4"/>
                    <a:pt x="34" y="6"/>
                  </a:cubicBezTo>
                  <a:cubicBezTo>
                    <a:pt x="24" y="7"/>
                    <a:pt x="7" y="8"/>
                    <a:pt x="0" y="17"/>
                  </a:cubicBezTo>
                  <a:cubicBezTo>
                    <a:pt x="8" y="18"/>
                    <a:pt x="16" y="15"/>
                    <a:pt x="24" y="16"/>
                  </a:cubicBezTo>
                  <a:cubicBezTo>
                    <a:pt x="31" y="17"/>
                    <a:pt x="37" y="18"/>
                    <a:pt x="44" y="18"/>
                  </a:cubicBezTo>
                  <a:cubicBezTo>
                    <a:pt x="57" y="18"/>
                    <a:pt x="70" y="17"/>
                    <a:pt x="83" y="18"/>
                  </a:cubicBezTo>
                  <a:cubicBezTo>
                    <a:pt x="92" y="19"/>
                    <a:pt x="130" y="33"/>
                    <a:pt x="133" y="30"/>
                  </a:cubicBezTo>
                </a:path>
              </a:pathLst>
            </a:custGeom>
            <a:solidFill>
              <a:srgbClr val="A9CC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05" name="Freeform 93"/>
            <p:cNvSpPr/>
            <p:nvPr/>
          </p:nvSpPr>
          <p:spPr bwMode="auto">
            <a:xfrm>
              <a:off x="5242" y="3014"/>
              <a:ext cx="117" cy="62"/>
            </a:xfrm>
            <a:custGeom>
              <a:avLst/>
              <a:gdLst>
                <a:gd name="T0" fmla="*/ 27 w 111"/>
                <a:gd name="T1" fmla="*/ 45 h 59"/>
                <a:gd name="T2" fmla="*/ 58 w 111"/>
                <a:gd name="T3" fmla="*/ 65 h 59"/>
                <a:gd name="T4" fmla="*/ 80 w 111"/>
                <a:gd name="T5" fmla="*/ 53 h 59"/>
                <a:gd name="T6" fmla="*/ 118 w 111"/>
                <a:gd name="T7" fmla="*/ 61 h 59"/>
                <a:gd name="T8" fmla="*/ 110 w 111"/>
                <a:gd name="T9" fmla="*/ 36 h 59"/>
                <a:gd name="T10" fmla="*/ 84 w 111"/>
                <a:gd name="T11" fmla="*/ 32 h 59"/>
                <a:gd name="T12" fmla="*/ 41 w 111"/>
                <a:gd name="T13" fmla="*/ 20 h 59"/>
                <a:gd name="T14" fmla="*/ 8 w 111"/>
                <a:gd name="T15" fmla="*/ 6 h 59"/>
                <a:gd name="T16" fmla="*/ 18 w 111"/>
                <a:gd name="T17" fmla="*/ 36 h 5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11" h="59">
                  <a:moveTo>
                    <a:pt x="24" y="39"/>
                  </a:moveTo>
                  <a:cubicBezTo>
                    <a:pt x="32" y="43"/>
                    <a:pt x="40" y="54"/>
                    <a:pt x="49" y="56"/>
                  </a:cubicBezTo>
                  <a:cubicBezTo>
                    <a:pt x="59" y="59"/>
                    <a:pt x="59" y="48"/>
                    <a:pt x="68" y="46"/>
                  </a:cubicBezTo>
                  <a:cubicBezTo>
                    <a:pt x="78" y="43"/>
                    <a:pt x="93" y="55"/>
                    <a:pt x="101" y="52"/>
                  </a:cubicBezTo>
                  <a:cubicBezTo>
                    <a:pt x="111" y="47"/>
                    <a:pt x="100" y="34"/>
                    <a:pt x="94" y="30"/>
                  </a:cubicBezTo>
                  <a:cubicBezTo>
                    <a:pt x="86" y="25"/>
                    <a:pt x="80" y="27"/>
                    <a:pt x="72" y="28"/>
                  </a:cubicBezTo>
                  <a:cubicBezTo>
                    <a:pt x="58" y="30"/>
                    <a:pt x="47" y="23"/>
                    <a:pt x="35" y="17"/>
                  </a:cubicBezTo>
                  <a:cubicBezTo>
                    <a:pt x="29" y="13"/>
                    <a:pt x="14" y="0"/>
                    <a:pt x="8" y="6"/>
                  </a:cubicBezTo>
                  <a:cubicBezTo>
                    <a:pt x="0" y="12"/>
                    <a:pt x="11" y="26"/>
                    <a:pt x="15" y="30"/>
                  </a:cubicBezTo>
                </a:path>
              </a:pathLst>
            </a:custGeom>
            <a:solidFill>
              <a:srgbClr val="A9CC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06" name="Freeform 94"/>
            <p:cNvSpPr/>
            <p:nvPr/>
          </p:nvSpPr>
          <p:spPr bwMode="auto">
            <a:xfrm>
              <a:off x="4632" y="3361"/>
              <a:ext cx="83" cy="242"/>
            </a:xfrm>
            <a:custGeom>
              <a:avLst/>
              <a:gdLst>
                <a:gd name="T0" fmla="*/ 0 w 79"/>
                <a:gd name="T1" fmla="*/ 0 h 229"/>
                <a:gd name="T2" fmla="*/ 25 w 79"/>
                <a:gd name="T3" fmla="*/ 133 h 229"/>
                <a:gd name="T4" fmla="*/ 91 w 79"/>
                <a:gd name="T5" fmla="*/ 271 h 229"/>
                <a:gd name="T6" fmla="*/ 42 w 79"/>
                <a:gd name="T7" fmla="*/ 133 h 229"/>
                <a:gd name="T8" fmla="*/ 39 w 79"/>
                <a:gd name="T9" fmla="*/ 60 h 229"/>
                <a:gd name="T10" fmla="*/ 2 w 79"/>
                <a:gd name="T11" fmla="*/ 6 h 22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9" h="229">
                  <a:moveTo>
                    <a:pt x="0" y="0"/>
                  </a:moveTo>
                  <a:cubicBezTo>
                    <a:pt x="22" y="32"/>
                    <a:pt x="20" y="77"/>
                    <a:pt x="22" y="113"/>
                  </a:cubicBezTo>
                  <a:cubicBezTo>
                    <a:pt x="24" y="157"/>
                    <a:pt x="54" y="195"/>
                    <a:pt x="79" y="229"/>
                  </a:cubicBezTo>
                  <a:cubicBezTo>
                    <a:pt x="61" y="192"/>
                    <a:pt x="41" y="154"/>
                    <a:pt x="36" y="113"/>
                  </a:cubicBezTo>
                  <a:cubicBezTo>
                    <a:pt x="34" y="92"/>
                    <a:pt x="40" y="71"/>
                    <a:pt x="33" y="51"/>
                  </a:cubicBezTo>
                  <a:cubicBezTo>
                    <a:pt x="26" y="33"/>
                    <a:pt x="12" y="22"/>
                    <a:pt x="2" y="6"/>
                  </a:cubicBezTo>
                </a:path>
              </a:pathLst>
            </a:custGeom>
            <a:solidFill>
              <a:srgbClr val="A9CC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07" name="Freeform 95"/>
            <p:cNvSpPr/>
            <p:nvPr/>
          </p:nvSpPr>
          <p:spPr bwMode="auto">
            <a:xfrm>
              <a:off x="4847" y="3676"/>
              <a:ext cx="70" cy="101"/>
            </a:xfrm>
            <a:custGeom>
              <a:avLst/>
              <a:gdLst>
                <a:gd name="T0" fmla="*/ 16 w 67"/>
                <a:gd name="T1" fmla="*/ 48 h 96"/>
                <a:gd name="T2" fmla="*/ 41 w 67"/>
                <a:gd name="T3" fmla="*/ 73 h 96"/>
                <a:gd name="T4" fmla="*/ 34 w 67"/>
                <a:gd name="T5" fmla="*/ 110 h 96"/>
                <a:gd name="T6" fmla="*/ 57 w 67"/>
                <a:gd name="T7" fmla="*/ 112 h 96"/>
                <a:gd name="T8" fmla="*/ 52 w 67"/>
                <a:gd name="T9" fmla="*/ 80 h 96"/>
                <a:gd name="T10" fmla="*/ 31 w 67"/>
                <a:gd name="T11" fmla="*/ 33 h 96"/>
                <a:gd name="T12" fmla="*/ 5 w 67"/>
                <a:gd name="T13" fmla="*/ 0 h 96"/>
                <a:gd name="T14" fmla="*/ 15 w 67"/>
                <a:gd name="T15" fmla="*/ 39 h 9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7" h="96">
                  <a:moveTo>
                    <a:pt x="13" y="42"/>
                  </a:moveTo>
                  <a:cubicBezTo>
                    <a:pt x="24" y="37"/>
                    <a:pt x="34" y="55"/>
                    <a:pt x="35" y="63"/>
                  </a:cubicBezTo>
                  <a:cubicBezTo>
                    <a:pt x="36" y="74"/>
                    <a:pt x="29" y="84"/>
                    <a:pt x="31" y="95"/>
                  </a:cubicBezTo>
                  <a:cubicBezTo>
                    <a:pt x="41" y="88"/>
                    <a:pt x="41" y="96"/>
                    <a:pt x="51" y="96"/>
                  </a:cubicBezTo>
                  <a:cubicBezTo>
                    <a:pt x="67" y="95"/>
                    <a:pt x="51" y="74"/>
                    <a:pt x="46" y="68"/>
                  </a:cubicBezTo>
                  <a:cubicBezTo>
                    <a:pt x="38" y="56"/>
                    <a:pt x="36" y="41"/>
                    <a:pt x="28" y="28"/>
                  </a:cubicBezTo>
                  <a:cubicBezTo>
                    <a:pt x="22" y="18"/>
                    <a:pt x="15" y="6"/>
                    <a:pt x="5" y="0"/>
                  </a:cubicBezTo>
                  <a:cubicBezTo>
                    <a:pt x="0" y="8"/>
                    <a:pt x="9" y="25"/>
                    <a:pt x="12" y="33"/>
                  </a:cubicBezTo>
                </a:path>
              </a:pathLst>
            </a:custGeom>
            <a:solidFill>
              <a:srgbClr val="A9CC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08" name="Freeform 96"/>
            <p:cNvSpPr/>
            <p:nvPr/>
          </p:nvSpPr>
          <p:spPr bwMode="auto">
            <a:xfrm>
              <a:off x="4063" y="2911"/>
              <a:ext cx="249" cy="265"/>
            </a:xfrm>
            <a:custGeom>
              <a:avLst/>
              <a:gdLst>
                <a:gd name="T0" fmla="*/ 21 w 236"/>
                <a:gd name="T1" fmla="*/ 66 h 252"/>
                <a:gd name="T2" fmla="*/ 22 w 236"/>
                <a:gd name="T3" fmla="*/ 68 h 252"/>
                <a:gd name="T4" fmla="*/ 100 w 236"/>
                <a:gd name="T5" fmla="*/ 41 h 252"/>
                <a:gd name="T6" fmla="*/ 175 w 236"/>
                <a:gd name="T7" fmla="*/ 99 h 252"/>
                <a:gd name="T8" fmla="*/ 256 w 236"/>
                <a:gd name="T9" fmla="*/ 293 h 252"/>
                <a:gd name="T10" fmla="*/ 250 w 236"/>
                <a:gd name="T11" fmla="*/ 167 h 252"/>
                <a:gd name="T12" fmla="*/ 162 w 236"/>
                <a:gd name="T13" fmla="*/ 50 h 252"/>
                <a:gd name="T14" fmla="*/ 74 w 236"/>
                <a:gd name="T15" fmla="*/ 21 h 252"/>
                <a:gd name="T16" fmla="*/ 0 w 236"/>
                <a:gd name="T17" fmla="*/ 68 h 25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36" h="252">
                  <a:moveTo>
                    <a:pt x="18" y="57"/>
                  </a:moveTo>
                  <a:cubicBezTo>
                    <a:pt x="17" y="58"/>
                    <a:pt x="18" y="59"/>
                    <a:pt x="19" y="59"/>
                  </a:cubicBezTo>
                  <a:cubicBezTo>
                    <a:pt x="42" y="52"/>
                    <a:pt x="61" y="36"/>
                    <a:pt x="85" y="35"/>
                  </a:cubicBezTo>
                  <a:cubicBezTo>
                    <a:pt x="117" y="34"/>
                    <a:pt x="132" y="63"/>
                    <a:pt x="149" y="85"/>
                  </a:cubicBezTo>
                  <a:cubicBezTo>
                    <a:pt x="183" y="127"/>
                    <a:pt x="236" y="193"/>
                    <a:pt x="218" y="252"/>
                  </a:cubicBezTo>
                  <a:cubicBezTo>
                    <a:pt x="226" y="216"/>
                    <a:pt x="226" y="179"/>
                    <a:pt x="213" y="144"/>
                  </a:cubicBezTo>
                  <a:cubicBezTo>
                    <a:pt x="198" y="104"/>
                    <a:pt x="166" y="74"/>
                    <a:pt x="138" y="44"/>
                  </a:cubicBezTo>
                  <a:cubicBezTo>
                    <a:pt x="119" y="23"/>
                    <a:pt x="91" y="0"/>
                    <a:pt x="63" y="18"/>
                  </a:cubicBezTo>
                  <a:cubicBezTo>
                    <a:pt x="43" y="31"/>
                    <a:pt x="26" y="67"/>
                    <a:pt x="0" y="59"/>
                  </a:cubicBezTo>
                </a:path>
              </a:pathLst>
            </a:custGeom>
            <a:solidFill>
              <a:srgbClr val="A9CC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09" name="Freeform 97"/>
            <p:cNvSpPr/>
            <p:nvPr/>
          </p:nvSpPr>
          <p:spPr bwMode="auto">
            <a:xfrm>
              <a:off x="3729" y="2925"/>
              <a:ext cx="152" cy="61"/>
            </a:xfrm>
            <a:custGeom>
              <a:avLst/>
              <a:gdLst>
                <a:gd name="T0" fmla="*/ 0 w 144"/>
                <a:gd name="T1" fmla="*/ 37 h 58"/>
                <a:gd name="T2" fmla="*/ 92 w 144"/>
                <a:gd name="T3" fmla="*/ 58 h 58"/>
                <a:gd name="T4" fmla="*/ 134 w 144"/>
                <a:gd name="T5" fmla="*/ 33 h 58"/>
                <a:gd name="T6" fmla="*/ 169 w 144"/>
                <a:gd name="T7" fmla="*/ 1 h 58"/>
                <a:gd name="T8" fmla="*/ 133 w 144"/>
                <a:gd name="T9" fmla="*/ 16 h 58"/>
                <a:gd name="T10" fmla="*/ 83 w 144"/>
                <a:gd name="T11" fmla="*/ 39 h 58"/>
                <a:gd name="T12" fmla="*/ 42 w 144"/>
                <a:gd name="T13" fmla="*/ 46 h 58"/>
                <a:gd name="T14" fmla="*/ 2 w 144"/>
                <a:gd name="T15" fmla="*/ 40 h 5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44" h="58">
                  <a:moveTo>
                    <a:pt x="0" y="31"/>
                  </a:moveTo>
                  <a:cubicBezTo>
                    <a:pt x="22" y="40"/>
                    <a:pt x="54" y="58"/>
                    <a:pt x="78" y="49"/>
                  </a:cubicBezTo>
                  <a:cubicBezTo>
                    <a:pt x="90" y="45"/>
                    <a:pt x="104" y="36"/>
                    <a:pt x="114" y="28"/>
                  </a:cubicBezTo>
                  <a:cubicBezTo>
                    <a:pt x="123" y="19"/>
                    <a:pt x="132" y="6"/>
                    <a:pt x="144" y="1"/>
                  </a:cubicBezTo>
                  <a:cubicBezTo>
                    <a:pt x="133" y="0"/>
                    <a:pt x="121" y="7"/>
                    <a:pt x="113" y="13"/>
                  </a:cubicBezTo>
                  <a:cubicBezTo>
                    <a:pt x="99" y="23"/>
                    <a:pt x="87" y="29"/>
                    <a:pt x="71" y="33"/>
                  </a:cubicBezTo>
                  <a:cubicBezTo>
                    <a:pt x="60" y="36"/>
                    <a:pt x="48" y="42"/>
                    <a:pt x="36" y="40"/>
                  </a:cubicBezTo>
                  <a:cubicBezTo>
                    <a:pt x="30" y="40"/>
                    <a:pt x="4" y="37"/>
                    <a:pt x="2" y="34"/>
                  </a:cubicBezTo>
                </a:path>
              </a:pathLst>
            </a:custGeom>
            <a:solidFill>
              <a:srgbClr val="A9CC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10" name="Freeform 98"/>
            <p:cNvSpPr/>
            <p:nvPr/>
          </p:nvSpPr>
          <p:spPr bwMode="auto">
            <a:xfrm>
              <a:off x="3712" y="3528"/>
              <a:ext cx="156" cy="102"/>
            </a:xfrm>
            <a:custGeom>
              <a:avLst/>
              <a:gdLst>
                <a:gd name="T0" fmla="*/ 0 w 148"/>
                <a:gd name="T1" fmla="*/ 74 h 97"/>
                <a:gd name="T2" fmla="*/ 0 w 148"/>
                <a:gd name="T3" fmla="*/ 108 h 97"/>
                <a:gd name="T4" fmla="*/ 16 w 148"/>
                <a:gd name="T5" fmla="*/ 104 h 97"/>
                <a:gd name="T6" fmla="*/ 30 w 148"/>
                <a:gd name="T7" fmla="*/ 100 h 97"/>
                <a:gd name="T8" fmla="*/ 59 w 148"/>
                <a:gd name="T9" fmla="*/ 67 h 97"/>
                <a:gd name="T10" fmla="*/ 173 w 148"/>
                <a:gd name="T11" fmla="*/ 0 h 97"/>
                <a:gd name="T12" fmla="*/ 60 w 148"/>
                <a:gd name="T13" fmla="*/ 40 h 97"/>
                <a:gd name="T14" fmla="*/ 5 w 148"/>
                <a:gd name="T15" fmla="*/ 78 h 9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48" h="97">
                  <a:moveTo>
                    <a:pt x="0" y="64"/>
                  </a:moveTo>
                  <a:cubicBezTo>
                    <a:pt x="15" y="72"/>
                    <a:pt x="5" y="82"/>
                    <a:pt x="0" y="93"/>
                  </a:cubicBezTo>
                  <a:cubicBezTo>
                    <a:pt x="7" y="97"/>
                    <a:pt x="8" y="91"/>
                    <a:pt x="13" y="89"/>
                  </a:cubicBezTo>
                  <a:cubicBezTo>
                    <a:pt x="16" y="88"/>
                    <a:pt x="23" y="87"/>
                    <a:pt x="26" y="86"/>
                  </a:cubicBezTo>
                  <a:cubicBezTo>
                    <a:pt x="35" y="81"/>
                    <a:pt x="41" y="66"/>
                    <a:pt x="50" y="58"/>
                  </a:cubicBezTo>
                  <a:cubicBezTo>
                    <a:pt x="78" y="31"/>
                    <a:pt x="115" y="18"/>
                    <a:pt x="148" y="0"/>
                  </a:cubicBezTo>
                  <a:cubicBezTo>
                    <a:pt x="117" y="13"/>
                    <a:pt x="81" y="17"/>
                    <a:pt x="51" y="34"/>
                  </a:cubicBezTo>
                  <a:cubicBezTo>
                    <a:pt x="37" y="42"/>
                    <a:pt x="19" y="68"/>
                    <a:pt x="5" y="67"/>
                  </a:cubicBezTo>
                </a:path>
              </a:pathLst>
            </a:custGeom>
            <a:solidFill>
              <a:srgbClr val="A9CC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11" name="Freeform 99"/>
            <p:cNvSpPr/>
            <p:nvPr/>
          </p:nvSpPr>
          <p:spPr bwMode="auto">
            <a:xfrm>
              <a:off x="4769" y="3026"/>
              <a:ext cx="277" cy="34"/>
            </a:xfrm>
            <a:custGeom>
              <a:avLst/>
              <a:gdLst>
                <a:gd name="T0" fmla="*/ 9 w 263"/>
                <a:gd name="T1" fmla="*/ 30 h 32"/>
                <a:gd name="T2" fmla="*/ 43 w 263"/>
                <a:gd name="T3" fmla="*/ 17 h 32"/>
                <a:gd name="T4" fmla="*/ 74 w 263"/>
                <a:gd name="T5" fmla="*/ 13 h 32"/>
                <a:gd name="T6" fmla="*/ 137 w 263"/>
                <a:gd name="T7" fmla="*/ 26 h 32"/>
                <a:gd name="T8" fmla="*/ 202 w 263"/>
                <a:gd name="T9" fmla="*/ 36 h 32"/>
                <a:gd name="T10" fmla="*/ 308 w 263"/>
                <a:gd name="T11" fmla="*/ 24 h 32"/>
                <a:gd name="T12" fmla="*/ 220 w 263"/>
                <a:gd name="T13" fmla="*/ 23 h 32"/>
                <a:gd name="T14" fmla="*/ 126 w 263"/>
                <a:gd name="T15" fmla="*/ 16 h 32"/>
                <a:gd name="T16" fmla="*/ 57 w 263"/>
                <a:gd name="T17" fmla="*/ 4 h 32"/>
                <a:gd name="T18" fmla="*/ 0 w 263"/>
                <a:gd name="T19" fmla="*/ 38 h 3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63" h="32">
                  <a:moveTo>
                    <a:pt x="9" y="24"/>
                  </a:moveTo>
                  <a:cubicBezTo>
                    <a:pt x="18" y="23"/>
                    <a:pt x="28" y="17"/>
                    <a:pt x="37" y="14"/>
                  </a:cubicBezTo>
                  <a:cubicBezTo>
                    <a:pt x="45" y="11"/>
                    <a:pt x="54" y="10"/>
                    <a:pt x="63" y="10"/>
                  </a:cubicBezTo>
                  <a:cubicBezTo>
                    <a:pt x="82" y="9"/>
                    <a:pt x="100" y="13"/>
                    <a:pt x="117" y="22"/>
                  </a:cubicBezTo>
                  <a:cubicBezTo>
                    <a:pt x="135" y="32"/>
                    <a:pt x="152" y="32"/>
                    <a:pt x="173" y="30"/>
                  </a:cubicBezTo>
                  <a:cubicBezTo>
                    <a:pt x="203" y="27"/>
                    <a:pt x="233" y="23"/>
                    <a:pt x="263" y="21"/>
                  </a:cubicBezTo>
                  <a:cubicBezTo>
                    <a:pt x="240" y="15"/>
                    <a:pt x="212" y="22"/>
                    <a:pt x="188" y="20"/>
                  </a:cubicBezTo>
                  <a:cubicBezTo>
                    <a:pt x="162" y="18"/>
                    <a:pt x="134" y="20"/>
                    <a:pt x="108" y="13"/>
                  </a:cubicBezTo>
                  <a:cubicBezTo>
                    <a:pt x="86" y="8"/>
                    <a:pt x="71" y="0"/>
                    <a:pt x="48" y="4"/>
                  </a:cubicBezTo>
                  <a:cubicBezTo>
                    <a:pt x="34" y="6"/>
                    <a:pt x="1" y="16"/>
                    <a:pt x="0" y="32"/>
                  </a:cubicBezTo>
                </a:path>
              </a:pathLst>
            </a:custGeom>
            <a:solidFill>
              <a:srgbClr val="A9CC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12" name="Freeform 100"/>
            <p:cNvSpPr/>
            <p:nvPr/>
          </p:nvSpPr>
          <p:spPr bwMode="auto">
            <a:xfrm>
              <a:off x="4668" y="3145"/>
              <a:ext cx="59" cy="122"/>
            </a:xfrm>
            <a:custGeom>
              <a:avLst/>
              <a:gdLst>
                <a:gd name="T0" fmla="*/ 54 w 56"/>
                <a:gd name="T1" fmla="*/ 0 h 115"/>
                <a:gd name="T2" fmla="*/ 32 w 56"/>
                <a:gd name="T3" fmla="*/ 62 h 115"/>
                <a:gd name="T4" fmla="*/ 65 w 56"/>
                <a:gd name="T5" fmla="*/ 137 h 115"/>
                <a:gd name="T6" fmla="*/ 46 w 56"/>
                <a:gd name="T7" fmla="*/ 4 h 11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6" h="115">
                  <a:moveTo>
                    <a:pt x="46" y="0"/>
                  </a:moveTo>
                  <a:cubicBezTo>
                    <a:pt x="36" y="14"/>
                    <a:pt x="26" y="35"/>
                    <a:pt x="27" y="52"/>
                  </a:cubicBezTo>
                  <a:cubicBezTo>
                    <a:pt x="29" y="76"/>
                    <a:pt x="49" y="93"/>
                    <a:pt x="56" y="115"/>
                  </a:cubicBezTo>
                  <a:cubicBezTo>
                    <a:pt x="27" y="92"/>
                    <a:pt x="0" y="29"/>
                    <a:pt x="40" y="4"/>
                  </a:cubicBezTo>
                </a:path>
              </a:pathLst>
            </a:custGeom>
            <a:solidFill>
              <a:srgbClr val="A9CC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13" name="Freeform 101"/>
            <p:cNvSpPr/>
            <p:nvPr/>
          </p:nvSpPr>
          <p:spPr bwMode="auto">
            <a:xfrm>
              <a:off x="4326" y="2774"/>
              <a:ext cx="157" cy="221"/>
            </a:xfrm>
            <a:custGeom>
              <a:avLst/>
              <a:gdLst>
                <a:gd name="T0" fmla="*/ 22 w 149"/>
                <a:gd name="T1" fmla="*/ 36 h 210"/>
                <a:gd name="T2" fmla="*/ 1 w 149"/>
                <a:gd name="T3" fmla="*/ 118 h 210"/>
                <a:gd name="T4" fmla="*/ 58 w 149"/>
                <a:gd name="T5" fmla="*/ 197 h 210"/>
                <a:gd name="T6" fmla="*/ 141 w 149"/>
                <a:gd name="T7" fmla="*/ 244 h 210"/>
                <a:gd name="T8" fmla="*/ 170 w 149"/>
                <a:gd name="T9" fmla="*/ 232 h 210"/>
                <a:gd name="T10" fmla="*/ 156 w 149"/>
                <a:gd name="T11" fmla="*/ 208 h 210"/>
                <a:gd name="T12" fmla="*/ 125 w 149"/>
                <a:gd name="T13" fmla="*/ 142 h 210"/>
                <a:gd name="T14" fmla="*/ 103 w 149"/>
                <a:gd name="T15" fmla="*/ 60 h 210"/>
                <a:gd name="T16" fmla="*/ 26 w 149"/>
                <a:gd name="T17" fmla="*/ 41 h 21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49" h="210">
                  <a:moveTo>
                    <a:pt x="19" y="30"/>
                  </a:moveTo>
                  <a:cubicBezTo>
                    <a:pt x="13" y="54"/>
                    <a:pt x="1" y="74"/>
                    <a:pt x="1" y="101"/>
                  </a:cubicBezTo>
                  <a:cubicBezTo>
                    <a:pt x="0" y="133"/>
                    <a:pt x="24" y="154"/>
                    <a:pt x="49" y="169"/>
                  </a:cubicBezTo>
                  <a:cubicBezTo>
                    <a:pt x="71" y="182"/>
                    <a:pt x="96" y="205"/>
                    <a:pt x="121" y="209"/>
                  </a:cubicBezTo>
                  <a:cubicBezTo>
                    <a:pt x="131" y="210"/>
                    <a:pt x="141" y="209"/>
                    <a:pt x="145" y="199"/>
                  </a:cubicBezTo>
                  <a:cubicBezTo>
                    <a:pt x="149" y="187"/>
                    <a:pt x="140" y="185"/>
                    <a:pt x="133" y="179"/>
                  </a:cubicBezTo>
                  <a:cubicBezTo>
                    <a:pt x="114" y="162"/>
                    <a:pt x="106" y="147"/>
                    <a:pt x="107" y="122"/>
                  </a:cubicBezTo>
                  <a:cubicBezTo>
                    <a:pt x="108" y="95"/>
                    <a:pt x="106" y="73"/>
                    <a:pt x="88" y="51"/>
                  </a:cubicBezTo>
                  <a:cubicBezTo>
                    <a:pt x="78" y="37"/>
                    <a:pt x="34" y="0"/>
                    <a:pt x="23" y="35"/>
                  </a:cubicBezTo>
                </a:path>
              </a:pathLst>
            </a:custGeom>
            <a:solidFill>
              <a:srgbClr val="D7E5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14" name="Freeform 102"/>
            <p:cNvSpPr/>
            <p:nvPr/>
          </p:nvSpPr>
          <p:spPr bwMode="auto">
            <a:xfrm>
              <a:off x="3879" y="2348"/>
              <a:ext cx="189" cy="157"/>
            </a:xfrm>
            <a:custGeom>
              <a:avLst/>
              <a:gdLst>
                <a:gd name="T0" fmla="*/ 0 w 180"/>
                <a:gd name="T1" fmla="*/ 0 h 149"/>
                <a:gd name="T2" fmla="*/ 50 w 180"/>
                <a:gd name="T3" fmla="*/ 28 h 149"/>
                <a:gd name="T4" fmla="*/ 116 w 180"/>
                <a:gd name="T5" fmla="*/ 68 h 149"/>
                <a:gd name="T6" fmla="*/ 208 w 180"/>
                <a:gd name="T7" fmla="*/ 174 h 149"/>
                <a:gd name="T8" fmla="*/ 159 w 180"/>
                <a:gd name="T9" fmla="*/ 103 h 149"/>
                <a:gd name="T10" fmla="*/ 122 w 180"/>
                <a:gd name="T11" fmla="*/ 66 h 149"/>
                <a:gd name="T12" fmla="*/ 2 w 180"/>
                <a:gd name="T13" fmla="*/ 6 h 14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0" h="149">
                  <a:moveTo>
                    <a:pt x="0" y="0"/>
                  </a:moveTo>
                  <a:cubicBezTo>
                    <a:pt x="6" y="8"/>
                    <a:pt x="33" y="19"/>
                    <a:pt x="44" y="25"/>
                  </a:cubicBezTo>
                  <a:cubicBezTo>
                    <a:pt x="63" y="35"/>
                    <a:pt x="82" y="47"/>
                    <a:pt x="100" y="59"/>
                  </a:cubicBezTo>
                  <a:cubicBezTo>
                    <a:pt x="135" y="82"/>
                    <a:pt x="157" y="115"/>
                    <a:pt x="180" y="149"/>
                  </a:cubicBezTo>
                  <a:cubicBezTo>
                    <a:pt x="166" y="129"/>
                    <a:pt x="152" y="108"/>
                    <a:pt x="137" y="88"/>
                  </a:cubicBezTo>
                  <a:cubicBezTo>
                    <a:pt x="128" y="74"/>
                    <a:pt x="118" y="66"/>
                    <a:pt x="105" y="57"/>
                  </a:cubicBezTo>
                  <a:cubicBezTo>
                    <a:pt x="77" y="38"/>
                    <a:pt x="37" y="10"/>
                    <a:pt x="2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15" name="Freeform 103"/>
            <p:cNvSpPr/>
            <p:nvPr/>
          </p:nvSpPr>
          <p:spPr bwMode="auto">
            <a:xfrm>
              <a:off x="3786" y="2088"/>
              <a:ext cx="49" cy="172"/>
            </a:xfrm>
            <a:custGeom>
              <a:avLst/>
              <a:gdLst>
                <a:gd name="T0" fmla="*/ 0 w 47"/>
                <a:gd name="T1" fmla="*/ 0 h 163"/>
                <a:gd name="T2" fmla="*/ 36 w 47"/>
                <a:gd name="T3" fmla="*/ 93 h 163"/>
                <a:gd name="T4" fmla="*/ 53 w 47"/>
                <a:gd name="T5" fmla="*/ 191 h 163"/>
                <a:gd name="T6" fmla="*/ 42 w 47"/>
                <a:gd name="T7" fmla="*/ 126 h 163"/>
                <a:gd name="T8" fmla="*/ 44 w 47"/>
                <a:gd name="T9" fmla="*/ 72 h 163"/>
                <a:gd name="T10" fmla="*/ 34 w 47"/>
                <a:gd name="T11" fmla="*/ 37 h 163"/>
                <a:gd name="T12" fmla="*/ 4 w 47"/>
                <a:gd name="T13" fmla="*/ 1 h 16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7" h="163">
                  <a:moveTo>
                    <a:pt x="0" y="0"/>
                  </a:moveTo>
                  <a:cubicBezTo>
                    <a:pt x="26" y="2"/>
                    <a:pt x="33" y="58"/>
                    <a:pt x="33" y="79"/>
                  </a:cubicBezTo>
                  <a:cubicBezTo>
                    <a:pt x="34" y="109"/>
                    <a:pt x="39" y="133"/>
                    <a:pt x="47" y="163"/>
                  </a:cubicBezTo>
                  <a:cubicBezTo>
                    <a:pt x="43" y="145"/>
                    <a:pt x="35" y="125"/>
                    <a:pt x="36" y="107"/>
                  </a:cubicBezTo>
                  <a:cubicBezTo>
                    <a:pt x="36" y="91"/>
                    <a:pt x="38" y="77"/>
                    <a:pt x="38" y="61"/>
                  </a:cubicBezTo>
                  <a:cubicBezTo>
                    <a:pt x="37" y="49"/>
                    <a:pt x="36" y="41"/>
                    <a:pt x="31" y="31"/>
                  </a:cubicBezTo>
                  <a:cubicBezTo>
                    <a:pt x="24" y="17"/>
                    <a:pt x="12" y="13"/>
                    <a:pt x="4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16" name="Freeform 104"/>
            <p:cNvSpPr/>
            <p:nvPr/>
          </p:nvSpPr>
          <p:spPr bwMode="auto">
            <a:xfrm>
              <a:off x="3924" y="2836"/>
              <a:ext cx="224" cy="107"/>
            </a:xfrm>
            <a:custGeom>
              <a:avLst/>
              <a:gdLst>
                <a:gd name="T0" fmla="*/ 227 w 213"/>
                <a:gd name="T1" fmla="*/ 0 h 102"/>
                <a:gd name="T2" fmla="*/ 187 w 213"/>
                <a:gd name="T3" fmla="*/ 71 h 102"/>
                <a:gd name="T4" fmla="*/ 128 w 213"/>
                <a:gd name="T5" fmla="*/ 100 h 102"/>
                <a:gd name="T6" fmla="*/ 52 w 213"/>
                <a:gd name="T7" fmla="*/ 89 h 102"/>
                <a:gd name="T8" fmla="*/ 0 w 213"/>
                <a:gd name="T9" fmla="*/ 78 h 102"/>
                <a:gd name="T10" fmla="*/ 103 w 213"/>
                <a:gd name="T11" fmla="*/ 111 h 102"/>
                <a:gd name="T12" fmla="*/ 184 w 213"/>
                <a:gd name="T13" fmla="*/ 88 h 102"/>
                <a:gd name="T14" fmla="*/ 229 w 213"/>
                <a:gd name="T15" fmla="*/ 43 h 102"/>
                <a:gd name="T16" fmla="*/ 245 w 213"/>
                <a:gd name="T17" fmla="*/ 27 h 102"/>
                <a:gd name="T18" fmla="*/ 227 w 213"/>
                <a:gd name="T19" fmla="*/ 3 h 10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13" h="102">
                  <a:moveTo>
                    <a:pt x="195" y="0"/>
                  </a:moveTo>
                  <a:cubicBezTo>
                    <a:pt x="197" y="23"/>
                    <a:pt x="176" y="47"/>
                    <a:pt x="161" y="62"/>
                  </a:cubicBezTo>
                  <a:cubicBezTo>
                    <a:pt x="146" y="75"/>
                    <a:pt x="130" y="84"/>
                    <a:pt x="110" y="87"/>
                  </a:cubicBezTo>
                  <a:cubicBezTo>
                    <a:pt x="89" y="91"/>
                    <a:pt x="65" y="86"/>
                    <a:pt x="45" y="77"/>
                  </a:cubicBezTo>
                  <a:cubicBezTo>
                    <a:pt x="28" y="69"/>
                    <a:pt x="19" y="63"/>
                    <a:pt x="0" y="68"/>
                  </a:cubicBezTo>
                  <a:cubicBezTo>
                    <a:pt x="31" y="67"/>
                    <a:pt x="58" y="90"/>
                    <a:pt x="88" y="96"/>
                  </a:cubicBezTo>
                  <a:cubicBezTo>
                    <a:pt x="116" y="102"/>
                    <a:pt x="136" y="94"/>
                    <a:pt x="158" y="76"/>
                  </a:cubicBezTo>
                  <a:cubicBezTo>
                    <a:pt x="171" y="64"/>
                    <a:pt x="181" y="46"/>
                    <a:pt x="197" y="37"/>
                  </a:cubicBezTo>
                  <a:cubicBezTo>
                    <a:pt x="204" y="33"/>
                    <a:pt x="213" y="35"/>
                    <a:pt x="211" y="24"/>
                  </a:cubicBezTo>
                  <a:cubicBezTo>
                    <a:pt x="209" y="16"/>
                    <a:pt x="197" y="12"/>
                    <a:pt x="195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17" name="Freeform 105"/>
            <p:cNvSpPr/>
            <p:nvPr/>
          </p:nvSpPr>
          <p:spPr bwMode="auto">
            <a:xfrm>
              <a:off x="4087" y="3134"/>
              <a:ext cx="241" cy="217"/>
            </a:xfrm>
            <a:custGeom>
              <a:avLst/>
              <a:gdLst>
                <a:gd name="T0" fmla="*/ 245 w 229"/>
                <a:gd name="T1" fmla="*/ 0 h 206"/>
                <a:gd name="T2" fmla="*/ 203 w 229"/>
                <a:gd name="T3" fmla="*/ 112 h 206"/>
                <a:gd name="T4" fmla="*/ 121 w 229"/>
                <a:gd name="T5" fmla="*/ 150 h 206"/>
                <a:gd name="T6" fmla="*/ 52 w 229"/>
                <a:gd name="T7" fmla="*/ 173 h 206"/>
                <a:gd name="T8" fmla="*/ 0 w 229"/>
                <a:gd name="T9" fmla="*/ 241 h 206"/>
                <a:gd name="T10" fmla="*/ 40 w 229"/>
                <a:gd name="T11" fmla="*/ 204 h 206"/>
                <a:gd name="T12" fmla="*/ 71 w 229"/>
                <a:gd name="T13" fmla="*/ 170 h 206"/>
                <a:gd name="T14" fmla="*/ 112 w 229"/>
                <a:gd name="T15" fmla="*/ 162 h 206"/>
                <a:gd name="T16" fmla="*/ 163 w 229"/>
                <a:gd name="T17" fmla="*/ 147 h 206"/>
                <a:gd name="T18" fmla="*/ 227 w 229"/>
                <a:gd name="T19" fmla="*/ 92 h 206"/>
                <a:gd name="T20" fmla="*/ 241 w 229"/>
                <a:gd name="T21" fmla="*/ 51 h 206"/>
                <a:gd name="T22" fmla="*/ 267 w 229"/>
                <a:gd name="T23" fmla="*/ 22 h 206"/>
                <a:gd name="T24" fmla="*/ 247 w 229"/>
                <a:gd name="T25" fmla="*/ 5 h 20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29" h="206">
                  <a:moveTo>
                    <a:pt x="210" y="0"/>
                  </a:moveTo>
                  <a:cubicBezTo>
                    <a:pt x="211" y="33"/>
                    <a:pt x="194" y="71"/>
                    <a:pt x="174" y="96"/>
                  </a:cubicBezTo>
                  <a:cubicBezTo>
                    <a:pt x="158" y="116"/>
                    <a:pt x="129" y="125"/>
                    <a:pt x="104" y="128"/>
                  </a:cubicBezTo>
                  <a:cubicBezTo>
                    <a:pt x="78" y="132"/>
                    <a:pt x="64" y="128"/>
                    <a:pt x="45" y="148"/>
                  </a:cubicBezTo>
                  <a:cubicBezTo>
                    <a:pt x="29" y="164"/>
                    <a:pt x="9" y="185"/>
                    <a:pt x="0" y="206"/>
                  </a:cubicBezTo>
                  <a:cubicBezTo>
                    <a:pt x="11" y="197"/>
                    <a:pt x="24" y="186"/>
                    <a:pt x="34" y="175"/>
                  </a:cubicBezTo>
                  <a:cubicBezTo>
                    <a:pt x="43" y="166"/>
                    <a:pt x="50" y="152"/>
                    <a:pt x="61" y="145"/>
                  </a:cubicBezTo>
                  <a:cubicBezTo>
                    <a:pt x="72" y="138"/>
                    <a:pt x="84" y="141"/>
                    <a:pt x="96" y="139"/>
                  </a:cubicBezTo>
                  <a:cubicBezTo>
                    <a:pt x="111" y="136"/>
                    <a:pt x="126" y="132"/>
                    <a:pt x="140" y="126"/>
                  </a:cubicBezTo>
                  <a:cubicBezTo>
                    <a:pt x="163" y="117"/>
                    <a:pt x="183" y="101"/>
                    <a:pt x="195" y="79"/>
                  </a:cubicBezTo>
                  <a:cubicBezTo>
                    <a:pt x="200" y="68"/>
                    <a:pt x="203" y="55"/>
                    <a:pt x="207" y="44"/>
                  </a:cubicBezTo>
                  <a:cubicBezTo>
                    <a:pt x="213" y="30"/>
                    <a:pt x="219" y="29"/>
                    <a:pt x="229" y="19"/>
                  </a:cubicBezTo>
                  <a:cubicBezTo>
                    <a:pt x="222" y="15"/>
                    <a:pt x="214" y="15"/>
                    <a:pt x="212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18" name="Freeform 106"/>
            <p:cNvSpPr/>
            <p:nvPr/>
          </p:nvSpPr>
          <p:spPr bwMode="auto">
            <a:xfrm>
              <a:off x="4611" y="3207"/>
              <a:ext cx="105" cy="339"/>
            </a:xfrm>
            <a:custGeom>
              <a:avLst/>
              <a:gdLst>
                <a:gd name="T0" fmla="*/ 0 w 100"/>
                <a:gd name="T1" fmla="*/ 38 h 322"/>
                <a:gd name="T2" fmla="*/ 56 w 100"/>
                <a:gd name="T3" fmla="*/ 139 h 322"/>
                <a:gd name="T4" fmla="*/ 67 w 100"/>
                <a:gd name="T5" fmla="*/ 238 h 322"/>
                <a:gd name="T6" fmla="*/ 116 w 100"/>
                <a:gd name="T7" fmla="*/ 376 h 322"/>
                <a:gd name="T8" fmla="*/ 80 w 100"/>
                <a:gd name="T9" fmla="*/ 290 h 322"/>
                <a:gd name="T10" fmla="*/ 75 w 100"/>
                <a:gd name="T11" fmla="*/ 190 h 322"/>
                <a:gd name="T12" fmla="*/ 50 w 100"/>
                <a:gd name="T13" fmla="*/ 103 h 322"/>
                <a:gd name="T14" fmla="*/ 36 w 100"/>
                <a:gd name="T15" fmla="*/ 51 h 322"/>
                <a:gd name="T16" fmla="*/ 29 w 100"/>
                <a:gd name="T17" fmla="*/ 0 h 322"/>
                <a:gd name="T18" fmla="*/ 8 w 100"/>
                <a:gd name="T19" fmla="*/ 39 h 32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00" h="322">
                  <a:moveTo>
                    <a:pt x="0" y="32"/>
                  </a:moveTo>
                  <a:cubicBezTo>
                    <a:pt x="7" y="65"/>
                    <a:pt x="37" y="89"/>
                    <a:pt x="48" y="119"/>
                  </a:cubicBezTo>
                  <a:cubicBezTo>
                    <a:pt x="58" y="146"/>
                    <a:pt x="56" y="175"/>
                    <a:pt x="58" y="204"/>
                  </a:cubicBezTo>
                  <a:cubicBezTo>
                    <a:pt x="61" y="243"/>
                    <a:pt x="56" y="302"/>
                    <a:pt x="100" y="322"/>
                  </a:cubicBezTo>
                  <a:cubicBezTo>
                    <a:pt x="86" y="297"/>
                    <a:pt x="73" y="276"/>
                    <a:pt x="69" y="248"/>
                  </a:cubicBezTo>
                  <a:cubicBezTo>
                    <a:pt x="65" y="219"/>
                    <a:pt x="68" y="190"/>
                    <a:pt x="65" y="162"/>
                  </a:cubicBezTo>
                  <a:cubicBezTo>
                    <a:pt x="61" y="135"/>
                    <a:pt x="56" y="113"/>
                    <a:pt x="44" y="88"/>
                  </a:cubicBezTo>
                  <a:cubicBezTo>
                    <a:pt x="37" y="74"/>
                    <a:pt x="32" y="59"/>
                    <a:pt x="30" y="44"/>
                  </a:cubicBezTo>
                  <a:cubicBezTo>
                    <a:pt x="28" y="31"/>
                    <a:pt x="34" y="11"/>
                    <a:pt x="26" y="0"/>
                  </a:cubicBezTo>
                  <a:cubicBezTo>
                    <a:pt x="13" y="6"/>
                    <a:pt x="25" y="28"/>
                    <a:pt x="8" y="3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19" name="Freeform 107"/>
            <p:cNvSpPr/>
            <p:nvPr/>
          </p:nvSpPr>
          <p:spPr bwMode="auto">
            <a:xfrm>
              <a:off x="4708" y="3576"/>
              <a:ext cx="111" cy="55"/>
            </a:xfrm>
            <a:custGeom>
              <a:avLst/>
              <a:gdLst>
                <a:gd name="T0" fmla="*/ 26 w 106"/>
                <a:gd name="T1" fmla="*/ 4 h 52"/>
                <a:gd name="T2" fmla="*/ 28 w 106"/>
                <a:gd name="T3" fmla="*/ 33 h 52"/>
                <a:gd name="T4" fmla="*/ 0 w 106"/>
                <a:gd name="T5" fmla="*/ 61 h 52"/>
                <a:gd name="T6" fmla="*/ 45 w 106"/>
                <a:gd name="T7" fmla="*/ 26 h 52"/>
                <a:gd name="T8" fmla="*/ 121 w 106"/>
                <a:gd name="T9" fmla="*/ 54 h 52"/>
                <a:gd name="T10" fmla="*/ 70 w 106"/>
                <a:gd name="T11" fmla="*/ 21 h 52"/>
                <a:gd name="T12" fmla="*/ 26 w 106"/>
                <a:gd name="T13" fmla="*/ 0 h 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06" h="52">
                  <a:moveTo>
                    <a:pt x="23" y="4"/>
                  </a:moveTo>
                  <a:cubicBezTo>
                    <a:pt x="22" y="6"/>
                    <a:pt x="27" y="20"/>
                    <a:pt x="25" y="27"/>
                  </a:cubicBezTo>
                  <a:cubicBezTo>
                    <a:pt x="21" y="37"/>
                    <a:pt x="11" y="49"/>
                    <a:pt x="0" y="52"/>
                  </a:cubicBezTo>
                  <a:cubicBezTo>
                    <a:pt x="16" y="46"/>
                    <a:pt x="23" y="27"/>
                    <a:pt x="39" y="23"/>
                  </a:cubicBezTo>
                  <a:cubicBezTo>
                    <a:pt x="56" y="17"/>
                    <a:pt x="93" y="32"/>
                    <a:pt x="106" y="45"/>
                  </a:cubicBezTo>
                  <a:cubicBezTo>
                    <a:pt x="91" y="33"/>
                    <a:pt x="80" y="23"/>
                    <a:pt x="61" y="18"/>
                  </a:cubicBezTo>
                  <a:cubicBezTo>
                    <a:pt x="42" y="13"/>
                    <a:pt x="34" y="18"/>
                    <a:pt x="2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20" name="Freeform 108"/>
            <p:cNvSpPr/>
            <p:nvPr/>
          </p:nvSpPr>
          <p:spPr bwMode="auto">
            <a:xfrm>
              <a:off x="4775" y="2970"/>
              <a:ext cx="196" cy="78"/>
            </a:xfrm>
            <a:custGeom>
              <a:avLst/>
              <a:gdLst>
                <a:gd name="T0" fmla="*/ 3 w 186"/>
                <a:gd name="T1" fmla="*/ 0 h 74"/>
                <a:gd name="T2" fmla="*/ 58 w 186"/>
                <a:gd name="T3" fmla="*/ 26 h 74"/>
                <a:gd name="T4" fmla="*/ 106 w 186"/>
                <a:gd name="T5" fmla="*/ 43 h 74"/>
                <a:gd name="T6" fmla="*/ 164 w 186"/>
                <a:gd name="T7" fmla="*/ 63 h 74"/>
                <a:gd name="T8" fmla="*/ 218 w 186"/>
                <a:gd name="T9" fmla="*/ 84 h 74"/>
                <a:gd name="T10" fmla="*/ 140 w 186"/>
                <a:gd name="T11" fmla="*/ 64 h 74"/>
                <a:gd name="T12" fmla="*/ 87 w 186"/>
                <a:gd name="T13" fmla="*/ 42 h 74"/>
                <a:gd name="T14" fmla="*/ 39 w 186"/>
                <a:gd name="T15" fmla="*/ 34 h 74"/>
                <a:gd name="T16" fmla="*/ 1 w 186"/>
                <a:gd name="T17" fmla="*/ 39 h 74"/>
                <a:gd name="T18" fmla="*/ 6 w 186"/>
                <a:gd name="T19" fmla="*/ 8 h 7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86" h="74">
                  <a:moveTo>
                    <a:pt x="3" y="0"/>
                  </a:moveTo>
                  <a:cubicBezTo>
                    <a:pt x="20" y="4"/>
                    <a:pt x="34" y="15"/>
                    <a:pt x="49" y="23"/>
                  </a:cubicBezTo>
                  <a:cubicBezTo>
                    <a:pt x="62" y="29"/>
                    <a:pt x="77" y="32"/>
                    <a:pt x="91" y="37"/>
                  </a:cubicBezTo>
                  <a:cubicBezTo>
                    <a:pt x="108" y="42"/>
                    <a:pt x="123" y="49"/>
                    <a:pt x="140" y="54"/>
                  </a:cubicBezTo>
                  <a:cubicBezTo>
                    <a:pt x="155" y="58"/>
                    <a:pt x="170" y="71"/>
                    <a:pt x="186" y="72"/>
                  </a:cubicBezTo>
                  <a:cubicBezTo>
                    <a:pt x="167" y="74"/>
                    <a:pt x="138" y="62"/>
                    <a:pt x="120" y="55"/>
                  </a:cubicBezTo>
                  <a:cubicBezTo>
                    <a:pt x="105" y="49"/>
                    <a:pt x="90" y="41"/>
                    <a:pt x="75" y="36"/>
                  </a:cubicBezTo>
                  <a:cubicBezTo>
                    <a:pt x="60" y="32"/>
                    <a:pt x="48" y="29"/>
                    <a:pt x="33" y="28"/>
                  </a:cubicBezTo>
                  <a:cubicBezTo>
                    <a:pt x="20" y="26"/>
                    <a:pt x="13" y="30"/>
                    <a:pt x="1" y="33"/>
                  </a:cubicBezTo>
                  <a:cubicBezTo>
                    <a:pt x="0" y="24"/>
                    <a:pt x="16" y="17"/>
                    <a:pt x="6" y="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21" name="Freeform 109"/>
            <p:cNvSpPr/>
            <p:nvPr/>
          </p:nvSpPr>
          <p:spPr bwMode="auto">
            <a:xfrm>
              <a:off x="4703" y="2671"/>
              <a:ext cx="267" cy="78"/>
            </a:xfrm>
            <a:custGeom>
              <a:avLst/>
              <a:gdLst>
                <a:gd name="T0" fmla="*/ 1 w 253"/>
                <a:gd name="T1" fmla="*/ 42 h 74"/>
                <a:gd name="T2" fmla="*/ 205 w 253"/>
                <a:gd name="T3" fmla="*/ 51 h 74"/>
                <a:gd name="T4" fmla="*/ 272 w 253"/>
                <a:gd name="T5" fmla="*/ 38 h 74"/>
                <a:gd name="T6" fmla="*/ 298 w 253"/>
                <a:gd name="T7" fmla="*/ 0 h 74"/>
                <a:gd name="T8" fmla="*/ 295 w 253"/>
                <a:gd name="T9" fmla="*/ 4 h 74"/>
                <a:gd name="T10" fmla="*/ 280 w 253"/>
                <a:gd name="T11" fmla="*/ 86 h 74"/>
                <a:gd name="T12" fmla="*/ 276 w 253"/>
                <a:gd name="T13" fmla="*/ 45 h 74"/>
                <a:gd name="T14" fmla="*/ 147 w 253"/>
                <a:gd name="T15" fmla="*/ 48 h 74"/>
                <a:gd name="T16" fmla="*/ 70 w 253"/>
                <a:gd name="T17" fmla="*/ 40 h 74"/>
                <a:gd name="T18" fmla="*/ 0 w 253"/>
                <a:gd name="T19" fmla="*/ 61 h 74"/>
                <a:gd name="T20" fmla="*/ 1 w 253"/>
                <a:gd name="T21" fmla="*/ 48 h 7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53" h="74">
                  <a:moveTo>
                    <a:pt x="1" y="36"/>
                  </a:moveTo>
                  <a:cubicBezTo>
                    <a:pt x="47" y="7"/>
                    <a:pt x="125" y="32"/>
                    <a:pt x="174" y="44"/>
                  </a:cubicBezTo>
                  <a:cubicBezTo>
                    <a:pt x="195" y="49"/>
                    <a:pt x="217" y="51"/>
                    <a:pt x="231" y="32"/>
                  </a:cubicBezTo>
                  <a:cubicBezTo>
                    <a:pt x="238" y="23"/>
                    <a:pt x="248" y="10"/>
                    <a:pt x="253" y="0"/>
                  </a:cubicBezTo>
                  <a:cubicBezTo>
                    <a:pt x="252" y="2"/>
                    <a:pt x="252" y="2"/>
                    <a:pt x="251" y="4"/>
                  </a:cubicBezTo>
                  <a:cubicBezTo>
                    <a:pt x="247" y="28"/>
                    <a:pt x="233" y="50"/>
                    <a:pt x="238" y="74"/>
                  </a:cubicBezTo>
                  <a:cubicBezTo>
                    <a:pt x="228" y="63"/>
                    <a:pt x="232" y="52"/>
                    <a:pt x="235" y="39"/>
                  </a:cubicBezTo>
                  <a:cubicBezTo>
                    <a:pt x="206" y="74"/>
                    <a:pt x="162" y="47"/>
                    <a:pt x="125" y="42"/>
                  </a:cubicBezTo>
                  <a:cubicBezTo>
                    <a:pt x="103" y="39"/>
                    <a:pt x="82" y="35"/>
                    <a:pt x="60" y="34"/>
                  </a:cubicBezTo>
                  <a:cubicBezTo>
                    <a:pt x="37" y="34"/>
                    <a:pt x="16" y="28"/>
                    <a:pt x="0" y="52"/>
                  </a:cubicBezTo>
                  <a:cubicBezTo>
                    <a:pt x="0" y="49"/>
                    <a:pt x="0" y="46"/>
                    <a:pt x="1" y="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22" name="Freeform 110"/>
            <p:cNvSpPr/>
            <p:nvPr/>
          </p:nvSpPr>
          <p:spPr bwMode="auto">
            <a:xfrm>
              <a:off x="4426" y="2285"/>
              <a:ext cx="183" cy="58"/>
            </a:xfrm>
            <a:custGeom>
              <a:avLst/>
              <a:gdLst>
                <a:gd name="T0" fmla="*/ 12 w 173"/>
                <a:gd name="T1" fmla="*/ 56 h 55"/>
                <a:gd name="T2" fmla="*/ 124 w 173"/>
                <a:gd name="T3" fmla="*/ 20 h 55"/>
                <a:gd name="T4" fmla="*/ 205 w 173"/>
                <a:gd name="T5" fmla="*/ 0 h 55"/>
                <a:gd name="T6" fmla="*/ 79 w 173"/>
                <a:gd name="T7" fmla="*/ 37 h 55"/>
                <a:gd name="T8" fmla="*/ 38 w 173"/>
                <a:gd name="T9" fmla="*/ 58 h 55"/>
                <a:gd name="T10" fmla="*/ 0 w 173"/>
                <a:gd name="T11" fmla="*/ 64 h 5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73" h="55">
                  <a:moveTo>
                    <a:pt x="9" y="47"/>
                  </a:moveTo>
                  <a:cubicBezTo>
                    <a:pt x="37" y="23"/>
                    <a:pt x="71" y="27"/>
                    <a:pt x="105" y="17"/>
                  </a:cubicBezTo>
                  <a:cubicBezTo>
                    <a:pt x="128" y="10"/>
                    <a:pt x="150" y="5"/>
                    <a:pt x="173" y="0"/>
                  </a:cubicBezTo>
                  <a:cubicBezTo>
                    <a:pt x="140" y="18"/>
                    <a:pt x="101" y="16"/>
                    <a:pt x="67" y="31"/>
                  </a:cubicBezTo>
                  <a:cubicBezTo>
                    <a:pt x="55" y="36"/>
                    <a:pt x="44" y="44"/>
                    <a:pt x="32" y="49"/>
                  </a:cubicBezTo>
                  <a:cubicBezTo>
                    <a:pt x="23" y="53"/>
                    <a:pt x="6" y="48"/>
                    <a:pt x="0" y="5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23" name="Freeform 111"/>
            <p:cNvSpPr/>
            <p:nvPr/>
          </p:nvSpPr>
          <p:spPr bwMode="auto">
            <a:xfrm>
              <a:off x="3832" y="2848"/>
              <a:ext cx="49" cy="86"/>
            </a:xfrm>
            <a:custGeom>
              <a:avLst/>
              <a:gdLst>
                <a:gd name="T0" fmla="*/ 1 w 46"/>
                <a:gd name="T1" fmla="*/ 0 h 81"/>
                <a:gd name="T2" fmla="*/ 11 w 46"/>
                <a:gd name="T3" fmla="*/ 94 h 81"/>
                <a:gd name="T4" fmla="*/ 0 w 46"/>
                <a:gd name="T5" fmla="*/ 3 h 8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6" h="81">
                  <a:moveTo>
                    <a:pt x="1" y="0"/>
                  </a:moveTo>
                  <a:cubicBezTo>
                    <a:pt x="23" y="25"/>
                    <a:pt x="29" y="55"/>
                    <a:pt x="8" y="79"/>
                  </a:cubicBezTo>
                  <a:cubicBezTo>
                    <a:pt x="46" y="81"/>
                    <a:pt x="12" y="13"/>
                    <a:pt x="0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0" name="文本框 119"/>
          <p:cNvSpPr txBox="1"/>
          <p:nvPr/>
        </p:nvSpPr>
        <p:spPr>
          <a:xfrm>
            <a:off x="210185" y="4422775"/>
            <a:ext cx="933450" cy="1682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500">
                <a:solidFill>
                  <a:srgbClr val="00B0F0"/>
                </a:solidFill>
              </a:rPr>
              <a:t>Nervous System(6)</a:t>
            </a:r>
            <a:endParaRPr lang="en-US" altLang="zh-CN" sz="500">
              <a:solidFill>
                <a:srgbClr val="00B0F0"/>
              </a:solidFill>
            </a:endParaRPr>
          </a:p>
        </p:txBody>
      </p:sp>
      <p:grpSp>
        <p:nvGrpSpPr>
          <p:cNvPr id="41989" name="Group 363"/>
          <p:cNvGrpSpPr/>
          <p:nvPr/>
        </p:nvGrpSpPr>
        <p:grpSpPr bwMode="auto">
          <a:xfrm>
            <a:off x="1176655" y="4117340"/>
            <a:ext cx="368935" cy="338455"/>
            <a:chOff x="599" y="1237"/>
            <a:chExt cx="715" cy="691"/>
          </a:xfrm>
        </p:grpSpPr>
        <p:sp>
          <p:nvSpPr>
            <p:cNvPr id="41994" name="Freeform 364"/>
            <p:cNvSpPr/>
            <p:nvPr/>
          </p:nvSpPr>
          <p:spPr bwMode="auto">
            <a:xfrm>
              <a:off x="599" y="1237"/>
              <a:ext cx="715" cy="691"/>
            </a:xfrm>
            <a:custGeom>
              <a:avLst/>
              <a:gdLst>
                <a:gd name="T0" fmla="*/ 938 w 286"/>
                <a:gd name="T1" fmla="*/ 491 h 259"/>
                <a:gd name="T2" fmla="*/ 283 w 286"/>
                <a:gd name="T3" fmla="*/ 2620 h 259"/>
                <a:gd name="T4" fmla="*/ 2283 w 286"/>
                <a:gd name="T5" fmla="*/ 4576 h 259"/>
                <a:gd name="T6" fmla="*/ 3988 w 286"/>
                <a:gd name="T7" fmla="*/ 3759 h 259"/>
                <a:gd name="T8" fmla="*/ 938 w 286"/>
                <a:gd name="T9" fmla="*/ 491 h 2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86" h="259">
                  <a:moveTo>
                    <a:pt x="60" y="26"/>
                  </a:moveTo>
                  <a:cubicBezTo>
                    <a:pt x="12" y="44"/>
                    <a:pt x="0" y="90"/>
                    <a:pt x="18" y="138"/>
                  </a:cubicBezTo>
                  <a:cubicBezTo>
                    <a:pt x="36" y="186"/>
                    <a:pt x="92" y="226"/>
                    <a:pt x="146" y="241"/>
                  </a:cubicBezTo>
                  <a:cubicBezTo>
                    <a:pt x="210" y="259"/>
                    <a:pt x="240" y="232"/>
                    <a:pt x="255" y="198"/>
                  </a:cubicBezTo>
                  <a:cubicBezTo>
                    <a:pt x="286" y="124"/>
                    <a:pt x="150" y="0"/>
                    <a:pt x="60" y="26"/>
                  </a:cubicBezTo>
                  <a:close/>
                </a:path>
              </a:pathLst>
            </a:custGeom>
            <a:solidFill>
              <a:srgbClr val="F576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995" name="Freeform 365"/>
            <p:cNvSpPr/>
            <p:nvPr/>
          </p:nvSpPr>
          <p:spPr bwMode="auto">
            <a:xfrm>
              <a:off x="771" y="1264"/>
              <a:ext cx="533" cy="621"/>
            </a:xfrm>
            <a:custGeom>
              <a:avLst/>
              <a:gdLst>
                <a:gd name="T0" fmla="*/ 0 w 213"/>
                <a:gd name="T1" fmla="*/ 341 h 233"/>
                <a:gd name="T2" fmla="*/ 2755 w 213"/>
                <a:gd name="T3" fmla="*/ 3537 h 233"/>
                <a:gd name="T4" fmla="*/ 1942 w 213"/>
                <a:gd name="T5" fmla="*/ 4411 h 233"/>
                <a:gd name="T6" fmla="*/ 2868 w 213"/>
                <a:gd name="T7" fmla="*/ 3523 h 233"/>
                <a:gd name="T8" fmla="*/ 0 w 213"/>
                <a:gd name="T9" fmla="*/ 341 h 23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3" h="233">
                  <a:moveTo>
                    <a:pt x="0" y="18"/>
                  </a:moveTo>
                  <a:cubicBezTo>
                    <a:pt x="87" y="8"/>
                    <a:pt x="204" y="120"/>
                    <a:pt x="176" y="187"/>
                  </a:cubicBezTo>
                  <a:cubicBezTo>
                    <a:pt x="166" y="209"/>
                    <a:pt x="151" y="227"/>
                    <a:pt x="124" y="233"/>
                  </a:cubicBezTo>
                  <a:cubicBezTo>
                    <a:pt x="156" y="229"/>
                    <a:pt x="173" y="209"/>
                    <a:pt x="183" y="186"/>
                  </a:cubicBezTo>
                  <a:cubicBezTo>
                    <a:pt x="213" y="116"/>
                    <a:pt x="87" y="0"/>
                    <a:pt x="0" y="18"/>
                  </a:cubicBezTo>
                  <a:close/>
                </a:path>
              </a:pathLst>
            </a:custGeom>
            <a:solidFill>
              <a:srgbClr val="F44D3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996" name="Freeform 366"/>
            <p:cNvSpPr/>
            <p:nvPr/>
          </p:nvSpPr>
          <p:spPr bwMode="auto">
            <a:xfrm>
              <a:off x="621" y="1339"/>
              <a:ext cx="340" cy="525"/>
            </a:xfrm>
            <a:custGeom>
              <a:avLst/>
              <a:gdLst>
                <a:gd name="T0" fmla="*/ 2125 w 136"/>
                <a:gd name="T1" fmla="*/ 3728 h 197"/>
                <a:gd name="T2" fmla="*/ 375 w 136"/>
                <a:gd name="T3" fmla="*/ 1783 h 197"/>
                <a:gd name="T4" fmla="*/ 613 w 136"/>
                <a:gd name="T5" fmla="*/ 0 h 197"/>
                <a:gd name="T6" fmla="*/ 238 w 136"/>
                <a:gd name="T7" fmla="*/ 1889 h 197"/>
                <a:gd name="T8" fmla="*/ 2125 w 136"/>
                <a:gd name="T9" fmla="*/ 3728 h 197"/>
                <a:gd name="T10" fmla="*/ 2125 w 136"/>
                <a:gd name="T11" fmla="*/ 3728 h 1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36" h="197">
                  <a:moveTo>
                    <a:pt x="136" y="197"/>
                  </a:moveTo>
                  <a:cubicBezTo>
                    <a:pt x="84" y="183"/>
                    <a:pt x="41" y="139"/>
                    <a:pt x="24" y="94"/>
                  </a:cubicBezTo>
                  <a:cubicBezTo>
                    <a:pt x="11" y="58"/>
                    <a:pt x="14" y="22"/>
                    <a:pt x="39" y="0"/>
                  </a:cubicBezTo>
                  <a:cubicBezTo>
                    <a:pt x="6" y="21"/>
                    <a:pt x="0" y="60"/>
                    <a:pt x="15" y="100"/>
                  </a:cubicBezTo>
                  <a:cubicBezTo>
                    <a:pt x="32" y="146"/>
                    <a:pt x="84" y="183"/>
                    <a:pt x="136" y="197"/>
                  </a:cubicBezTo>
                  <a:cubicBezTo>
                    <a:pt x="136" y="197"/>
                    <a:pt x="136" y="197"/>
                    <a:pt x="136" y="197"/>
                  </a:cubicBezTo>
                  <a:close/>
                </a:path>
              </a:pathLst>
            </a:custGeom>
            <a:solidFill>
              <a:srgbClr val="F9BB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997" name="Freeform 367"/>
            <p:cNvSpPr/>
            <p:nvPr/>
          </p:nvSpPr>
          <p:spPr bwMode="auto">
            <a:xfrm>
              <a:off x="726" y="1392"/>
              <a:ext cx="448" cy="405"/>
            </a:xfrm>
            <a:custGeom>
              <a:avLst/>
              <a:gdLst>
                <a:gd name="T0" fmla="*/ 2443 w 179"/>
                <a:gd name="T1" fmla="*/ 2158 h 152"/>
                <a:gd name="T2" fmla="*/ 533 w 179"/>
                <a:gd name="T3" fmla="*/ 1625 h 152"/>
                <a:gd name="T4" fmla="*/ 658 w 179"/>
                <a:gd name="T5" fmla="*/ 77 h 152"/>
                <a:gd name="T6" fmla="*/ 2443 w 179"/>
                <a:gd name="T7" fmla="*/ 2158 h 15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9" h="152">
                  <a:moveTo>
                    <a:pt x="156" y="114"/>
                  </a:moveTo>
                  <a:cubicBezTo>
                    <a:pt x="132" y="152"/>
                    <a:pt x="64" y="122"/>
                    <a:pt x="34" y="86"/>
                  </a:cubicBezTo>
                  <a:cubicBezTo>
                    <a:pt x="4" y="50"/>
                    <a:pt x="0" y="8"/>
                    <a:pt x="42" y="4"/>
                  </a:cubicBezTo>
                  <a:cubicBezTo>
                    <a:pt x="89" y="0"/>
                    <a:pt x="179" y="74"/>
                    <a:pt x="156" y="114"/>
                  </a:cubicBezTo>
                  <a:close/>
                </a:path>
              </a:pathLst>
            </a:custGeom>
            <a:solidFill>
              <a:srgbClr val="F44D3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998" name="Freeform 368"/>
            <p:cNvSpPr/>
            <p:nvPr/>
          </p:nvSpPr>
          <p:spPr bwMode="auto">
            <a:xfrm>
              <a:off x="734" y="1421"/>
              <a:ext cx="385" cy="376"/>
            </a:xfrm>
            <a:custGeom>
              <a:avLst/>
              <a:gdLst>
                <a:gd name="T0" fmla="*/ 613 w 154"/>
                <a:gd name="T1" fmla="*/ 1229 h 141"/>
                <a:gd name="T2" fmla="*/ 283 w 154"/>
                <a:gd name="T3" fmla="*/ 0 h 141"/>
                <a:gd name="T4" fmla="*/ 488 w 154"/>
                <a:gd name="T5" fmla="*/ 1421 h 141"/>
                <a:gd name="T6" fmla="*/ 2395 w 154"/>
                <a:gd name="T7" fmla="*/ 1955 h 141"/>
                <a:gd name="T8" fmla="*/ 2408 w 154"/>
                <a:gd name="T9" fmla="*/ 1933 h 141"/>
                <a:gd name="T10" fmla="*/ 613 w 154"/>
                <a:gd name="T11" fmla="*/ 1229 h 1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54" h="141">
                  <a:moveTo>
                    <a:pt x="39" y="65"/>
                  </a:moveTo>
                  <a:cubicBezTo>
                    <a:pt x="20" y="42"/>
                    <a:pt x="11" y="17"/>
                    <a:pt x="18" y="0"/>
                  </a:cubicBezTo>
                  <a:cubicBezTo>
                    <a:pt x="0" y="14"/>
                    <a:pt x="7" y="46"/>
                    <a:pt x="31" y="75"/>
                  </a:cubicBezTo>
                  <a:cubicBezTo>
                    <a:pt x="61" y="111"/>
                    <a:pt x="129" y="141"/>
                    <a:pt x="153" y="103"/>
                  </a:cubicBezTo>
                  <a:cubicBezTo>
                    <a:pt x="153" y="103"/>
                    <a:pt x="154" y="102"/>
                    <a:pt x="154" y="102"/>
                  </a:cubicBezTo>
                  <a:cubicBezTo>
                    <a:pt x="125" y="126"/>
                    <a:pt x="66" y="98"/>
                    <a:pt x="39" y="65"/>
                  </a:cubicBezTo>
                  <a:close/>
                </a:path>
              </a:pathLst>
            </a:custGeom>
            <a:solidFill>
              <a:srgbClr val="E12A1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999" name="Freeform 369"/>
            <p:cNvSpPr/>
            <p:nvPr/>
          </p:nvSpPr>
          <p:spPr bwMode="auto">
            <a:xfrm>
              <a:off x="911" y="1416"/>
              <a:ext cx="213" cy="235"/>
            </a:xfrm>
            <a:custGeom>
              <a:avLst/>
              <a:gdLst>
                <a:gd name="T0" fmla="*/ 0 w 85"/>
                <a:gd name="T1" fmla="*/ 0 h 88"/>
                <a:gd name="T2" fmla="*/ 1338 w 85"/>
                <a:gd name="T3" fmla="*/ 1677 h 88"/>
                <a:gd name="T4" fmla="*/ 0 w 85"/>
                <a:gd name="T5" fmla="*/ 0 h 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5" h="88">
                  <a:moveTo>
                    <a:pt x="0" y="0"/>
                  </a:moveTo>
                  <a:cubicBezTo>
                    <a:pt x="31" y="14"/>
                    <a:pt x="83" y="51"/>
                    <a:pt x="85" y="88"/>
                  </a:cubicBezTo>
                  <a:cubicBezTo>
                    <a:pt x="82" y="75"/>
                    <a:pt x="44" y="24"/>
                    <a:pt x="0" y="0"/>
                  </a:cubicBezTo>
                  <a:close/>
                </a:path>
              </a:pathLst>
            </a:custGeom>
            <a:solidFill>
              <a:srgbClr val="E12A1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00" name="Freeform 370"/>
            <p:cNvSpPr/>
            <p:nvPr/>
          </p:nvSpPr>
          <p:spPr bwMode="auto">
            <a:xfrm>
              <a:off x="961" y="1435"/>
              <a:ext cx="180" cy="224"/>
            </a:xfrm>
            <a:custGeom>
              <a:avLst/>
              <a:gdLst>
                <a:gd name="T0" fmla="*/ 0 w 72"/>
                <a:gd name="T1" fmla="*/ 0 h 84"/>
                <a:gd name="T2" fmla="*/ 1083 w 72"/>
                <a:gd name="T3" fmla="*/ 1592 h 84"/>
                <a:gd name="T4" fmla="*/ 0 w 72"/>
                <a:gd name="T5" fmla="*/ 0 h 8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2" h="84">
                  <a:moveTo>
                    <a:pt x="0" y="0"/>
                  </a:moveTo>
                  <a:cubicBezTo>
                    <a:pt x="22" y="10"/>
                    <a:pt x="72" y="48"/>
                    <a:pt x="69" y="84"/>
                  </a:cubicBezTo>
                  <a:cubicBezTo>
                    <a:pt x="70" y="64"/>
                    <a:pt x="66" y="27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01" name="Freeform 371"/>
            <p:cNvSpPr/>
            <p:nvPr/>
          </p:nvSpPr>
          <p:spPr bwMode="auto">
            <a:xfrm>
              <a:off x="771" y="1579"/>
              <a:ext cx="255" cy="181"/>
            </a:xfrm>
            <a:custGeom>
              <a:avLst/>
              <a:gdLst>
                <a:gd name="T0" fmla="*/ 0 w 102"/>
                <a:gd name="T1" fmla="*/ 0 h 68"/>
                <a:gd name="T2" fmla="*/ 1595 w 102"/>
                <a:gd name="T3" fmla="*/ 1246 h 68"/>
                <a:gd name="T4" fmla="*/ 0 w 102"/>
                <a:gd name="T5" fmla="*/ 0 h 6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2" h="68">
                  <a:moveTo>
                    <a:pt x="0" y="0"/>
                  </a:moveTo>
                  <a:cubicBezTo>
                    <a:pt x="4" y="18"/>
                    <a:pt x="50" y="68"/>
                    <a:pt x="102" y="66"/>
                  </a:cubicBezTo>
                  <a:cubicBezTo>
                    <a:pt x="82" y="64"/>
                    <a:pt x="30" y="48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02" name="Freeform 372"/>
            <p:cNvSpPr/>
            <p:nvPr/>
          </p:nvSpPr>
          <p:spPr bwMode="auto">
            <a:xfrm>
              <a:off x="599" y="1237"/>
              <a:ext cx="715" cy="691"/>
            </a:xfrm>
            <a:custGeom>
              <a:avLst/>
              <a:gdLst>
                <a:gd name="T0" fmla="*/ 938 w 286"/>
                <a:gd name="T1" fmla="*/ 491 h 259"/>
                <a:gd name="T2" fmla="*/ 283 w 286"/>
                <a:gd name="T3" fmla="*/ 2620 h 259"/>
                <a:gd name="T4" fmla="*/ 2283 w 286"/>
                <a:gd name="T5" fmla="*/ 4576 h 259"/>
                <a:gd name="T6" fmla="*/ 3988 w 286"/>
                <a:gd name="T7" fmla="*/ 3759 h 259"/>
                <a:gd name="T8" fmla="*/ 938 w 286"/>
                <a:gd name="T9" fmla="*/ 491 h 2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86" h="259">
                  <a:moveTo>
                    <a:pt x="60" y="26"/>
                  </a:moveTo>
                  <a:cubicBezTo>
                    <a:pt x="12" y="44"/>
                    <a:pt x="0" y="90"/>
                    <a:pt x="18" y="138"/>
                  </a:cubicBezTo>
                  <a:cubicBezTo>
                    <a:pt x="36" y="186"/>
                    <a:pt x="92" y="226"/>
                    <a:pt x="146" y="241"/>
                  </a:cubicBezTo>
                  <a:cubicBezTo>
                    <a:pt x="210" y="259"/>
                    <a:pt x="240" y="232"/>
                    <a:pt x="255" y="198"/>
                  </a:cubicBezTo>
                  <a:cubicBezTo>
                    <a:pt x="286" y="124"/>
                    <a:pt x="150" y="0"/>
                    <a:pt x="60" y="26"/>
                  </a:cubicBez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03" name="Freeform 373"/>
            <p:cNvSpPr/>
            <p:nvPr/>
          </p:nvSpPr>
          <p:spPr bwMode="auto">
            <a:xfrm>
              <a:off x="739" y="1403"/>
              <a:ext cx="377" cy="349"/>
            </a:xfrm>
            <a:custGeom>
              <a:avLst/>
              <a:gdLst>
                <a:gd name="T0" fmla="*/ 105 w 151"/>
                <a:gd name="T1" fmla="*/ 341 h 131"/>
                <a:gd name="T2" fmla="*/ 437 w 151"/>
                <a:gd name="T3" fmla="*/ 1548 h 131"/>
                <a:gd name="T4" fmla="*/ 1870 w 151"/>
                <a:gd name="T5" fmla="*/ 2440 h 131"/>
                <a:gd name="T6" fmla="*/ 2349 w 151"/>
                <a:gd name="T7" fmla="*/ 2081 h 131"/>
                <a:gd name="T8" fmla="*/ 2349 w 151"/>
                <a:gd name="T9" fmla="*/ 2081 h 131"/>
                <a:gd name="T10" fmla="*/ 1870 w 151"/>
                <a:gd name="T11" fmla="*/ 2398 h 131"/>
                <a:gd name="T12" fmla="*/ 449 w 151"/>
                <a:gd name="T13" fmla="*/ 1532 h 131"/>
                <a:gd name="T14" fmla="*/ 137 w 151"/>
                <a:gd name="T15" fmla="*/ 341 h 131"/>
                <a:gd name="T16" fmla="*/ 574 w 151"/>
                <a:gd name="T17" fmla="*/ 0 h 131"/>
                <a:gd name="T18" fmla="*/ 574 w 151"/>
                <a:gd name="T19" fmla="*/ 0 h 131"/>
                <a:gd name="T20" fmla="*/ 105 w 151"/>
                <a:gd name="T21" fmla="*/ 341 h 13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51" h="131">
                  <a:moveTo>
                    <a:pt x="7" y="18"/>
                  </a:moveTo>
                  <a:cubicBezTo>
                    <a:pt x="0" y="34"/>
                    <a:pt x="8" y="59"/>
                    <a:pt x="28" y="82"/>
                  </a:cubicBezTo>
                  <a:cubicBezTo>
                    <a:pt x="48" y="107"/>
                    <a:pt x="88" y="131"/>
                    <a:pt x="120" y="129"/>
                  </a:cubicBezTo>
                  <a:cubicBezTo>
                    <a:pt x="134" y="128"/>
                    <a:pt x="144" y="121"/>
                    <a:pt x="151" y="110"/>
                  </a:cubicBezTo>
                  <a:cubicBezTo>
                    <a:pt x="151" y="110"/>
                    <a:pt x="151" y="110"/>
                    <a:pt x="151" y="110"/>
                  </a:cubicBezTo>
                  <a:cubicBezTo>
                    <a:pt x="144" y="121"/>
                    <a:pt x="134" y="126"/>
                    <a:pt x="120" y="127"/>
                  </a:cubicBezTo>
                  <a:cubicBezTo>
                    <a:pt x="89" y="129"/>
                    <a:pt x="50" y="105"/>
                    <a:pt x="29" y="81"/>
                  </a:cubicBezTo>
                  <a:cubicBezTo>
                    <a:pt x="10" y="58"/>
                    <a:pt x="2" y="34"/>
                    <a:pt x="9" y="18"/>
                  </a:cubicBezTo>
                  <a:cubicBezTo>
                    <a:pt x="13" y="9"/>
                    <a:pt x="22" y="2"/>
                    <a:pt x="37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22" y="2"/>
                    <a:pt x="11" y="7"/>
                    <a:pt x="7" y="18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1" name="文本框 120"/>
          <p:cNvSpPr txBox="1"/>
          <p:nvPr/>
        </p:nvSpPr>
        <p:spPr>
          <a:xfrm>
            <a:off x="932815" y="4422775"/>
            <a:ext cx="1102360" cy="1682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500">
                <a:solidFill>
                  <a:srgbClr val="00B0F0"/>
                </a:solidFill>
              </a:rPr>
              <a:t>Hematopoietic System(3)</a:t>
            </a:r>
            <a:endParaRPr lang="zh-CN" altLang="en-US" sz="500">
              <a:solidFill>
                <a:srgbClr val="00B0F0"/>
              </a:solidFill>
            </a:endParaRPr>
          </a:p>
        </p:txBody>
      </p:sp>
      <p:sp>
        <p:nvSpPr>
          <p:cNvPr id="123" name="文本框 122"/>
          <p:cNvSpPr txBox="1"/>
          <p:nvPr/>
        </p:nvSpPr>
        <p:spPr>
          <a:xfrm>
            <a:off x="191135" y="4970780"/>
            <a:ext cx="933450" cy="1682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500">
                <a:solidFill>
                  <a:srgbClr val="00B0F0"/>
                </a:solidFill>
              </a:rPr>
              <a:t>Epithelial Tissues(4)</a:t>
            </a:r>
            <a:endParaRPr lang="en-US" altLang="zh-CN" sz="500">
              <a:solidFill>
                <a:srgbClr val="00B0F0"/>
              </a:solidFill>
            </a:endParaRPr>
          </a:p>
        </p:txBody>
      </p:sp>
      <p:pic>
        <p:nvPicPr>
          <p:cNvPr id="124" name="图片 123" descr="cell-epidermis-2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059815" y="4699000"/>
            <a:ext cx="633730" cy="177800"/>
          </a:xfrm>
          <a:prstGeom prst="rect">
            <a:avLst/>
          </a:prstGeom>
        </p:spPr>
      </p:pic>
      <p:sp>
        <p:nvSpPr>
          <p:cNvPr id="125" name="文本框 124"/>
          <p:cNvSpPr txBox="1"/>
          <p:nvPr/>
        </p:nvSpPr>
        <p:spPr>
          <a:xfrm>
            <a:off x="991870" y="4970780"/>
            <a:ext cx="1102360" cy="1682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500">
                <a:solidFill>
                  <a:srgbClr val="00B0F0"/>
                </a:solidFill>
              </a:rPr>
              <a:t>Connective Tissue(1)</a:t>
            </a:r>
            <a:endParaRPr lang="zh-CN" altLang="en-US" sz="500">
              <a:solidFill>
                <a:srgbClr val="00B0F0"/>
              </a:solidFill>
            </a:endParaRPr>
          </a:p>
        </p:txBody>
      </p:sp>
      <p:sp>
        <p:nvSpPr>
          <p:cNvPr id="126" name="文本框 125"/>
          <p:cNvSpPr txBox="1"/>
          <p:nvPr/>
        </p:nvSpPr>
        <p:spPr>
          <a:xfrm>
            <a:off x="1844675" y="2916555"/>
            <a:ext cx="1306195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800">
                <a:sym typeface="+mn-ea"/>
              </a:rPr>
              <a:t>On </a:t>
            </a:r>
            <a:r>
              <a:rPr lang="en-US" altLang="zh-CN" sz="800">
                <a:sym typeface="+mn-ea"/>
              </a:rPr>
              <a:t>velocity matrix</a:t>
            </a:r>
            <a:endParaRPr lang="en-US" altLang="zh-CN" sz="800">
              <a:sym typeface="+mn-ea"/>
            </a:endParaRPr>
          </a:p>
        </p:txBody>
      </p:sp>
      <p:sp>
        <p:nvSpPr>
          <p:cNvPr id="127" name="文本框 126"/>
          <p:cNvSpPr txBox="1"/>
          <p:nvPr/>
        </p:nvSpPr>
        <p:spPr>
          <a:xfrm>
            <a:off x="1844675" y="3733165"/>
            <a:ext cx="1751965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800">
                <a:sym typeface="+mn-ea"/>
              </a:rPr>
              <a:t>On velocity graph</a:t>
            </a:r>
            <a:endParaRPr lang="en-US" altLang="zh-CN" sz="800">
              <a:sym typeface="+mn-ea"/>
            </a:endParaRPr>
          </a:p>
        </p:txBody>
      </p:sp>
      <p:sp>
        <p:nvSpPr>
          <p:cNvPr id="128" name="文本框 127"/>
          <p:cNvSpPr txBox="1"/>
          <p:nvPr/>
        </p:nvSpPr>
        <p:spPr>
          <a:xfrm>
            <a:off x="1844675" y="4558665"/>
            <a:ext cx="1306195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800">
                <a:sym typeface="+mn-ea"/>
              </a:rPr>
              <a:t>On </a:t>
            </a:r>
            <a:r>
              <a:rPr lang="en-US" altLang="zh-CN" sz="800">
                <a:sym typeface="+mn-ea"/>
              </a:rPr>
              <a:t>velocity embedding</a:t>
            </a:r>
            <a:endParaRPr lang="en-US" altLang="zh-CN" sz="800">
              <a:sym typeface="+mn-ea"/>
            </a:endParaRPr>
          </a:p>
        </p:txBody>
      </p:sp>
      <p:sp>
        <p:nvSpPr>
          <p:cNvPr id="151" name="文本框 150"/>
          <p:cNvSpPr txBox="1"/>
          <p:nvPr/>
        </p:nvSpPr>
        <p:spPr>
          <a:xfrm>
            <a:off x="2670175" y="3142615"/>
            <a:ext cx="1492250" cy="4159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800" b="1"/>
              <a:t>Consistency score</a:t>
            </a:r>
            <a:r>
              <a:rPr lang="en-US" altLang="zh-CN" sz="800"/>
              <a:t>:all cells</a:t>
            </a:r>
            <a:endParaRPr lang="en-US" altLang="zh-CN" sz="800"/>
          </a:p>
          <a:p>
            <a:endParaRPr lang="en-US" altLang="zh-CN" sz="800"/>
          </a:p>
          <a:p>
            <a:r>
              <a:rPr lang="en-US" altLang="zh-CN" sz="800" b="1"/>
              <a:t>ICCoh</a:t>
            </a:r>
            <a:r>
              <a:rPr lang="en-US" altLang="zh-CN" sz="800"/>
              <a:t>:In-Cluster Coherence</a:t>
            </a:r>
            <a:endParaRPr lang="en-US" altLang="zh-CN" sz="800"/>
          </a:p>
        </p:txBody>
      </p:sp>
      <p:sp>
        <p:nvSpPr>
          <p:cNvPr id="155" name="文本框 154"/>
          <p:cNvSpPr txBox="1"/>
          <p:nvPr/>
        </p:nvSpPr>
        <p:spPr>
          <a:xfrm>
            <a:off x="1912620" y="3460750"/>
            <a:ext cx="520065" cy="1524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00"/>
              <a:t>center cell</a:t>
            </a:r>
            <a:endParaRPr lang="en-US" altLang="zh-CN" sz="400"/>
          </a:p>
        </p:txBody>
      </p:sp>
      <p:pic>
        <p:nvPicPr>
          <p:cNvPr id="156" name="图片 155" descr="capra_lab_manuscript_template__2_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957070" y="3081020"/>
            <a:ext cx="798830" cy="701040"/>
          </a:xfrm>
          <a:prstGeom prst="rect">
            <a:avLst/>
          </a:prstGeom>
        </p:spPr>
      </p:pic>
      <p:sp>
        <p:nvSpPr>
          <p:cNvPr id="158" name="文本框 157"/>
          <p:cNvSpPr txBox="1"/>
          <p:nvPr/>
        </p:nvSpPr>
        <p:spPr>
          <a:xfrm>
            <a:off x="2670175" y="3997325"/>
            <a:ext cx="1553845" cy="4159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800" b="1"/>
              <a:t>TransCosine</a:t>
            </a:r>
            <a:r>
              <a:rPr lang="en-US" altLang="zh-CN" sz="800"/>
              <a:t>:Validates trajectory direction via </a:t>
            </a:r>
            <a:endParaRPr lang="en-US" altLang="zh-CN" sz="800"/>
          </a:p>
          <a:p>
            <a:r>
              <a:rPr lang="en-US" altLang="zh-CN" sz="800"/>
              <a:t>velocity graph</a:t>
            </a:r>
            <a:endParaRPr lang="en-US" altLang="zh-CN" sz="800"/>
          </a:p>
        </p:txBody>
      </p:sp>
      <p:pic>
        <p:nvPicPr>
          <p:cNvPr id="159" name="图片 158" descr="capra_lab_manuscript_template__2_ (2)"/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927860" y="3857625"/>
            <a:ext cx="788035" cy="762635"/>
          </a:xfrm>
          <a:prstGeom prst="rect">
            <a:avLst/>
          </a:prstGeom>
        </p:spPr>
      </p:pic>
      <p:pic>
        <p:nvPicPr>
          <p:cNvPr id="160" name="图片 159" descr="capra_lab_manuscript_template__2_ 3"/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912620" y="4716145"/>
            <a:ext cx="866775" cy="640080"/>
          </a:xfrm>
          <a:prstGeom prst="rect">
            <a:avLst/>
          </a:prstGeom>
        </p:spPr>
      </p:pic>
      <p:sp>
        <p:nvSpPr>
          <p:cNvPr id="161" name="文本框 160"/>
          <p:cNvSpPr txBox="1"/>
          <p:nvPr/>
        </p:nvSpPr>
        <p:spPr>
          <a:xfrm>
            <a:off x="2669540" y="4772660"/>
            <a:ext cx="1579245" cy="5600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800" b="1"/>
              <a:t>CBDir</a:t>
            </a:r>
            <a:r>
              <a:rPr lang="en-US" altLang="zh-CN" sz="800"/>
              <a:t>:Cross-Boundary Direction Correctness</a:t>
            </a:r>
            <a:endParaRPr lang="en-US" altLang="zh-CN" sz="800"/>
          </a:p>
          <a:p>
            <a:r>
              <a:rPr lang="en-US" altLang="zh-CN" sz="800" b="1"/>
              <a:t>BATC:</a:t>
            </a:r>
            <a:r>
              <a:rPr lang="en-US" altLang="zh-CN" sz="800"/>
              <a:t>Branching-aware Trajectory Consistency</a:t>
            </a:r>
            <a:endParaRPr lang="en-US" altLang="zh-CN" sz="800"/>
          </a:p>
        </p:txBody>
      </p:sp>
      <p:pic>
        <p:nvPicPr>
          <p:cNvPr id="3" name="图片 2" descr="Epi_cylindrique_02"/>
          <p:cNvPicPr/>
          <p:nvPr/>
        </p:nvPicPr>
        <p:blipFill>
          <a:blip r:embed="rId25"/>
          <a:stretch>
            <a:fillRect/>
          </a:stretch>
        </p:blipFill>
        <p:spPr>
          <a:xfrm>
            <a:off x="466725" y="4558665"/>
            <a:ext cx="196215" cy="412750"/>
          </a:xfrm>
          <a:prstGeom prst="rect">
            <a:avLst/>
          </a:prstGeom>
        </p:spPr>
      </p:pic>
    </p:spTree>
    <p:custDataLst>
      <p:tags r:id="rId26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TABLE_ENDDRAG_ORIGIN_RECT" val="78*53"/>
  <p:tag name="TABLE_ENDDRAG_RECT" val="41*41*78*53"/>
</p:tagLst>
</file>

<file path=ppt/tags/tag64.xml><?xml version="1.0" encoding="utf-8"?>
<p:tagLst xmlns:p="http://schemas.openxmlformats.org/presentationml/2006/main">
  <p:tag name="TABLE_ENDDRAG_ORIGIN_RECT" val="78*53"/>
  <p:tag name="TABLE_ENDDRAG_RECT" val="41*41*78*53"/>
</p:tagLst>
</file>

<file path=ppt/tags/tag65.xml><?xml version="1.0" encoding="utf-8"?>
<p:tagLst xmlns:p="http://schemas.openxmlformats.org/presentationml/2006/main">
  <p:tag name="TABLE_ENDDRAG_ORIGIN_RECT" val="62*52"/>
  <p:tag name="TABLE_ENDDRAG_RECT" val="313*19*62*52"/>
</p:tagLst>
</file>

<file path=ppt/tags/tag66.xml><?xml version="1.0" encoding="utf-8"?>
<p:tagLst xmlns:p="http://schemas.openxmlformats.org/presentationml/2006/main">
  <p:tag name="TABLE_ENDDRAG_ORIGIN_RECT" val="62*52"/>
  <p:tag name="TABLE_ENDDRAG_RECT" val="313*19*62*52"/>
</p:tagLst>
</file>

<file path=ppt/tags/tag67.xml><?xml version="1.0" encoding="utf-8"?>
<p:tagLst xmlns:p="http://schemas.openxmlformats.org/presentationml/2006/main">
  <p:tag name="TABLE_ENDDRAG_ORIGIN_RECT" val="78*53"/>
  <p:tag name="TABLE_ENDDRAG_RECT" val="41*41*78*53"/>
</p:tagLst>
</file>

<file path=ppt/tags/tag6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1075</Words>
  <Application>WPS 演示</Application>
  <PresentationFormat>宽屏</PresentationFormat>
  <Paragraphs>107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4" baseType="lpstr">
      <vt:lpstr>Arial</vt:lpstr>
      <vt:lpstr>宋体</vt:lpstr>
      <vt:lpstr>Wingdings</vt:lpstr>
      <vt:lpstr>Wingdings</vt:lpstr>
      <vt:lpstr>微软雅黑</vt:lpstr>
      <vt:lpstr>方正雅意黑 GB18030L2</vt:lpstr>
      <vt:lpstr>微软雅黑</vt:lpstr>
      <vt:lpstr>宋体</vt:lpstr>
      <vt:lpstr>Arial Unicode MS</vt:lpstr>
      <vt:lpstr>Calibri</vt:lpstr>
      <vt:lpstr>Helvetica Neue</vt:lpstr>
      <vt:lpstr>汉仪书宋二KW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赵泽临</cp:lastModifiedBy>
  <cp:revision>173</cp:revision>
  <dcterms:created xsi:type="dcterms:W3CDTF">2026-09-11T05:13:44Z</dcterms:created>
  <dcterms:modified xsi:type="dcterms:W3CDTF">2026-09-11T05:13:44Z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2052-12.1.26046.26046</vt:lpwstr>
  </property>
  <property fmtid="{D5CDD505-2E9C-101B-9397-08002B2CF9AE}" pid="3" name="ICV">
    <vt:lpwstr>DC1A3F528E5E4FC9038EA36A3B20146E_43</vt:lpwstr>
  </property>
</Properties>
</file>