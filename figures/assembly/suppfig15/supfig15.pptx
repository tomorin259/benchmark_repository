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858000" cy="990346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Supplemental Figure 13: TIvelo root-dependent trajectory orientation.</a:t>
            </a:r>
          </a:p>
          <a:p>
            <a:r>
              <a:t>Template: /Users/tomorin/Desktop/pdf_new/supfig12.pptx; original slide canvas and Arial panel labels retained.</a:t>
            </a:r>
          </a:p>
          <a:p>
            <a:r>
              <a:t>A/B: frozen stage-tracing simulation materials. C: separate original-root vs known-early-root paired refits.</a:t>
            </a:r>
          </a:p>
          <a:p>
            <a:r>
              <a:t>D: actual native full-data DPT, not Palantir pseudotime; identical bone-marrow t-SNE coordinates; three paired optimizer seeds.</a:t>
            </a:r>
          </a:p>
          <a:p>
            <a:r>
              <a:t>Simulation root states: /Users/tomorin/Desktop/tivelo_gene_ABC_selected_20260930/assembly_preview_20261001/redesign_v3/ab_assets/state_selection_material.png</a:t>
            </a:r>
          </a:p>
          <a:p>
            <a:r>
              <a:t>Known bins and path-wise DPT: /Users/tomorin/Desktop/tivelo_gene_ABC_selected_20260930/assembly_preview_20261001/redesign_v3/ab_assets/order_comparison_material.png</a:t>
            </a:r>
          </a:p>
          <a:p>
            <a:r>
              <a:t>Paired simulation gene metrics: /Users/tomorin/Desktop/tivelo_gene_ABC_selected_20260930/assembly_preview_20261001/redesign_v3/tivelo_root_control_gene_metrics.png</a:t>
            </a:r>
          </a:p>
          <a:p>
            <a:r>
              <a:t>Bone marrow global DPT and paired cell metrics: /Users/tomorin/Desktop/tivelo_gene_ABC_selected_20260930/assembly_preview_20261001/redesign_v3/bonemarrow_root_control_row.png</a:t>
            </a:r>
          </a:p>
          <a:p>
            <a:r>
              <a:t>Existing plot assets embedded without regenerating data or adding a figure caption.</a:t>
            </a:r>
          </a:p>
          <a:p>
            <a:r>
              <a:t>A/B updated from approved compact material: one unlabeled shared 0--1 colorbar at bottom right. Top row normal + branching; bottom row hybrid. Known bins divided by 9; path-wise DPT unchanged. All a/b/c/d labels are independent native text boxes. C/D source images and placements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33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2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1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45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 panose="020B0604020202090204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A_phase_portrai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0"/>
            <a:ext cx="6583680" cy="2578735"/>
          </a:xfrm>
          <a:prstGeom prst="rect">
            <a:avLst/>
          </a:prstGeom>
        </p:spPr>
      </p:pic>
      <p:sp>
        <p:nvSpPr>
          <p:cNvPr id="6" name="Panel c"/>
          <p:cNvSpPr>
            <a:spLocks noGrp="1"/>
          </p:cNvSpPr>
          <p:nvPr/>
        </p:nvSpPr>
        <p:spPr>
          <a:xfrm>
            <a:off x="0" y="2578862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</a:t>
            </a:r>
            <a:endParaRPr lang="en-US" sz="13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Panel a"/>
          <p:cNvSpPr>
            <a:spLocks noGrp="1"/>
          </p:cNvSpPr>
          <p:nvPr/>
        </p:nvSpPr>
        <p:spPr>
          <a:xfrm>
            <a:off x="0" y="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endParaRPr sz="13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9" name="图片 8" descr="B_paired_contro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578735"/>
            <a:ext cx="6583680" cy="26073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WPS 演示</Application>
  <PresentationFormat>Converted Presentation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Arial</vt:lpstr>
      <vt:lpstr>Wingdings</vt:lpstr>
      <vt:lpstr>微软雅黑</vt:lpstr>
      <vt:lpstr>方正雅意黑 GB18030L2</vt:lpstr>
      <vt:lpstr>宋体</vt:lpstr>
      <vt:lpstr>Arial Unicode MS</vt:lpstr>
      <vt:lpstr>汉仪书宋二KW</vt:lpstr>
      <vt:lpstr>Calibri</vt:lpstr>
      <vt:lpstr>Helvetica Neue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赵泽临</cp:lastModifiedBy>
  <cp:revision>3</cp:revision>
  <dcterms:created xsi:type="dcterms:W3CDTF">2026-10-17T05:01:59Z</dcterms:created>
  <dcterms:modified xsi:type="dcterms:W3CDTF">2026-10-17T05:01:59Z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B08CBE53B5BDC39D8C5EBE6AF708C547_42</vt:lpwstr>
  </property>
  <property fmtid="{D5CDD505-2E9C-101B-9397-08002B2CF9AE}" pid="3" name="KSOProductBuildVer">
    <vt:lpwstr>2052-12.1.26046.26046</vt:lpwstr>
  </property>
</Properties>
</file>